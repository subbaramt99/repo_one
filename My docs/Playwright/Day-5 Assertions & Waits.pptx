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65" r:id="rId4"/>
    <p:sldId id="266" r:id="rId5"/>
    <p:sldId id="268" r:id="rId6"/>
    <p:sldId id="267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Assertions &amp; Waits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Are Assertions?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1870"/>
            <a:ext cx="8826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b="1" dirty="0"/>
              <a:t>Assertions</a:t>
            </a:r>
            <a:r>
              <a:rPr lang="en-US" dirty="0"/>
              <a:t> are checks or conditions that confirm whether a web page or element is in the expected state during test execution.</a:t>
            </a:r>
          </a:p>
          <a:p>
            <a:pPr marL="0" indent="0">
              <a:buNone/>
            </a:pPr>
            <a:r>
              <a:rPr lang="en-US" b="1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Validate that an action (like a click or form submission) had the correct result.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the application behaves as expected.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Catch bugs early in automated tests.</a:t>
            </a:r>
          </a:p>
          <a:p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r>
              <a:rPr lang="en-US" b="1" dirty="0"/>
              <a:t>Example Assertions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import { test, expect } from '@playwright/test';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test('form submission shows success message', async ({ page }) =&gt; {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page.click</a:t>
            </a:r>
            <a:r>
              <a:rPr lang="en-US" dirty="0"/>
              <a:t>('#submit');</a:t>
            </a:r>
          </a:p>
          <a:p>
            <a:pPr marL="0" indent="0">
              <a:buNone/>
            </a:pPr>
            <a:r>
              <a:rPr lang="en-US" dirty="0"/>
              <a:t>await expect(</a:t>
            </a:r>
            <a:r>
              <a:rPr lang="en-US" dirty="0" err="1"/>
              <a:t>page.locator</a:t>
            </a:r>
            <a:r>
              <a:rPr lang="en-US" dirty="0"/>
              <a:t>('.message')).</a:t>
            </a:r>
            <a:r>
              <a:rPr lang="en-US" dirty="0" err="1"/>
              <a:t>toHaveText</a:t>
            </a:r>
            <a:r>
              <a:rPr lang="en-US" dirty="0"/>
              <a:t>('Success!’);	 // Assert visible text</a:t>
            </a:r>
          </a:p>
          <a:p>
            <a:pPr marL="0" indent="0">
              <a:buNone/>
            </a:pPr>
            <a:r>
              <a:rPr lang="en-US" dirty="0"/>
              <a:t>await expect(</a:t>
            </a:r>
            <a:r>
              <a:rPr lang="en-US" dirty="0" err="1"/>
              <a:t>page.locator</a:t>
            </a:r>
            <a:r>
              <a:rPr lang="en-US" dirty="0"/>
              <a:t>('#logout')).</a:t>
            </a:r>
            <a:r>
              <a:rPr lang="en-US" dirty="0" err="1"/>
              <a:t>toBeVisible</a:t>
            </a:r>
            <a:r>
              <a:rPr lang="en-US" dirty="0"/>
              <a:t>();	 // Assert element is visible</a:t>
            </a:r>
          </a:p>
          <a:p>
            <a:pPr marL="0" indent="0">
              <a:buNone/>
            </a:pPr>
            <a:r>
              <a:rPr lang="en-US" dirty="0"/>
              <a:t>await expect(page).</a:t>
            </a:r>
            <a:r>
              <a:rPr lang="en-US" dirty="0" err="1"/>
              <a:t>toHaveURL</a:t>
            </a:r>
            <a:r>
              <a:rPr lang="en-US" dirty="0"/>
              <a:t>(/dashboard/);	       // Assert URL has changed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663327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b="1" dirty="0"/>
              <a:t>Waits</a:t>
            </a:r>
            <a:r>
              <a:rPr lang="en-US" dirty="0"/>
              <a:t> tell Playwright to </a:t>
            </a:r>
            <a:r>
              <a:rPr lang="en-US" b="1" dirty="0"/>
              <a:t>pause test execution</a:t>
            </a:r>
            <a:r>
              <a:rPr lang="en-US" dirty="0"/>
              <a:t> until a certain condition is met — like an element appearing, disappearing, or becoming stable.</a:t>
            </a:r>
          </a:p>
          <a:p>
            <a:pPr marL="0" indent="0">
              <a:buNone/>
            </a:pPr>
            <a:r>
              <a:rPr lang="en-US" b="1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 dynamic content loading.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 flaky tests caused by race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element is ready for interaction (click, fill, etc.).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Types of Waits in Playwright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  <p:sp>
        <p:nvSpPr>
          <p:cNvPr id="7" name="Google Shape;82;p15">
            <a:extLst>
              <a:ext uri="{FF2B5EF4-FFF2-40B4-BE49-F238E27FC236}">
                <a16:creationId xmlns:a16="http://schemas.microsoft.com/office/drawing/2014/main" id="{3F420F5D-DEE4-0201-E48F-8D9204502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Are Waits?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38D2F5-DD42-424C-B6C4-C002DD4595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3620496"/>
              </p:ext>
            </p:extLst>
          </p:nvPr>
        </p:nvGraphicFramePr>
        <p:xfrm>
          <a:off x="276799" y="2644140"/>
          <a:ext cx="8686797" cy="2499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95599">
                  <a:extLst>
                    <a:ext uri="{9D8B030D-6E8A-4147-A177-3AD203B41FA5}">
                      <a16:colId xmlns:a16="http://schemas.microsoft.com/office/drawing/2014/main" val="3749499351"/>
                    </a:ext>
                  </a:extLst>
                </a:gridCol>
                <a:gridCol w="2895599">
                  <a:extLst>
                    <a:ext uri="{9D8B030D-6E8A-4147-A177-3AD203B41FA5}">
                      <a16:colId xmlns:a16="http://schemas.microsoft.com/office/drawing/2014/main" val="4157469744"/>
                    </a:ext>
                  </a:extLst>
                </a:gridCol>
                <a:gridCol w="2895599">
                  <a:extLst>
                    <a:ext uri="{9D8B030D-6E8A-4147-A177-3AD203B41FA5}">
                      <a16:colId xmlns:a16="http://schemas.microsoft.com/office/drawing/2014/main" val="2602025287"/>
                    </a:ext>
                  </a:extLst>
                </a:gridCol>
              </a:tblGrid>
              <a:tr h="294445">
                <a:tc>
                  <a:txBody>
                    <a:bodyPr/>
                    <a:lstStyle/>
                    <a:p>
                      <a:r>
                        <a:rPr lang="en-US" dirty="0"/>
                        <a:t>Wait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675544"/>
                  </a:ext>
                </a:extLst>
              </a:tr>
              <a:tr h="706669">
                <a:tc>
                  <a:txBody>
                    <a:bodyPr/>
                    <a:lstStyle/>
                    <a:p>
                      <a:r>
                        <a:rPr lang="en-US" b="1"/>
                        <a:t>Auto-waiting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Playwright automatically waits for elements to be ready before actions like click, fill,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await page.click('#btn')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065228"/>
                  </a:ext>
                </a:extLst>
              </a:tr>
              <a:tr h="706669">
                <a:tc>
                  <a:txBody>
                    <a:bodyPr/>
                    <a:lstStyle/>
                    <a:p>
                      <a:r>
                        <a:rPr lang="en-US" b="1"/>
                        <a:t>Explicit wait (condition-based)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Manually wait for an element to appear, disappear, or change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await page.waitForSelector('#popup')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152015"/>
                  </a:ext>
                </a:extLst>
              </a:tr>
              <a:tr h="706669">
                <a:tc>
                  <a:txBody>
                    <a:bodyPr/>
                    <a:lstStyle/>
                    <a:p>
                      <a:r>
                        <a:rPr lang="en-US" b="1"/>
                        <a:t>Assertion wait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Built-in assertions automatically retry until timeout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await expect(locator).</a:t>
                      </a:r>
                      <a:r>
                        <a:rPr lang="en-US" dirty="0" err="1"/>
                        <a:t>toHaveText</a:t>
                      </a:r>
                      <a:r>
                        <a:rPr lang="en-US" dirty="0"/>
                        <a:t>('Done')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8514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Key Concepts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IN" dirty="0"/>
              <a:t>Waits: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>
                <a:latin typeface="+mn-lt"/>
              </a:rPr>
              <a:t>WaitForSelector</a:t>
            </a:r>
            <a:r>
              <a:rPr lang="en-IN" b="1" dirty="0">
                <a:latin typeface="+mn-lt"/>
              </a:rPr>
              <a:t>():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Waits until an element matching the selector appears in the DOM (or until timeout).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	await </a:t>
            </a:r>
            <a:r>
              <a:rPr lang="en-US" altLang="en-US" dirty="0" err="1">
                <a:solidFill>
                  <a:schemeClr val="bg2"/>
                </a:solidFill>
                <a:latin typeface="+mn-lt"/>
              </a:rPr>
              <a:t>page.waitForSelector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('</a:t>
            </a:r>
            <a:r>
              <a:rPr lang="en-US" altLang="en-US" dirty="0" err="1">
                <a:solidFill>
                  <a:schemeClr val="bg2"/>
                </a:solidFill>
                <a:latin typeface="+mn-lt"/>
              </a:rPr>
              <a:t>button#submit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');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This waits until the element &lt;button id="submit"&gt; is available.</a:t>
            </a:r>
          </a:p>
          <a:p>
            <a:pPr marL="0" indent="0">
              <a:buNone/>
            </a:pPr>
            <a:endParaRPr lang="en-IN" dirty="0">
              <a:latin typeface="+mn-lt"/>
            </a:endParaRPr>
          </a:p>
          <a:p>
            <a:pPr marL="0" indent="0">
              <a:buNone/>
            </a:pPr>
            <a:r>
              <a:rPr lang="en-US" b="1" dirty="0" err="1">
                <a:latin typeface="+mn-lt"/>
              </a:rPr>
              <a:t>waitForTimeout</a:t>
            </a:r>
            <a:r>
              <a:rPr lang="en-US" b="1" dirty="0">
                <a:latin typeface="+mn-lt"/>
              </a:rPr>
              <a:t>():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Pauses the test execution for a given time (in milliseconds).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	await </a:t>
            </a:r>
            <a:r>
              <a:rPr lang="en-US" altLang="en-US" dirty="0" err="1">
                <a:solidFill>
                  <a:schemeClr val="bg2"/>
                </a:solidFill>
                <a:latin typeface="+mn-lt"/>
              </a:rPr>
              <a:t>page.waitForTimeout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(3000); // waits for 3 seconds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Generally not recommended for real tests (use </a:t>
            </a:r>
            <a:r>
              <a:rPr lang="en-US" altLang="en-US" dirty="0" err="1">
                <a:solidFill>
                  <a:schemeClr val="bg2"/>
                </a:solidFill>
                <a:latin typeface="+mn-lt"/>
              </a:rPr>
              <a:t>waitForSelector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instead), but useful for debugging.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45834F2-C776-426A-B588-EF24451D1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543731"/>
              </p:ext>
            </p:extLst>
          </p:nvPr>
        </p:nvGraphicFramePr>
        <p:xfrm>
          <a:off x="370489" y="1061433"/>
          <a:ext cx="7491708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45854">
                  <a:extLst>
                    <a:ext uri="{9D8B030D-6E8A-4147-A177-3AD203B41FA5}">
                      <a16:colId xmlns:a16="http://schemas.microsoft.com/office/drawing/2014/main" val="2487903778"/>
                    </a:ext>
                  </a:extLst>
                </a:gridCol>
                <a:gridCol w="3745854">
                  <a:extLst>
                    <a:ext uri="{9D8B030D-6E8A-4147-A177-3AD203B41FA5}">
                      <a16:colId xmlns:a16="http://schemas.microsoft.com/office/drawing/2014/main" val="82790707"/>
                    </a:ext>
                  </a:extLst>
                </a:gridCol>
              </a:tblGrid>
              <a:tr h="280594"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981792"/>
                  </a:ext>
                </a:extLst>
              </a:tr>
              <a:tr h="280594">
                <a:tc>
                  <a:txBody>
                    <a:bodyPr/>
                    <a:lstStyle/>
                    <a:p>
                      <a:r>
                        <a:rPr lang="en-US"/>
                        <a:t>waitForSelector()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Wait until element appears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030596"/>
                  </a:ext>
                </a:extLst>
              </a:tr>
              <a:tr h="451757">
                <a:tc>
                  <a:txBody>
                    <a:bodyPr/>
                    <a:lstStyle/>
                    <a:p>
                      <a:r>
                        <a:rPr lang="en-US" dirty="0" err="1"/>
                        <a:t>waitForTimeout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Force a wait (not recommended unless debugging)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963825"/>
                  </a:ext>
                </a:extLst>
              </a:tr>
              <a:tr h="451757">
                <a:tc>
                  <a:txBody>
                    <a:bodyPr/>
                    <a:lstStyle/>
                    <a:p>
                      <a:r>
                        <a:rPr lang="en-US" dirty="0"/>
                        <a:t>Built-in auto-waiting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Automatically handled during actions (e.g., click)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229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3262-BC8E-B97A-2240-81C56746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Assertion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7204FA-427C-308C-3250-741B9C2C3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302506"/>
              </p:ext>
            </p:extLst>
          </p:nvPr>
        </p:nvGraphicFramePr>
        <p:xfrm>
          <a:off x="654804" y="872963"/>
          <a:ext cx="7834392" cy="4028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11464">
                  <a:extLst>
                    <a:ext uri="{9D8B030D-6E8A-4147-A177-3AD203B41FA5}">
                      <a16:colId xmlns:a16="http://schemas.microsoft.com/office/drawing/2014/main" val="2860520204"/>
                    </a:ext>
                  </a:extLst>
                </a:gridCol>
                <a:gridCol w="2611464">
                  <a:extLst>
                    <a:ext uri="{9D8B030D-6E8A-4147-A177-3AD203B41FA5}">
                      <a16:colId xmlns:a16="http://schemas.microsoft.com/office/drawing/2014/main" val="2343496022"/>
                    </a:ext>
                  </a:extLst>
                </a:gridCol>
                <a:gridCol w="2611464">
                  <a:extLst>
                    <a:ext uri="{9D8B030D-6E8A-4147-A177-3AD203B41FA5}">
                      <a16:colId xmlns:a16="http://schemas.microsoft.com/office/drawing/2014/main" val="2520445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 (one line)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338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Page Assertions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toHaveTitle(), toHaveURL()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Verify page title or current URL.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32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Locator Assertions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toBeVisible(), toBeHidden(), toBeEnabled(), toBeDisabled(), toBeChecked(), not.toBeChecked(), toBeEditable(), toBeEmpty()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 element’s state (visibility, enabled/disabled, checked, editable, empty).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196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Text &amp; Value Assertions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toHaveText(), toContainText(), toHaveValue(), toHaveAttribute()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Verify element text, input value, or attributes.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18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Count Assertions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toHaveCount()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 the number of matching elements.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438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Screenshot Assertions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toHaveScreenshot</a:t>
                      </a:r>
                      <a:r>
                        <a:rPr lang="en-US" dirty="0"/>
                        <a:t>(), </a:t>
                      </a:r>
                      <a:r>
                        <a:rPr lang="en-US" dirty="0" err="1"/>
                        <a:t>locator.toHaveScreenshot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Compare page/element screenshot against baseline.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90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136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484322" y="674176"/>
            <a:ext cx="8175356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2000"/>
            </a:pPr>
            <a:r>
              <a:rPr lang="en-US" sz="1200" b="1" dirty="0"/>
              <a:t>Mocha: </a:t>
            </a:r>
            <a:r>
              <a:rPr lang="en-US" sz="1200" dirty="0"/>
              <a:t>A flexible JavaScript test framework (Node.js &amp; Browser).</a:t>
            </a:r>
          </a:p>
          <a:p>
            <a:pPr>
              <a:defRPr sz="2000"/>
            </a:pPr>
            <a:r>
              <a:rPr lang="en-US" sz="1200" dirty="0"/>
              <a:t>   • Provides test runner only → needs assertion library (e.g., Chai).</a:t>
            </a:r>
          </a:p>
          <a:p>
            <a:pPr>
              <a:defRPr sz="2000"/>
            </a:pPr>
            <a:r>
              <a:rPr lang="en-US" sz="1200" dirty="0"/>
              <a:t>   • Syntax: describe(), it(), before(), after().</a:t>
            </a:r>
          </a:p>
          <a:p>
            <a:pPr>
              <a:defRPr sz="2000"/>
            </a:pPr>
            <a:r>
              <a:rPr lang="en-US" sz="1200" dirty="0"/>
              <a:t>   • Example: expect(value).</a:t>
            </a:r>
            <a:r>
              <a:rPr lang="en-US" sz="1200" dirty="0" err="1"/>
              <a:t>to.equal</a:t>
            </a:r>
            <a:r>
              <a:rPr lang="en-US" sz="1200" dirty="0"/>
              <a:t>(10);</a:t>
            </a:r>
          </a:p>
          <a:p>
            <a:pPr>
              <a:defRPr sz="2000"/>
            </a:pPr>
            <a:endParaRPr lang="en-US" sz="1200" dirty="0"/>
          </a:p>
          <a:p>
            <a:pPr>
              <a:defRPr sz="2000"/>
            </a:pPr>
            <a:r>
              <a:rPr lang="en-US" sz="1200" b="1" dirty="0"/>
              <a:t>Jasmine: </a:t>
            </a:r>
            <a:r>
              <a:rPr lang="en-US" sz="1200" dirty="0"/>
              <a:t>All-in-one testing framework (no extra library needed).</a:t>
            </a:r>
          </a:p>
          <a:p>
            <a:pPr>
              <a:defRPr sz="2000"/>
            </a:pPr>
            <a:r>
              <a:rPr lang="en-US" sz="1200" dirty="0"/>
              <a:t>   • Built-in assertion &amp; mocking support.</a:t>
            </a:r>
          </a:p>
          <a:p>
            <a:pPr>
              <a:defRPr sz="2000"/>
            </a:pPr>
            <a:r>
              <a:rPr lang="en-US" sz="1200" dirty="0"/>
              <a:t>   • Syntax: describe(), it(), </a:t>
            </a:r>
            <a:r>
              <a:rPr lang="en-US" sz="1200" dirty="0" err="1"/>
              <a:t>beforeEach</a:t>
            </a:r>
            <a:r>
              <a:rPr lang="en-US" sz="1200" dirty="0"/>
              <a:t>(), </a:t>
            </a:r>
            <a:r>
              <a:rPr lang="en-US" sz="1200" dirty="0" err="1"/>
              <a:t>afterEach</a:t>
            </a:r>
            <a:r>
              <a:rPr lang="en-US" sz="1200" dirty="0"/>
              <a:t>().</a:t>
            </a:r>
          </a:p>
          <a:p>
            <a:pPr>
              <a:defRPr sz="2000"/>
            </a:pPr>
            <a:r>
              <a:rPr lang="en-US" sz="1200" dirty="0"/>
              <a:t>   • Example: expect(value).</a:t>
            </a:r>
            <a:r>
              <a:rPr lang="en-US" sz="1200" dirty="0" err="1"/>
              <a:t>toBe</a:t>
            </a:r>
            <a:r>
              <a:rPr lang="en-US" sz="1200" dirty="0"/>
              <a:t>(10);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Best Practices: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expect(...).to* for smart assertions with retry.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Prefer </a:t>
            </a:r>
            <a:r>
              <a:rPr lang="en-US" dirty="0" err="1"/>
              <a:t>waitForSelector</a:t>
            </a:r>
            <a:r>
              <a:rPr lang="en-US" dirty="0"/>
              <a:t> for element visibility or disappearance.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Avoid using </a:t>
            </a:r>
            <a:r>
              <a:rPr lang="en-US" dirty="0" err="1"/>
              <a:t>waitForTimeout</a:t>
            </a:r>
            <a:r>
              <a:rPr lang="en-US" dirty="0"/>
              <a:t>() unless necessary (it makes tests slow and less stable).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Structure tests around what the user sees, not internal states.</a:t>
            </a:r>
          </a:p>
        </p:txBody>
      </p:sp>
      <p:sp>
        <p:nvSpPr>
          <p:cNvPr id="3" name="Google Shape;127;p22">
            <a:extLst>
              <a:ext uri="{FF2B5EF4-FFF2-40B4-BE49-F238E27FC236}">
                <a16:creationId xmlns:a16="http://schemas.microsoft.com/office/drawing/2014/main" id="{6D4B5C00-64AB-6395-A427-4A47F2224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Mocha vs Jasmine (Assertions)</a:t>
            </a:r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690</Words>
  <Application>Microsoft Office PowerPoint</Application>
  <PresentationFormat>On-screen Show (16:9)</PresentationFormat>
  <Paragraphs>105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Roboto</vt:lpstr>
      <vt:lpstr>Material</vt:lpstr>
      <vt:lpstr>Assertions &amp; Waits </vt:lpstr>
      <vt:lpstr>What Are Assertions?</vt:lpstr>
      <vt:lpstr>What Are Waits?</vt:lpstr>
      <vt:lpstr>Key Concepts Summary</vt:lpstr>
      <vt:lpstr>Types of Assertion</vt:lpstr>
      <vt:lpstr>Mocha vs Jasmine (Assertions)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46</cp:revision>
  <dcterms:modified xsi:type="dcterms:W3CDTF">2025-08-25T13:16:54Z</dcterms:modified>
</cp:coreProperties>
</file>
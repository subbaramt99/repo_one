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CI/CD Integration &amp;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What Is CI/CD?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9277"/>
            <a:ext cx="8826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CI (Continuous Integration): Automatically test your code every time you push changes.</a:t>
            </a:r>
          </a:p>
          <a:p>
            <a:pPr>
              <a:lnSpc>
                <a:spcPct val="150000"/>
              </a:lnSpc>
            </a:pPr>
            <a:r>
              <a:rPr lang="en-US" dirty="0"/>
              <a:t>CD (Continuous Delivery/Deployment): Automatically deploy code to environments after passing tests.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Why Use Playwright in CI/CD Pipelines?</a:t>
            </a:r>
          </a:p>
          <a:p>
            <a:pPr algn="just"/>
            <a:r>
              <a:rPr lang="en-US" dirty="0"/>
              <a:t>Full browser coverage (Chromium, Firefox, WebKit)</a:t>
            </a:r>
          </a:p>
          <a:p>
            <a:pPr algn="just"/>
            <a:r>
              <a:rPr lang="en-US" dirty="0"/>
              <a:t>Headless execution suitable for cloud runners</a:t>
            </a:r>
          </a:p>
          <a:p>
            <a:pPr algn="just"/>
            <a:r>
              <a:rPr lang="en-US" dirty="0"/>
              <a:t>Screenshots, videos, and trace support help diagnose failures</a:t>
            </a:r>
          </a:p>
          <a:p>
            <a:pPr algn="just"/>
            <a:r>
              <a:rPr lang="en-US" dirty="0"/>
              <a:t>Runs on major CI platforms: GitHub Actions, GitLab CI, Jenkins, Azure DevOps, </a:t>
            </a:r>
            <a:r>
              <a:rPr lang="en-US" dirty="0" err="1"/>
              <a:t>CircleCI</a:t>
            </a:r>
            <a:r>
              <a:rPr lang="en-US" dirty="0"/>
              <a:t>, etc.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b="1" dirty="0"/>
              <a:t>Setting Up Playwright Tests for CI</a:t>
            </a:r>
          </a:p>
          <a:p>
            <a:pPr marL="0" indent="0">
              <a:buNone/>
            </a:pPr>
            <a:r>
              <a:rPr lang="en-US" b="1" dirty="0"/>
              <a:t>A. Install Playwright</a:t>
            </a:r>
          </a:p>
          <a:p>
            <a:pPr marL="457200" lvl="1" indent="0">
              <a:buNone/>
            </a:pPr>
            <a:r>
              <a:rPr lang="en-US" dirty="0" err="1"/>
              <a:t>npm</a:t>
            </a:r>
            <a:r>
              <a:rPr lang="en-US" dirty="0"/>
              <a:t> install -D @playwright/test</a:t>
            </a:r>
          </a:p>
          <a:p>
            <a:pPr marL="457200" lvl="1" indent="0">
              <a:buNone/>
            </a:pPr>
            <a:r>
              <a:rPr lang="en-US" dirty="0" err="1"/>
              <a:t>npx</a:t>
            </a:r>
            <a:r>
              <a:rPr lang="en-US" dirty="0"/>
              <a:t> playwright install</a:t>
            </a:r>
          </a:p>
          <a:p>
            <a:pPr marL="0" indent="0">
              <a:buNone/>
            </a:pPr>
            <a:r>
              <a:rPr lang="en-US" b="1" dirty="0"/>
              <a:t>B. Basic test command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test</a:t>
            </a:r>
          </a:p>
          <a:p>
            <a:pPr marL="0" indent="0">
              <a:buNone/>
            </a:pPr>
            <a:r>
              <a:rPr lang="en-US" dirty="0"/>
              <a:t>Use this in your CI scripts to trigger tests.</a:t>
            </a:r>
          </a:p>
          <a:p>
            <a:pPr marL="0" indent="0"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6976" y="619050"/>
            <a:ext cx="870787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playwright.config.js</a:t>
            </a:r>
          </a:p>
          <a:p>
            <a:pPr marL="457200" lvl="1" indent="0">
              <a:buNone/>
            </a:pPr>
            <a:r>
              <a:rPr lang="en-US" dirty="0"/>
              <a:t>import { </a:t>
            </a:r>
            <a:r>
              <a:rPr lang="en-US" dirty="0" err="1"/>
              <a:t>defineConfig</a:t>
            </a:r>
            <a:r>
              <a:rPr lang="en-US" dirty="0"/>
              <a:t> } from '@playwright/test';</a:t>
            </a:r>
          </a:p>
          <a:p>
            <a:pPr marL="457200" lvl="1" indent="0">
              <a:buNone/>
            </a:pPr>
            <a:r>
              <a:rPr lang="en-US" dirty="0"/>
              <a:t>export default </a:t>
            </a:r>
            <a:r>
              <a:rPr lang="en-US" dirty="0" err="1"/>
              <a:t>defineConfig</a:t>
            </a:r>
            <a:r>
              <a:rPr lang="en-US" dirty="0"/>
              <a:t>({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testDir</a:t>
            </a:r>
            <a:r>
              <a:rPr lang="en-US" dirty="0"/>
              <a:t>: './tests',</a:t>
            </a:r>
          </a:p>
          <a:p>
            <a:pPr marL="457200" lvl="1" indent="0">
              <a:buNone/>
            </a:pPr>
            <a:r>
              <a:rPr lang="en-US" dirty="0"/>
              <a:t>  timeout: 30 * 1000,</a:t>
            </a:r>
          </a:p>
          <a:p>
            <a:pPr marL="457200" lvl="1" indent="0">
              <a:buNone/>
            </a:pPr>
            <a:r>
              <a:rPr lang="en-US" dirty="0"/>
              <a:t>  retries: 1,</a:t>
            </a:r>
          </a:p>
          <a:p>
            <a:pPr marL="457200" lvl="1" indent="0">
              <a:buNone/>
            </a:pPr>
            <a:r>
              <a:rPr lang="en-US" dirty="0"/>
              <a:t>  workers: 4,</a:t>
            </a:r>
          </a:p>
          <a:p>
            <a:pPr marL="457200" lvl="1" indent="0">
              <a:buNone/>
            </a:pPr>
            <a:r>
              <a:rPr lang="en-US" dirty="0"/>
              <a:t>  use: {</a:t>
            </a:r>
          </a:p>
          <a:p>
            <a:pPr marL="457200" lvl="1" indent="0">
              <a:buNone/>
            </a:pPr>
            <a:r>
              <a:rPr lang="en-US" dirty="0"/>
              <a:t> headless: true,</a:t>
            </a:r>
          </a:p>
          <a:p>
            <a:pPr marL="457200" lvl="1" indent="0">
              <a:buNone/>
            </a:pPr>
            <a:r>
              <a:rPr lang="en-US" dirty="0"/>
              <a:t>    video: 'retain-on-failure',</a:t>
            </a:r>
          </a:p>
          <a:p>
            <a:pPr marL="457200" lvl="1" indent="0">
              <a:buNone/>
            </a:pPr>
            <a:r>
              <a:rPr lang="en-US" dirty="0"/>
              <a:t>    trace: 'on-first-retry',</a:t>
            </a:r>
          </a:p>
          <a:p>
            <a:pPr marL="457200" lvl="1" indent="0">
              <a:buNone/>
            </a:pPr>
            <a:r>
              <a:rPr lang="en-US" dirty="0"/>
              <a:t>},</a:t>
            </a:r>
          </a:p>
          <a:p>
            <a:pPr marL="457200" lvl="1" indent="0">
              <a:buNone/>
            </a:pPr>
            <a:r>
              <a:rPr lang="en-US" dirty="0"/>
              <a:t>  reporter: [['html'], ['list']],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dirty="0"/>
              <a:t>Retries: Improves resilience to flaky tests.</a:t>
            </a:r>
          </a:p>
          <a:p>
            <a:pPr marL="0" indent="0">
              <a:buNone/>
            </a:pPr>
            <a:r>
              <a:rPr lang="en-US" dirty="0"/>
              <a:t>Workers: Parallel execution.</a:t>
            </a:r>
          </a:p>
          <a:p>
            <a:pPr marL="0" indent="0">
              <a:buNone/>
            </a:pPr>
            <a:r>
              <a:rPr lang="en-US" dirty="0"/>
              <a:t>Trace/Video: Helps debug CI-only failures.</a:t>
            </a:r>
          </a:p>
        </p:txBody>
      </p:sp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88112C09-E15F-F048-C60B-8D95C1243F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Playwright in CI: Key Configuration Areas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25428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04A4C5AE-CAD6-1B3C-BEA3-0C839AD0F2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CI Integration Examples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88AAC5-54F3-66DD-E28D-57AC7F61AAEF}"/>
              </a:ext>
            </a:extLst>
          </p:cNvPr>
          <p:cNvSpPr txBox="1"/>
          <p:nvPr/>
        </p:nvSpPr>
        <p:spPr>
          <a:xfrm>
            <a:off x="98250" y="767166"/>
            <a:ext cx="6752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A. GitHub Actions</a:t>
            </a:r>
          </a:p>
          <a:p>
            <a:pPr marL="0" indent="0">
              <a:buNone/>
            </a:pPr>
            <a:r>
              <a:rPr lang="en-US" dirty="0"/>
              <a:t>name: Playwright Tests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on: [push]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jobs:</a:t>
            </a:r>
          </a:p>
          <a:p>
            <a:pPr marL="0" indent="0">
              <a:buNone/>
            </a:pPr>
            <a:r>
              <a:rPr lang="en-US" dirty="0"/>
              <a:t>  test:</a:t>
            </a:r>
          </a:p>
          <a:p>
            <a:pPr marL="0" indent="0">
              <a:buNone/>
            </a:pPr>
            <a:r>
              <a:rPr lang="en-US" dirty="0"/>
              <a:t>    runs-on: ubuntu-latest</a:t>
            </a:r>
          </a:p>
          <a:p>
            <a:pPr marL="0" indent="0">
              <a:buNone/>
            </a:pPr>
            <a:r>
              <a:rPr lang="en-US" dirty="0"/>
              <a:t>    steps:</a:t>
            </a:r>
          </a:p>
          <a:p>
            <a:pPr marL="0" indent="0">
              <a:buNone/>
            </a:pPr>
            <a:r>
              <a:rPr lang="en-US" dirty="0"/>
              <a:t>      - uses: actions/checkout@v3</a:t>
            </a:r>
          </a:p>
          <a:p>
            <a:pPr marL="0" indent="0">
              <a:buNone/>
            </a:pPr>
            <a:r>
              <a:rPr lang="en-US" dirty="0"/>
              <a:t>      - uses: actions/setup-node@v3</a:t>
            </a:r>
          </a:p>
          <a:p>
            <a:pPr marL="0" indent="0">
              <a:buNone/>
            </a:pPr>
            <a:r>
              <a:rPr lang="en-US" dirty="0"/>
              <a:t>        with:</a:t>
            </a:r>
          </a:p>
          <a:p>
            <a:pPr marL="0" indent="0">
              <a:buNone/>
            </a:pPr>
            <a:r>
              <a:rPr lang="en-US" dirty="0"/>
              <a:t>          node-version: 18</a:t>
            </a:r>
          </a:p>
          <a:p>
            <a:pPr marL="0" indent="0">
              <a:buNone/>
            </a:pPr>
            <a:r>
              <a:rPr lang="en-US" dirty="0"/>
              <a:t>      - run: </a:t>
            </a:r>
            <a:r>
              <a:rPr lang="en-US" dirty="0" err="1"/>
              <a:t>npm</a:t>
            </a:r>
            <a:r>
              <a:rPr lang="en-US" dirty="0"/>
              <a:t> install</a:t>
            </a:r>
          </a:p>
          <a:p>
            <a:pPr marL="0" indent="0">
              <a:buNone/>
            </a:pPr>
            <a:r>
              <a:rPr lang="en-US" dirty="0"/>
              <a:t>      - run: </a:t>
            </a:r>
            <a:r>
              <a:rPr lang="en-US" dirty="0" err="1"/>
              <a:t>npx</a:t>
            </a:r>
            <a:r>
              <a:rPr lang="en-US" dirty="0"/>
              <a:t> playwright install --with-deps</a:t>
            </a:r>
          </a:p>
          <a:p>
            <a:pPr marL="0" indent="0">
              <a:buNone/>
            </a:pPr>
            <a:r>
              <a:rPr lang="en-US" dirty="0"/>
              <a:t>      - run: </a:t>
            </a:r>
            <a:r>
              <a:rPr lang="en-US" dirty="0" err="1"/>
              <a:t>npx</a:t>
            </a:r>
            <a:r>
              <a:rPr lang="en-US" dirty="0"/>
              <a:t> playwright test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309966" y="674176"/>
            <a:ext cx="8349712" cy="47424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EE931-E0B6-EA2B-4C2A-20ECB0357241}"/>
              </a:ext>
            </a:extLst>
          </p:cNvPr>
          <p:cNvSpPr txBox="1"/>
          <p:nvPr/>
        </p:nvSpPr>
        <p:spPr>
          <a:xfrm>
            <a:off x="309966" y="674176"/>
            <a:ext cx="8491134" cy="469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1300" b="1" dirty="0"/>
              <a:t>B. Jenkins</a:t>
            </a:r>
          </a:p>
          <a:p>
            <a:pPr marL="457200" lvl="1" indent="0">
              <a:buNone/>
            </a:pPr>
            <a:r>
              <a:rPr lang="en-US" sz="1300" dirty="0"/>
              <a:t>pipeline {</a:t>
            </a:r>
          </a:p>
          <a:p>
            <a:pPr marL="457200" lvl="1" indent="0">
              <a:buNone/>
            </a:pPr>
            <a:r>
              <a:rPr lang="en-US" sz="1300" dirty="0"/>
              <a:t>  agent any</a:t>
            </a:r>
          </a:p>
          <a:p>
            <a:pPr marL="457200" lvl="1" indent="0">
              <a:buNone/>
            </a:pPr>
            <a:endParaRPr lang="en-US" sz="1300" dirty="0"/>
          </a:p>
          <a:p>
            <a:pPr marL="457200" lvl="1" indent="0">
              <a:buNone/>
            </a:pPr>
            <a:r>
              <a:rPr lang="en-US" sz="1300" dirty="0"/>
              <a:t>  stages {</a:t>
            </a:r>
          </a:p>
          <a:p>
            <a:pPr marL="457200" lvl="1" indent="0">
              <a:buNone/>
            </a:pPr>
            <a:r>
              <a:rPr lang="en-US" sz="1300" dirty="0"/>
              <a:t>    stage('Install') {</a:t>
            </a:r>
          </a:p>
          <a:p>
            <a:pPr marL="457200" lvl="1" indent="0">
              <a:buNone/>
            </a:pPr>
            <a:r>
              <a:rPr lang="en-US" sz="1300" dirty="0"/>
              <a:t>      steps {</a:t>
            </a:r>
          </a:p>
          <a:p>
            <a:pPr marL="457200" lvl="1" indent="0">
              <a:buNone/>
            </a:pPr>
            <a:r>
              <a:rPr lang="en-US" sz="1300" dirty="0"/>
              <a:t>        </a:t>
            </a:r>
            <a:r>
              <a:rPr lang="en-US" sz="1300" dirty="0" err="1"/>
              <a:t>sh</a:t>
            </a:r>
            <a:r>
              <a:rPr lang="en-US" sz="1300" dirty="0"/>
              <a:t> '</a:t>
            </a:r>
            <a:r>
              <a:rPr lang="en-US" sz="1300" dirty="0" err="1"/>
              <a:t>npm</a:t>
            </a:r>
            <a:r>
              <a:rPr lang="en-US" sz="1300" dirty="0"/>
              <a:t> install'</a:t>
            </a:r>
          </a:p>
          <a:p>
            <a:pPr marL="457200" lvl="1" indent="0">
              <a:buNone/>
            </a:pPr>
            <a:r>
              <a:rPr lang="en-US" sz="1300" dirty="0"/>
              <a:t>      }</a:t>
            </a:r>
          </a:p>
          <a:p>
            <a:pPr marL="457200" lvl="1" indent="0">
              <a:buNone/>
            </a:pPr>
            <a:r>
              <a:rPr lang="en-US" sz="1300" dirty="0"/>
              <a:t>    }</a:t>
            </a:r>
          </a:p>
          <a:p>
            <a:pPr marL="457200" lvl="1" indent="0">
              <a:buNone/>
            </a:pPr>
            <a:r>
              <a:rPr lang="en-US" sz="1300" dirty="0"/>
              <a:t>    stage('Playwright Setup') {</a:t>
            </a:r>
          </a:p>
          <a:p>
            <a:pPr marL="457200" lvl="1" indent="0">
              <a:buNone/>
            </a:pPr>
            <a:r>
              <a:rPr lang="en-US" sz="1300" dirty="0"/>
              <a:t>      steps {</a:t>
            </a:r>
          </a:p>
          <a:p>
            <a:pPr marL="457200" lvl="1" indent="0">
              <a:buNone/>
            </a:pPr>
            <a:r>
              <a:rPr lang="en-US" sz="1300" dirty="0"/>
              <a:t>        </a:t>
            </a:r>
            <a:r>
              <a:rPr lang="en-US" sz="1300" dirty="0" err="1"/>
              <a:t>sh</a:t>
            </a:r>
            <a:r>
              <a:rPr lang="en-US" sz="1300" dirty="0"/>
              <a:t> '</a:t>
            </a:r>
            <a:r>
              <a:rPr lang="en-US" sz="1300" dirty="0" err="1"/>
              <a:t>npx</a:t>
            </a:r>
            <a:r>
              <a:rPr lang="en-US" sz="1300" dirty="0"/>
              <a:t> playwright install --with-deps'</a:t>
            </a:r>
          </a:p>
          <a:p>
            <a:pPr marL="457200" lvl="1" indent="0">
              <a:buNone/>
            </a:pPr>
            <a:r>
              <a:rPr lang="en-US" sz="1300" dirty="0"/>
              <a:t>      }</a:t>
            </a:r>
          </a:p>
          <a:p>
            <a:pPr marL="457200" lvl="1" indent="0">
              <a:buNone/>
            </a:pPr>
            <a:r>
              <a:rPr lang="en-US" sz="1300" dirty="0"/>
              <a:t>    }</a:t>
            </a:r>
          </a:p>
          <a:p>
            <a:pPr marL="457200" lvl="1" indent="0">
              <a:buNone/>
            </a:pPr>
            <a:r>
              <a:rPr lang="en-US" sz="1300" dirty="0"/>
              <a:t>    stage('Run Tests') {</a:t>
            </a:r>
          </a:p>
          <a:p>
            <a:pPr marL="457200" lvl="1" indent="0">
              <a:buNone/>
            </a:pPr>
            <a:r>
              <a:rPr lang="en-US" sz="1300" dirty="0"/>
              <a:t>      steps {</a:t>
            </a:r>
          </a:p>
          <a:p>
            <a:pPr marL="457200" lvl="1" indent="0">
              <a:buNone/>
            </a:pPr>
            <a:r>
              <a:rPr lang="en-US" sz="1300" dirty="0"/>
              <a:t>        </a:t>
            </a:r>
            <a:r>
              <a:rPr lang="en-US" sz="1300" dirty="0" err="1"/>
              <a:t>sh</a:t>
            </a:r>
            <a:r>
              <a:rPr lang="en-US" sz="1300" dirty="0"/>
              <a:t> '</a:t>
            </a:r>
            <a:r>
              <a:rPr lang="en-US" sz="1300" dirty="0" err="1"/>
              <a:t>npx</a:t>
            </a:r>
            <a:r>
              <a:rPr lang="en-US" sz="1300" dirty="0"/>
              <a:t> playwright test'</a:t>
            </a:r>
          </a:p>
          <a:p>
            <a:pPr marL="457200" lvl="1" indent="0">
              <a:buNone/>
            </a:pPr>
            <a:r>
              <a:rPr lang="en-US" sz="1300" dirty="0"/>
              <a:t>      }</a:t>
            </a:r>
          </a:p>
          <a:p>
            <a:pPr marL="457200" lvl="1" indent="0">
              <a:buNone/>
            </a:pPr>
            <a:r>
              <a:rPr lang="en-US" sz="1300" dirty="0"/>
              <a:t>    }</a:t>
            </a:r>
          </a:p>
          <a:p>
            <a:pPr marL="457200" lvl="1" indent="0">
              <a:buNone/>
            </a:pPr>
            <a:r>
              <a:rPr lang="en-US" sz="1300" dirty="0"/>
              <a:t>  }</a:t>
            </a:r>
          </a:p>
          <a:p>
            <a:pPr marL="457200" lvl="1" indent="0">
              <a:buNone/>
            </a:pPr>
            <a:r>
              <a:rPr lang="en-US" sz="1300" dirty="0"/>
              <a:t>}</a:t>
            </a:r>
          </a:p>
          <a:p>
            <a:pPr marL="457200" lvl="1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06F83887-C8B4-CD57-47FC-E403A24124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Best Practices for CI/CD with Playwright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AFBD1-2EE3-92FC-95AF-300102E910E2}"/>
              </a:ext>
            </a:extLst>
          </p:cNvPr>
          <p:cNvSpPr txBox="1"/>
          <p:nvPr/>
        </p:nvSpPr>
        <p:spPr>
          <a:xfrm>
            <a:off x="98250" y="674177"/>
            <a:ext cx="6625525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Test Structure</a:t>
            </a:r>
          </a:p>
          <a:p>
            <a:pPr lvl="1"/>
            <a:r>
              <a:rPr lang="en-US" dirty="0"/>
              <a:t>Keep tests in a clear structure (e.g., tests/, fixtures/)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test.describe</a:t>
            </a:r>
            <a:r>
              <a:rPr lang="en-US" dirty="0"/>
              <a:t>() to group related tests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test.only</a:t>
            </a:r>
            <a:r>
              <a:rPr lang="en-US" dirty="0"/>
              <a:t>() and </a:t>
            </a:r>
            <a:r>
              <a:rPr lang="en-US" dirty="0" err="1"/>
              <a:t>test.skip</a:t>
            </a:r>
            <a:r>
              <a:rPr lang="en-US" dirty="0"/>
              <a:t>() appropriately</a:t>
            </a:r>
          </a:p>
          <a:p>
            <a:pPr marL="0" indent="0">
              <a:buNone/>
            </a:pPr>
            <a:r>
              <a:rPr lang="en-US" b="1" dirty="0"/>
              <a:t>Flakiness Management</a:t>
            </a:r>
          </a:p>
          <a:p>
            <a:pPr lvl="1"/>
            <a:r>
              <a:rPr lang="en-US" dirty="0"/>
              <a:t>Use expect(locator).</a:t>
            </a:r>
            <a:r>
              <a:rPr lang="en-US" dirty="0" err="1"/>
              <a:t>toBeVisible</a:t>
            </a:r>
            <a:r>
              <a:rPr lang="en-US" dirty="0"/>
              <a:t>() instead of arbitrary wait()</a:t>
            </a:r>
          </a:p>
          <a:p>
            <a:pPr lvl="1"/>
            <a:r>
              <a:rPr lang="en-US" dirty="0"/>
              <a:t>Retry failed tests (retries in config)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testInfo.retry</a:t>
            </a:r>
            <a:r>
              <a:rPr lang="en-US" dirty="0"/>
              <a:t> to detect retry attempts and adjust state</a:t>
            </a:r>
          </a:p>
          <a:p>
            <a:pPr lvl="1"/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/>
              <a:t>Artifacts Collection</a:t>
            </a:r>
          </a:p>
          <a:p>
            <a:pPr>
              <a:lnSpc>
                <a:spcPct val="110000"/>
              </a:lnSpc>
            </a:pPr>
            <a:r>
              <a:rPr lang="en-US" dirty="0"/>
              <a:t>Enable recording for: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Traces</a:t>
            </a:r>
            <a:r>
              <a:rPr lang="en-US" dirty="0"/>
              <a:t> (for step-by-step replay)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Videos</a:t>
            </a:r>
            <a:endParaRPr lang="en-US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Screenshots</a:t>
            </a:r>
          </a:p>
          <a:p>
            <a:pPr marL="457200" lvl="1" indent="0">
              <a:buNone/>
            </a:pPr>
            <a:r>
              <a:rPr lang="en-US" dirty="0"/>
              <a:t>use: {</a:t>
            </a:r>
          </a:p>
          <a:p>
            <a:pPr marL="457200" lvl="1" indent="0">
              <a:buNone/>
            </a:pPr>
            <a:r>
              <a:rPr lang="en-US" dirty="0"/>
              <a:t>  trace: 'on-first-retry',</a:t>
            </a:r>
          </a:p>
          <a:p>
            <a:pPr marL="457200" lvl="1" indent="0">
              <a:buNone/>
            </a:pPr>
            <a:r>
              <a:rPr lang="en-US" dirty="0"/>
              <a:t>  video: 'retain-on-failure',</a:t>
            </a:r>
          </a:p>
          <a:p>
            <a:pPr marL="457200" lvl="1" indent="0">
              <a:buNone/>
            </a:pPr>
            <a:r>
              <a:rPr lang="en-US" dirty="0"/>
              <a:t>  screenshot: 'only-on-failure',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180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4841F2-CD28-F2FB-DBD2-8560E0E06DD2}"/>
              </a:ext>
            </a:extLst>
          </p:cNvPr>
          <p:cNvSpPr txBox="1"/>
          <p:nvPr/>
        </p:nvSpPr>
        <p:spPr>
          <a:xfrm>
            <a:off x="242418" y="742295"/>
            <a:ext cx="662333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Test Tags &amp; Filtering</a:t>
            </a:r>
          </a:p>
          <a:p>
            <a:pPr marL="0" indent="0">
              <a:buNone/>
            </a:pPr>
            <a:r>
              <a:rPr lang="en-US" dirty="0"/>
              <a:t>Use annotations and CLI filters:</a:t>
            </a:r>
          </a:p>
          <a:p>
            <a:pPr marL="0" indent="0">
              <a:buNone/>
            </a:pPr>
            <a:r>
              <a:rPr lang="en-US" dirty="0"/>
              <a:t>test('@smoke basic login test', async () =&gt; {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r>
              <a:rPr lang="en-US" b="1" dirty="0"/>
              <a:t>Run only smoke tests: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test -g @smoke</a:t>
            </a:r>
          </a:p>
          <a:p>
            <a:pPr marL="0" indent="0">
              <a:buNone/>
            </a:pPr>
            <a:r>
              <a:rPr lang="en-US" b="1" dirty="0"/>
              <a:t>Environment Variables</a:t>
            </a:r>
          </a:p>
          <a:p>
            <a:pPr marL="0" indent="0">
              <a:buNone/>
            </a:pPr>
            <a:r>
              <a:rPr lang="en-US" dirty="0"/>
              <a:t>Use different </a:t>
            </a:r>
            <a:r>
              <a:rPr lang="en-US" dirty="0" err="1"/>
              <a:t>envs</a:t>
            </a:r>
            <a:r>
              <a:rPr lang="en-US" dirty="0"/>
              <a:t> for dev/stage/prod:</a:t>
            </a:r>
          </a:p>
          <a:p>
            <a:pPr marL="0" indent="0">
              <a:buNone/>
            </a:pPr>
            <a:r>
              <a:rPr lang="en-US" dirty="0"/>
              <a:t>	BASE_URL=https://staging.example.com </a:t>
            </a:r>
            <a:r>
              <a:rPr lang="en-US" dirty="0" err="1"/>
              <a:t>npx</a:t>
            </a:r>
            <a:r>
              <a:rPr lang="en-US" dirty="0"/>
              <a:t> playwright test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Use in code:</a:t>
            </a:r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page.goto</a:t>
            </a:r>
            <a:r>
              <a:rPr lang="en-US" dirty="0"/>
              <a:t>(</a:t>
            </a:r>
            <a:r>
              <a:rPr lang="en-US" dirty="0" err="1"/>
              <a:t>process.env.BASE_URL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Parallelism &amp; Sharding</a:t>
            </a:r>
          </a:p>
          <a:p>
            <a:pPr marL="0" indent="0">
              <a:buNone/>
            </a:pPr>
            <a:r>
              <a:rPr lang="en-US" b="1" dirty="0"/>
              <a:t>Speed up tests:</a:t>
            </a:r>
          </a:p>
          <a:p>
            <a:pPr marL="0" indent="0">
              <a:buNone/>
            </a:pPr>
            <a:r>
              <a:rPr lang="en-US" dirty="0"/>
              <a:t>workers: process.env.CI ? 4 : 1,</a:t>
            </a:r>
          </a:p>
          <a:p>
            <a:pPr marL="0" indent="0">
              <a:buNone/>
            </a:pPr>
            <a:r>
              <a:rPr lang="en-US" dirty="0"/>
              <a:t>shard: {</a:t>
            </a:r>
          </a:p>
          <a:p>
            <a:pPr marL="0" indent="0">
              <a:buNone/>
            </a:pPr>
            <a:r>
              <a:rPr lang="en-US" dirty="0"/>
              <a:t>  total: 2,</a:t>
            </a:r>
          </a:p>
          <a:p>
            <a:pPr marL="0" indent="0">
              <a:buNone/>
            </a:pPr>
            <a:r>
              <a:rPr lang="en-US" dirty="0"/>
              <a:t>  current: 1,</a:t>
            </a:r>
          </a:p>
          <a:p>
            <a:pPr marL="0" indent="0">
              <a:buNone/>
            </a:pPr>
            <a:r>
              <a:rPr lang="en-US" dirty="0"/>
              <a:t>}   CI services like </a:t>
            </a:r>
            <a:r>
              <a:rPr lang="en-US" dirty="0" err="1"/>
              <a:t>CircleCI</a:t>
            </a:r>
            <a:r>
              <a:rPr lang="en-US" dirty="0"/>
              <a:t> or GitHub can parallelize shards.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989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FADF60-33D0-04CC-8806-3D7E62BBDE20}"/>
              </a:ext>
            </a:extLst>
          </p:cNvPr>
          <p:cNvSpPr txBox="1"/>
          <p:nvPr/>
        </p:nvSpPr>
        <p:spPr>
          <a:xfrm>
            <a:off x="190941" y="708606"/>
            <a:ext cx="876211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 err="1"/>
              <a:t>Dockerfile</a:t>
            </a:r>
            <a:r>
              <a:rPr lang="en-US" b="1" dirty="0"/>
              <a:t> for CI:</a:t>
            </a:r>
          </a:p>
          <a:p>
            <a:pPr marL="457200" lvl="1" indent="0">
              <a:buNone/>
            </a:pPr>
            <a:r>
              <a:rPr lang="en-US" dirty="0"/>
              <a:t>FROM mcr.microsoft.com/playwright:v1.43.1-jammy</a:t>
            </a:r>
          </a:p>
          <a:p>
            <a:pPr marL="457200" lvl="1" indent="0">
              <a:buNone/>
            </a:pPr>
            <a:r>
              <a:rPr lang="en-US" dirty="0"/>
              <a:t>WORKDIR /app</a:t>
            </a:r>
          </a:p>
          <a:p>
            <a:pPr marL="457200" lvl="1" indent="0">
              <a:buNone/>
            </a:pPr>
            <a:r>
              <a:rPr lang="en-US" dirty="0"/>
              <a:t>COPY . .</a:t>
            </a:r>
          </a:p>
          <a:p>
            <a:pPr marL="457200" lvl="1" indent="0">
              <a:buNone/>
            </a:pPr>
            <a:r>
              <a:rPr lang="en-US" dirty="0"/>
              <a:t>RUN </a:t>
            </a:r>
            <a:r>
              <a:rPr lang="en-US" dirty="0" err="1"/>
              <a:t>npm</a:t>
            </a:r>
            <a:r>
              <a:rPr lang="en-US" dirty="0"/>
              <a:t> ci</a:t>
            </a:r>
          </a:p>
          <a:p>
            <a:pPr marL="457200" lvl="1" indent="0">
              <a:buNone/>
            </a:pPr>
            <a:r>
              <a:rPr lang="en-US" dirty="0"/>
              <a:t>CMD ["</a:t>
            </a:r>
            <a:r>
              <a:rPr lang="en-US" dirty="0" err="1"/>
              <a:t>npx</a:t>
            </a:r>
            <a:r>
              <a:rPr lang="en-US" dirty="0"/>
              <a:t>", "playwright", "test"]</a:t>
            </a:r>
          </a:p>
          <a:p>
            <a:pPr marL="0" indent="0">
              <a:buNone/>
            </a:pPr>
            <a:r>
              <a:rPr lang="en-US" b="1" dirty="0"/>
              <a:t>Run:</a:t>
            </a:r>
          </a:p>
          <a:p>
            <a:pPr marL="457200" lvl="1" indent="0">
              <a:buNone/>
            </a:pPr>
            <a:r>
              <a:rPr lang="en-US" dirty="0"/>
              <a:t>docker build -t my-tests .</a:t>
            </a:r>
          </a:p>
          <a:p>
            <a:pPr marL="457200" lvl="1" indent="0">
              <a:buNone/>
            </a:pPr>
            <a:r>
              <a:rPr lang="en-US" dirty="0"/>
              <a:t>docker run --rm my-tests</a:t>
            </a:r>
          </a:p>
          <a:p>
            <a:pPr marL="457200" lvl="1" indent="0">
              <a:buNone/>
            </a:pPr>
            <a:r>
              <a:rPr lang="en-US" dirty="0"/>
              <a:t>Useful for consistent test environments in CI.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Common CI/CD Challenges in Playwright</a:t>
            </a:r>
          </a:p>
        </p:txBody>
      </p:sp>
      <p:sp>
        <p:nvSpPr>
          <p:cNvPr id="2" name="Google Shape;82;p15">
            <a:extLst>
              <a:ext uri="{FF2B5EF4-FFF2-40B4-BE49-F238E27FC236}">
                <a16:creationId xmlns:a16="http://schemas.microsoft.com/office/drawing/2014/main" id="{A717C920-AFEE-8E63-8CF7-15F1CB8C7F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Running Tests in Docker (Optional)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F907F97-18BC-4C9A-9BFA-E675353362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3167618"/>
              </p:ext>
            </p:extLst>
          </p:nvPr>
        </p:nvGraphicFramePr>
        <p:xfrm>
          <a:off x="835062" y="3386262"/>
          <a:ext cx="7473876" cy="15562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36938">
                  <a:extLst>
                    <a:ext uri="{9D8B030D-6E8A-4147-A177-3AD203B41FA5}">
                      <a16:colId xmlns:a16="http://schemas.microsoft.com/office/drawing/2014/main" val="3280001940"/>
                    </a:ext>
                  </a:extLst>
                </a:gridCol>
                <a:gridCol w="3736938">
                  <a:extLst>
                    <a:ext uri="{9D8B030D-6E8A-4147-A177-3AD203B41FA5}">
                      <a16:colId xmlns:a16="http://schemas.microsoft.com/office/drawing/2014/main" val="867210002"/>
                    </a:ext>
                  </a:extLst>
                </a:gridCol>
              </a:tblGrid>
              <a:tr h="311247">
                <a:tc>
                  <a:txBody>
                    <a:bodyPr/>
                    <a:lstStyle/>
                    <a:p>
                      <a:r>
                        <a:rPr lang="en-US" dirty="0"/>
                        <a:t>Problem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6791872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r>
                        <a:rPr lang="en-US"/>
                        <a:t>Tests pass locally but fail in 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headless: false + slowMo + trace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3979545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r>
                        <a:rPr lang="en-US" dirty="0"/>
                        <a:t>Flaky tests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retries, expect, avoid waitForTimeout()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181963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r>
                        <a:rPr lang="en-US"/>
                        <a:t>Backend data 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 API mocking (page.route) or seed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7359942"/>
                  </a:ext>
                </a:extLst>
              </a:tr>
              <a:tr h="311247">
                <a:tc>
                  <a:txBody>
                    <a:bodyPr/>
                    <a:lstStyle/>
                    <a:p>
                      <a:r>
                        <a:rPr lang="en-US"/>
                        <a:t>Large test suites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parallelism, test </a:t>
                      </a:r>
                      <a:r>
                        <a:rPr lang="en-US" dirty="0" err="1"/>
                        <a:t>sharding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0603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481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B77E-98B3-FC01-3FC9-E7162AE1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Tools to Enhance CI/CD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9625A-1B53-18F2-021D-0E11A981BCFC}"/>
              </a:ext>
            </a:extLst>
          </p:cNvPr>
          <p:cNvSpPr txBox="1"/>
          <p:nvPr/>
        </p:nvSpPr>
        <p:spPr>
          <a:xfrm>
            <a:off x="158699" y="728421"/>
            <a:ext cx="8826600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Allure Report – richer HTML reports</a:t>
            </a:r>
          </a:p>
          <a:p>
            <a:r>
              <a:rPr lang="en-US" dirty="0"/>
              <a:t>Slack Notifications – on test failures</a:t>
            </a:r>
          </a:p>
          <a:p>
            <a:r>
              <a:rPr lang="en-US" dirty="0"/>
              <a:t>MSW or Mirage.js – advanced mocking</a:t>
            </a:r>
          </a:p>
          <a:p>
            <a:r>
              <a:rPr lang="en-US" dirty="0"/>
              <a:t>BrowserStack/SauceLabs – for cross-browser on cloud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Final CI/CD Checklist for Playwright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Tests run in headless mode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Traces/videos/screenshots recorded for failures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Artifacts uploaded in CI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Environment-specific base URLs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Retry + flake-tolerant config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Clean test data isolation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All tests green before deploy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91911373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1202</TotalTime>
  <Words>819</Words>
  <Application>Microsoft Office PowerPoint</Application>
  <PresentationFormat>On-screen Show (16:9)</PresentationFormat>
  <Paragraphs>153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Arial</vt:lpstr>
      <vt:lpstr>Roboto</vt:lpstr>
      <vt:lpstr>Material</vt:lpstr>
      <vt:lpstr>CI/CD Integration &amp; Best Practices</vt:lpstr>
      <vt:lpstr>What Is CI/CD?</vt:lpstr>
      <vt:lpstr>Playwright in CI: Key Configuration Areas</vt:lpstr>
      <vt:lpstr>CI Integration Examples</vt:lpstr>
      <vt:lpstr>PowerPoint Presentation</vt:lpstr>
      <vt:lpstr>Best Practices for CI/CD with Playwright</vt:lpstr>
      <vt:lpstr>PowerPoint Presentation</vt:lpstr>
      <vt:lpstr>Running Tests in Docker (Optional)</vt:lpstr>
      <vt:lpstr>Optional Tools to Enhance CI/CD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79</cp:revision>
  <dcterms:modified xsi:type="dcterms:W3CDTF">2025-08-25T13:46:36Z</dcterms:modified>
</cp:coreProperties>
</file>
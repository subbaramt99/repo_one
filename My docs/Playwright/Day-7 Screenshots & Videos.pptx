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9" r:id="rId4"/>
    <p:sldId id="265" r:id="rId5"/>
    <p:sldId id="266" r:id="rId6"/>
    <p:sldId id="267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Screenshots &amp; Videos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Overview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Playwright allows you to:</a:t>
            </a:r>
          </a:p>
          <a:p>
            <a:pPr marL="0" indent="0">
              <a:buNone/>
            </a:pPr>
            <a:r>
              <a:rPr lang="en-US" dirty="0"/>
              <a:t>Take screenshots of full pages or specific elements.</a:t>
            </a:r>
          </a:p>
          <a:p>
            <a:pPr marL="0" indent="0">
              <a:buNone/>
            </a:pPr>
            <a:r>
              <a:rPr lang="en-US" dirty="0"/>
              <a:t>Record videos of entire test executions.</a:t>
            </a:r>
          </a:p>
          <a:p>
            <a:pPr marL="0" indent="0">
              <a:buNone/>
            </a:pPr>
            <a:r>
              <a:rPr lang="en-US" dirty="0"/>
              <a:t>Useful for debugging, CI validation, visual regression, and reporting.</a:t>
            </a:r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r>
              <a:rPr lang="en-US" b="1" dirty="0"/>
              <a:t>What is Trace in Playwright?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100" dirty="0">
                <a:latin typeface="Calibri" panose="020F0502020204030204" pitchFamily="34" charset="0"/>
                <a:ea typeface="Yu Mincho" panose="02020400000000000000" pitchFamily="18" charset="-128"/>
                <a:cs typeface="Calibri" panose="020F0502020204030204" pitchFamily="34" charset="0"/>
              </a:rPr>
              <a:t>A trace is a recording of your Playwright test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100" dirty="0">
                <a:latin typeface="Calibri" panose="020F0502020204030204" pitchFamily="34" charset="0"/>
                <a:ea typeface="Yu Mincho" panose="02020400000000000000" pitchFamily="18" charset="-128"/>
                <a:cs typeface="Calibri" panose="020F0502020204030204" pitchFamily="34" charset="0"/>
              </a:rPr>
              <a:t>It captures screenshots, DOM snapshots, console logs, network requests, and actions during test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100" dirty="0">
                <a:latin typeface="Calibri" panose="020F0502020204030204" pitchFamily="34" charset="0"/>
                <a:ea typeface="Yu Mincho" panose="02020400000000000000" pitchFamily="18" charset="-128"/>
                <a:cs typeface="Calibri" panose="020F0502020204030204" pitchFamily="34" charset="0"/>
              </a:rPr>
              <a:t>Purpose: Helps in debugging failed tests by letting you replay what happened.</a:t>
            </a:r>
          </a:p>
          <a:p>
            <a:r>
              <a:rPr lang="en-US" b="1" dirty="0"/>
              <a:t>Purpose of Trace</a:t>
            </a:r>
            <a:endParaRPr lang="en-IN" b="1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8FCA27-13D5-F083-AF32-BB64F8C12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251578"/>
              </p:ext>
            </p:extLst>
          </p:nvPr>
        </p:nvGraphicFramePr>
        <p:xfrm>
          <a:off x="523067" y="2816015"/>
          <a:ext cx="8097866" cy="2148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48933">
                  <a:extLst>
                    <a:ext uri="{9D8B030D-6E8A-4147-A177-3AD203B41FA5}">
                      <a16:colId xmlns:a16="http://schemas.microsoft.com/office/drawing/2014/main" val="2667385989"/>
                    </a:ext>
                  </a:extLst>
                </a:gridCol>
                <a:gridCol w="4048933">
                  <a:extLst>
                    <a:ext uri="{9D8B030D-6E8A-4147-A177-3AD203B41FA5}">
                      <a16:colId xmlns:a16="http://schemas.microsoft.com/office/drawing/2014/main" val="2350242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8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Debugging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See exactly what happened when a test failed.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952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Replay Test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can “replay” every click, type, navigation in a timeline.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948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Visual Evidence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screenshots + video of the test steps.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10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Collaboration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Share trace files with teammates to reproduce/debug.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933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F489-275B-60F3-0AB2-47BB0F4B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Trace – Run &amp; Config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90C4B-923A-F4E4-A5F3-7AD42BB7B49F}"/>
              </a:ext>
            </a:extLst>
          </p:cNvPr>
          <p:cNvSpPr txBox="1"/>
          <p:nvPr/>
        </p:nvSpPr>
        <p:spPr>
          <a:xfrm>
            <a:off x="216975" y="798164"/>
            <a:ext cx="858606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Run with CLI (Command Line)</a:t>
            </a:r>
          </a:p>
          <a:p>
            <a:r>
              <a:rPr lang="en-US" dirty="0"/>
              <a:t>Enable tracing only on failure:</a:t>
            </a:r>
          </a:p>
          <a:p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--trace on</a:t>
            </a:r>
          </a:p>
          <a:p>
            <a:endParaRPr lang="en-US" dirty="0"/>
          </a:p>
          <a:p>
            <a:r>
              <a:rPr lang="en-US" dirty="0"/>
              <a:t>Options:</a:t>
            </a:r>
          </a:p>
          <a:p>
            <a:r>
              <a:rPr lang="en-US" dirty="0"/>
              <a:t>off → No tracing (default)</a:t>
            </a:r>
          </a:p>
          <a:p>
            <a:r>
              <a:rPr lang="en-US" dirty="0"/>
              <a:t>on → Record trace for every test</a:t>
            </a:r>
          </a:p>
          <a:p>
            <a:r>
              <a:rPr lang="en-US" dirty="0"/>
              <a:t>retain-on-failure → Keep trace only if the test fails</a:t>
            </a:r>
          </a:p>
          <a:p>
            <a:r>
              <a:rPr lang="en-US" dirty="0"/>
              <a:t>on-first-retry → Record trace only on first retry</a:t>
            </a:r>
          </a:p>
          <a:p>
            <a:r>
              <a:rPr lang="en-US" b="1" dirty="0"/>
              <a:t>How to Use Trace</a:t>
            </a:r>
            <a:endParaRPr lang="en-US" dirty="0"/>
          </a:p>
          <a:p>
            <a:r>
              <a:rPr lang="en-US" dirty="0"/>
              <a:t>1. Run Tests with Trace</a:t>
            </a:r>
          </a:p>
          <a:p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--trace on</a:t>
            </a:r>
          </a:p>
          <a:p>
            <a:r>
              <a:rPr lang="en-US" dirty="0"/>
              <a:t>2. After Test Execution</a:t>
            </a:r>
          </a:p>
          <a:p>
            <a:r>
              <a:rPr lang="en-US" dirty="0"/>
              <a:t>	.zip file is created under test-results/ (e.g., trace.zip).</a:t>
            </a:r>
          </a:p>
          <a:p>
            <a:r>
              <a:rPr lang="en-US" dirty="0"/>
              <a:t>3. View Trace</a:t>
            </a:r>
          </a:p>
          <a:p>
            <a:r>
              <a:rPr lang="en-US" dirty="0"/>
              <a:t>Open the trace viewer:</a:t>
            </a:r>
          </a:p>
          <a:p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show-trace trace.zip</a:t>
            </a:r>
          </a:p>
          <a:p>
            <a:r>
              <a:rPr lang="en-US" dirty="0"/>
              <a:t>This opens a UI in your browser → timeline view, screenshots, console logs, network, and DOM snapshot for every action.</a:t>
            </a:r>
          </a:p>
        </p:txBody>
      </p:sp>
    </p:spTree>
    <p:extLst>
      <p:ext uri="{BB962C8B-B14F-4D97-AF65-F5344CB8AC3E}">
        <p14:creationId xmlns:p14="http://schemas.microsoft.com/office/powerpoint/2010/main" val="38111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87078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When to use:</a:t>
            </a:r>
          </a:p>
          <a:p>
            <a:pPr marL="0" indent="0">
              <a:buNone/>
            </a:pPr>
            <a:r>
              <a:rPr lang="en-US" dirty="0"/>
              <a:t>Debug failed test cases.</a:t>
            </a:r>
          </a:p>
          <a:p>
            <a:pPr marL="0" indent="0">
              <a:buNone/>
            </a:pPr>
            <a:r>
              <a:rPr lang="en-US" dirty="0"/>
              <a:t>Visual verification of UI elements.</a:t>
            </a:r>
          </a:p>
          <a:p>
            <a:pPr marL="0" indent="0">
              <a:buNone/>
            </a:pPr>
            <a:r>
              <a:rPr lang="en-US" dirty="0"/>
              <a:t>Save visual states at critical points in the test.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Types of Screenshots:</a:t>
            </a:r>
          </a:p>
          <a:p>
            <a:pPr marL="0" indent="0">
              <a:buNone/>
            </a:pPr>
            <a:r>
              <a:rPr lang="en-US" b="1" dirty="0"/>
              <a:t>Full Page Screenshot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page.screenshot</a:t>
            </a:r>
            <a:r>
              <a:rPr lang="en-US" dirty="0"/>
              <a:t>({ path: 'screenshots/fullpage.png', </a:t>
            </a:r>
            <a:r>
              <a:rPr lang="en-US" dirty="0" err="1"/>
              <a:t>fullPage</a:t>
            </a:r>
            <a:r>
              <a:rPr lang="en-US" dirty="0"/>
              <a:t>: true 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Element Screenshot</a:t>
            </a:r>
          </a:p>
          <a:p>
            <a:pPr marL="0" indent="0">
              <a:buNone/>
            </a:pPr>
            <a:r>
              <a:rPr lang="en-US" dirty="0"/>
              <a:t>	const element = await page.$('selector’);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element.screenshot</a:t>
            </a:r>
            <a:r>
              <a:rPr lang="en-US" dirty="0"/>
              <a:t>({ path: 'screenshots/element.png' 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Screenshot on Failure (with test hooks)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afterEach</a:t>
            </a:r>
            <a:r>
              <a:rPr lang="en-US" dirty="0"/>
              <a:t>(async ({ page }, </a:t>
            </a:r>
            <a:r>
              <a:rPr lang="en-US" dirty="0" err="1"/>
              <a:t>testInfo</a:t>
            </a:r>
            <a:r>
              <a:rPr lang="en-US" dirty="0"/>
              <a:t>) =&gt; {</a:t>
            </a:r>
          </a:p>
          <a:p>
            <a:pPr marL="0" indent="0">
              <a:buNone/>
            </a:pPr>
            <a:r>
              <a:rPr lang="en-US" dirty="0"/>
              <a:t> 	 if (</a:t>
            </a:r>
            <a:r>
              <a:rPr lang="en-US" dirty="0" err="1"/>
              <a:t>testInfo.status</a:t>
            </a:r>
            <a:r>
              <a:rPr lang="en-US" dirty="0"/>
              <a:t> !== </a:t>
            </a:r>
            <a:r>
              <a:rPr lang="en-US" dirty="0" err="1"/>
              <a:t>testInfo.expectedStatus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	 await </a:t>
            </a:r>
            <a:r>
              <a:rPr lang="en-US" dirty="0" err="1"/>
              <a:t>page.screenshot</a:t>
            </a:r>
            <a:r>
              <a:rPr lang="en-US" dirty="0"/>
              <a:t>({ path: `screenshots/failure-${</a:t>
            </a:r>
            <a:r>
              <a:rPr lang="en-US" dirty="0" err="1"/>
              <a:t>testInfo.title</a:t>
            </a:r>
            <a:r>
              <a:rPr lang="en-US" dirty="0"/>
              <a:t>}.</a:t>
            </a:r>
            <a:r>
              <a:rPr lang="en-US" dirty="0" err="1"/>
              <a:t>png</a:t>
            </a:r>
            <a:r>
              <a:rPr lang="en-US" dirty="0"/>
              <a:t>` });</a:t>
            </a:r>
          </a:p>
          <a:p>
            <a:pPr marL="0" indent="0">
              <a:buNone/>
            </a:pPr>
            <a:r>
              <a:rPr lang="en-US" dirty="0"/>
              <a:t> 	 }</a:t>
            </a:r>
          </a:p>
          <a:p>
            <a:pPr marL="0" indent="0">
              <a:buNone/>
            </a:pPr>
            <a:r>
              <a:rPr lang="en-US" dirty="0"/>
              <a:t>	});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Google Shape;82;p15">
            <a:extLst>
              <a:ext uri="{FF2B5EF4-FFF2-40B4-BE49-F238E27FC236}">
                <a16:creationId xmlns:a16="http://schemas.microsoft.com/office/drawing/2014/main" id="{3F420F5D-DEE4-0201-E48F-8D9204502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Screenshots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When to use:</a:t>
            </a:r>
          </a:p>
          <a:p>
            <a:pPr marL="457200" lvl="1" indent="0">
              <a:buNone/>
            </a:pPr>
            <a:r>
              <a:rPr lang="en-US" dirty="0"/>
              <a:t>Record test steps for debugging.</a:t>
            </a:r>
          </a:p>
          <a:p>
            <a:pPr marL="457200" lvl="1" indent="0">
              <a:buNone/>
            </a:pPr>
            <a:r>
              <a:rPr lang="en-US" dirty="0"/>
              <a:t>Share recordings of tests with QA or Devs.</a:t>
            </a:r>
          </a:p>
          <a:p>
            <a:pPr marL="457200" lvl="1" indent="0">
              <a:buNone/>
            </a:pPr>
            <a:r>
              <a:rPr lang="en-US" dirty="0"/>
              <a:t>Archive test runs in CI/CD pipelines.</a:t>
            </a:r>
          </a:p>
          <a:p>
            <a:pPr marL="0" indent="0">
              <a:buNone/>
            </a:pPr>
            <a:r>
              <a:rPr lang="en-US" b="1" dirty="0"/>
              <a:t>Configuration</a:t>
            </a:r>
          </a:p>
          <a:p>
            <a:pPr marL="0" indent="0">
              <a:buNone/>
            </a:pPr>
            <a:r>
              <a:rPr lang="en-US" dirty="0"/>
              <a:t>Enable in Playwright Config</a:t>
            </a:r>
          </a:p>
          <a:p>
            <a:pPr marL="457200" lvl="1" indent="0">
              <a:buNone/>
            </a:pPr>
            <a:r>
              <a:rPr lang="en-US" dirty="0"/>
              <a:t>export default {</a:t>
            </a:r>
          </a:p>
          <a:p>
            <a:pPr marL="457200" lvl="1" indent="0">
              <a:buNone/>
            </a:pPr>
            <a:r>
              <a:rPr lang="en-US" dirty="0"/>
              <a:t>  use: {</a:t>
            </a:r>
          </a:p>
          <a:p>
            <a:pPr marL="457200" lvl="1" indent="0">
              <a:buNone/>
            </a:pPr>
            <a:r>
              <a:rPr lang="en-US" dirty="0"/>
              <a:t>    video: 'on-first-retry', // options: 'on', 'off', 'retain-on-failure', 'on-first-retry'</a:t>
            </a:r>
          </a:p>
          <a:p>
            <a:pPr marL="457200" lvl="1" indent="0">
              <a:buNone/>
            </a:pPr>
            <a:r>
              <a:rPr lang="en-US" dirty="0"/>
              <a:t>  },</a:t>
            </a:r>
          </a:p>
          <a:p>
            <a:pPr marL="457200" lvl="1" indent="0">
              <a:buNone/>
            </a:pPr>
            <a:r>
              <a:rPr lang="en-US" dirty="0"/>
              <a:t>};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Accessing the Video After the Test</a:t>
            </a:r>
          </a:p>
          <a:p>
            <a:pPr marL="0" indent="0">
              <a:buNone/>
            </a:pPr>
            <a:r>
              <a:rPr lang="en-US" dirty="0"/>
              <a:t>// After test completion</a:t>
            </a:r>
          </a:p>
          <a:p>
            <a:pPr marL="0" indent="0">
              <a:buNone/>
            </a:pPr>
            <a:r>
              <a:rPr lang="en-US" dirty="0"/>
              <a:t>test('video test', async ({ page }, </a:t>
            </a:r>
            <a:r>
              <a:rPr lang="en-US" dirty="0" err="1"/>
              <a:t>testInfo</a:t>
            </a:r>
            <a:r>
              <a:rPr lang="en-US" dirty="0"/>
              <a:t>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// perform test steps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// Save video path after test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videoPath</a:t>
            </a:r>
            <a:r>
              <a:rPr lang="en-US" dirty="0"/>
              <a:t> = await </a:t>
            </a:r>
            <a:r>
              <a:rPr lang="en-US" dirty="0" err="1"/>
              <a:t>testInfo.attachments</a:t>
            </a:r>
            <a:r>
              <a:rPr lang="en-US" dirty="0"/>
              <a:t>[0]?.path;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43617B1E-CD21-30F2-1976-43B4017087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Video Recording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3" name="Google Shape;127;p22">
            <a:extLst>
              <a:ext uri="{FF2B5EF4-FFF2-40B4-BE49-F238E27FC236}">
                <a16:creationId xmlns:a16="http://schemas.microsoft.com/office/drawing/2014/main" id="{6D4B5C00-64AB-6395-A427-4A47F2224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Realistic Example: Screenshots + 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75834" y="792602"/>
            <a:ext cx="8458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import { test, expect } from '@playwright/test’;	// tests/example.spec.js</a:t>
            </a:r>
          </a:p>
          <a:p>
            <a:pPr marL="0" indent="0">
              <a:buNone/>
            </a:pPr>
            <a:r>
              <a:rPr lang="en-US" dirty="0"/>
              <a:t>test('screenshot and video demo', async ({ page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// Take a full-page screenshot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page.screenshot</a:t>
            </a:r>
            <a:r>
              <a:rPr lang="en-US" dirty="0"/>
              <a:t>({ path: 'screenshots/example-full.png', </a:t>
            </a:r>
            <a:r>
              <a:rPr lang="en-US" dirty="0" err="1"/>
              <a:t>fullPage</a:t>
            </a:r>
            <a:r>
              <a:rPr lang="en-US" dirty="0"/>
              <a:t>: true });</a:t>
            </a:r>
          </a:p>
          <a:p>
            <a:pPr marL="0" indent="0">
              <a:buNone/>
            </a:pPr>
            <a:r>
              <a:rPr lang="en-US" dirty="0"/>
              <a:t>const header = await page.$('h1’);	// Take screenshot of a specific element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header.screenshot</a:t>
            </a:r>
            <a:r>
              <a:rPr lang="en-US" dirty="0"/>
              <a:t>({ path: 'screenshots/header.png' });</a:t>
            </a:r>
          </a:p>
          <a:p>
            <a:pPr marL="0" indent="0">
              <a:buNone/>
            </a:pPr>
            <a:r>
              <a:rPr lang="en-US" dirty="0"/>
              <a:t>  // Assertion (may fail to trigger screenshot in </a:t>
            </a:r>
            <a:r>
              <a:rPr lang="en-US" dirty="0" err="1"/>
              <a:t>afterEach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expect(await </a:t>
            </a:r>
            <a:r>
              <a:rPr lang="en-US" dirty="0" err="1"/>
              <a:t>page.title</a:t>
            </a:r>
            <a:r>
              <a:rPr lang="en-US" dirty="0"/>
              <a:t>()).</a:t>
            </a:r>
            <a:r>
              <a:rPr lang="en-US" dirty="0" err="1"/>
              <a:t>toBe</a:t>
            </a:r>
            <a:r>
              <a:rPr lang="en-US" dirty="0"/>
              <a:t>('Non-existing title');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Tips &amp; Best Practices</a:t>
            </a:r>
          </a:p>
          <a:p>
            <a:pPr marL="0" indent="0">
              <a:buNone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screenshots in organized folders (/screenshots, /videos).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Clean up large video files if not needed post-debug.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'retain-on-failure' to save only when things go wrong.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Integrate with visual diff tools (e.g., Percy, Playwright Trace Viewer)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731</Words>
  <Application>Microsoft Office PowerPoint</Application>
  <PresentationFormat>On-screen Show (16:9)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Roboto</vt:lpstr>
      <vt:lpstr>Material</vt:lpstr>
      <vt:lpstr>Screenshots &amp; Videos</vt:lpstr>
      <vt:lpstr>Overview</vt:lpstr>
      <vt:lpstr>Enable Trace – Run &amp; Config</vt:lpstr>
      <vt:lpstr>Screenshots</vt:lpstr>
      <vt:lpstr>Video Recording</vt:lpstr>
      <vt:lpstr>Realistic Example: Screenshots + 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54</cp:revision>
  <dcterms:modified xsi:type="dcterms:W3CDTF">2025-08-26T13:24:32Z</dcterms:modified>
</cp:coreProperties>
</file>
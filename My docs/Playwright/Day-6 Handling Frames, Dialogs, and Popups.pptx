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8" r:id="rId3"/>
    <p:sldId id="265" r:id="rId4"/>
    <p:sldId id="266" r:id="rId5"/>
    <p:sldId id="268" r:id="rId6"/>
    <p:sldId id="267" r:id="rId7"/>
  </p:sldIdLst>
  <p:sldSz cx="9144000" cy="5143500" type="screen16x9"/>
  <p:notesSz cx="6858000" cy="9144000"/>
  <p:embeddedFontLst>
    <p:embeddedFont>
      <p:font typeface="Roboto" panose="02000000000000000000" pitchFamily="2" charset="0"/>
      <p:regular r:id="rId9"/>
      <p:bold r:id="rId10"/>
      <p:italic r:id="rId11"/>
      <p:boldItalic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85F4"/>
    <a:srgbClr val="4286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2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91993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91993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ecb4f0fa3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ecb4f0fa3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93347E27-9347-E14A-5277-C49C1D824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C9FA4F3A-D0D8-CC7F-2419-0A93C48FD7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333315D0-B8BE-2166-8906-17606BA955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58062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>
          <a:extLst>
            <a:ext uri="{FF2B5EF4-FFF2-40B4-BE49-F238E27FC236}">
              <a16:creationId xmlns:a16="http://schemas.microsoft.com/office/drawing/2014/main" id="{B2D6C3D2-56B1-F830-CC42-2EC707A8E7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2ecd7211dc6_0_38:notes">
            <a:extLst>
              <a:ext uri="{FF2B5EF4-FFF2-40B4-BE49-F238E27FC236}">
                <a16:creationId xmlns:a16="http://schemas.microsoft.com/office/drawing/2014/main" id="{54BDE184-7A7D-D45C-9CD6-80DDA8D346D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2ecd7211dc6_0_38:notes">
            <a:extLst>
              <a:ext uri="{FF2B5EF4-FFF2-40B4-BE49-F238E27FC236}">
                <a16:creationId xmlns:a16="http://schemas.microsoft.com/office/drawing/2014/main" id="{15128885-B5D4-3602-4221-F04E8C9946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009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App</a:t>
            </a:r>
            <a:r>
              <a:rPr lang="en-US" dirty="0"/>
              <a:t>lication programming Interface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C2CCDA0-EB04-0B6C-5463-6C1D3A8F42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0224" y="1819275"/>
            <a:ext cx="8903776" cy="933600"/>
          </a:xfrm>
        </p:spPr>
        <p:txBody>
          <a:bodyPr/>
          <a:lstStyle/>
          <a:p>
            <a:r>
              <a:rPr lang="en-US" dirty="0"/>
              <a:t>Handling Frames, Dialogs, and Popups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82400" y="4520775"/>
            <a:ext cx="1183600" cy="5552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Overview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5E1A72-ECE7-EAF5-67AF-A12343ABC290}"/>
              </a:ext>
            </a:extLst>
          </p:cNvPr>
          <p:cNvSpPr txBox="1"/>
          <p:nvPr/>
        </p:nvSpPr>
        <p:spPr>
          <a:xfrm>
            <a:off x="158700" y="701870"/>
            <a:ext cx="8826600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dirty="0"/>
              <a:t>Web apps often include complex behaviors like: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Frames</a:t>
            </a:r>
            <a:r>
              <a:rPr lang="en-US" dirty="0"/>
              <a:t> (</a:t>
            </a:r>
            <a:r>
              <a:rPr lang="en-US" dirty="0" err="1"/>
              <a:t>iFrames</a:t>
            </a:r>
            <a:r>
              <a:rPr lang="en-US" dirty="0"/>
              <a:t> or embedded documents)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Dialogs</a:t>
            </a:r>
            <a:r>
              <a:rPr lang="en-US" dirty="0"/>
              <a:t> (alerts, confirms, prompts)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Popups</a:t>
            </a:r>
            <a:r>
              <a:rPr lang="en-US" dirty="0"/>
              <a:t> (new browser tabs or windows)</a:t>
            </a:r>
          </a:p>
          <a:p>
            <a:pPr marL="0" indent="0">
              <a:buNone/>
            </a:pPr>
            <a:r>
              <a:rPr lang="en-US" dirty="0"/>
              <a:t>Playwright provides tools to interact with all of these efficiently and reliably.</a:t>
            </a:r>
          </a:p>
          <a:p>
            <a:endParaRPr lang="en-IN" b="1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  <a:p>
            <a:r>
              <a:rPr lang="en-US" b="1" dirty="0"/>
              <a:t>Handling Frames in Playwright</a:t>
            </a:r>
          </a:p>
          <a:p>
            <a:pPr marL="0" indent="0">
              <a:buNone/>
            </a:pPr>
            <a:endParaRPr lang="en-US" b="1" dirty="0"/>
          </a:p>
          <a:p>
            <a:pPr marL="0" indent="0">
              <a:buNone/>
            </a:pPr>
            <a:r>
              <a:rPr lang="en-US" b="1" dirty="0"/>
              <a:t>What is a Frame?</a:t>
            </a:r>
          </a:p>
          <a:p>
            <a:pPr marL="0" indent="0">
              <a:buNone/>
            </a:pPr>
            <a:r>
              <a:rPr lang="en-US" dirty="0"/>
              <a:t>A frame (or &lt;</a:t>
            </a:r>
            <a:r>
              <a:rPr lang="en-US" dirty="0" err="1"/>
              <a:t>iframe</a:t>
            </a:r>
            <a:r>
              <a:rPr lang="en-US" dirty="0"/>
              <a:t>&gt;) is an embedded browsing context within a page, like a mini browser inside a browser.</a:t>
            </a:r>
          </a:p>
          <a:p>
            <a:pPr marL="0" indent="0">
              <a:buNone/>
            </a:pPr>
            <a:r>
              <a:rPr lang="en-US" b="1" dirty="0"/>
              <a:t>Why Frames Matter:</a:t>
            </a:r>
          </a:p>
          <a:p>
            <a:pPr marL="0" indent="0">
              <a:buNone/>
            </a:pPr>
            <a:r>
              <a:rPr lang="en-US" dirty="0"/>
              <a:t>Elements inside an </a:t>
            </a:r>
            <a:r>
              <a:rPr lang="en-US" dirty="0" err="1"/>
              <a:t>iframe</a:t>
            </a:r>
            <a:r>
              <a:rPr lang="en-US" dirty="0"/>
              <a:t> are not accessible directly from the main page context.</a:t>
            </a:r>
          </a:p>
          <a:p>
            <a:pPr marL="0" indent="0">
              <a:buNone/>
            </a:pPr>
            <a:r>
              <a:rPr lang="en-US" dirty="0"/>
              <a:t>You need to switch context to the frame before interacting.</a:t>
            </a:r>
          </a:p>
          <a:p>
            <a:endParaRPr lang="en-IN" kern="100" dirty="0">
              <a:effectLst/>
              <a:latin typeface="Calibri" panose="020F0502020204030204" pitchFamily="34" charset="0"/>
              <a:ea typeface="Yu Mincho" panose="02020400000000000000" pitchFamily="18" charset="-128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7354D1-F7B1-4CD9-0967-BC5418FB99E3}"/>
              </a:ext>
            </a:extLst>
          </p:cNvPr>
          <p:cNvSpPr txBox="1"/>
          <p:nvPr/>
        </p:nvSpPr>
        <p:spPr>
          <a:xfrm>
            <a:off x="216976" y="643180"/>
            <a:ext cx="663327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b="1" dirty="0"/>
              <a:t>Get a Frame by Name or URL</a:t>
            </a:r>
          </a:p>
          <a:p>
            <a:pPr marL="0" indent="0">
              <a:buNone/>
            </a:pPr>
            <a:r>
              <a:rPr lang="en-US" dirty="0"/>
              <a:t>	const frame = </a:t>
            </a:r>
            <a:r>
              <a:rPr lang="en-US" dirty="0" err="1"/>
              <a:t>page.frame</a:t>
            </a:r>
            <a:r>
              <a:rPr lang="en-US" dirty="0"/>
              <a:t>({ name: '</a:t>
            </a:r>
            <a:r>
              <a:rPr lang="en-US" dirty="0" err="1"/>
              <a:t>myFrame</a:t>
            </a:r>
            <a:r>
              <a:rPr lang="en-US" dirty="0"/>
              <a:t>' }); </a:t>
            </a:r>
          </a:p>
          <a:p>
            <a:pPr marL="0" indent="0">
              <a:buNone/>
            </a:pPr>
            <a:r>
              <a:rPr lang="en-US" dirty="0"/>
              <a:t>	const frame = </a:t>
            </a:r>
            <a:r>
              <a:rPr lang="en-US" dirty="0" err="1"/>
              <a:t>page.frame</a:t>
            </a:r>
            <a:r>
              <a:rPr lang="en-US" dirty="0"/>
              <a:t>({ url: /checkout/ });</a:t>
            </a:r>
          </a:p>
          <a:p>
            <a:pPr marL="0" indent="0">
              <a:buNone/>
            </a:pPr>
            <a:r>
              <a:rPr lang="en-US" b="1" dirty="0"/>
              <a:t>Use the Frame Object</a:t>
            </a:r>
          </a:p>
          <a:p>
            <a:pPr marL="0" indent="0">
              <a:buNone/>
            </a:pPr>
            <a:r>
              <a:rPr lang="en-US" dirty="0"/>
              <a:t>Once you have the frame, you can interact with it like a page.</a:t>
            </a:r>
          </a:p>
          <a:p>
            <a:pPr marL="0" indent="0">
              <a:buNone/>
            </a:pPr>
            <a:r>
              <a:rPr lang="en-US" dirty="0"/>
              <a:t>	await </a:t>
            </a:r>
            <a:r>
              <a:rPr lang="en-US" dirty="0" err="1"/>
              <a:t>frame.fill</a:t>
            </a:r>
            <a:r>
              <a:rPr lang="en-US" dirty="0"/>
              <a:t>('#email', 'user@example.com’);</a:t>
            </a:r>
          </a:p>
          <a:p>
            <a:pPr marL="0" indent="0">
              <a:buNone/>
            </a:pPr>
            <a:r>
              <a:rPr lang="en-US" dirty="0"/>
              <a:t>	await </a:t>
            </a:r>
            <a:r>
              <a:rPr lang="en-US" dirty="0" err="1"/>
              <a:t>frame.click</a:t>
            </a:r>
            <a:r>
              <a:rPr lang="en-US" dirty="0"/>
              <a:t>('</a:t>
            </a:r>
            <a:r>
              <a:rPr lang="en-US" dirty="0" err="1"/>
              <a:t>button.submit</a:t>
            </a:r>
            <a:r>
              <a:rPr lang="en-US" dirty="0"/>
              <a:t>');</a:t>
            </a:r>
          </a:p>
          <a:p>
            <a:pPr marL="0" indent="0">
              <a:buNone/>
            </a:pPr>
            <a:r>
              <a:rPr lang="en-US" b="1" dirty="0"/>
              <a:t>Frame Locator (Recommended)</a:t>
            </a:r>
          </a:p>
          <a:p>
            <a:pPr marL="0" indent="0">
              <a:buNone/>
            </a:pPr>
            <a:r>
              <a:rPr lang="en-US" dirty="0"/>
              <a:t>	await </a:t>
            </a:r>
            <a:r>
              <a:rPr lang="en-US" dirty="0" err="1"/>
              <a:t>page.frameLocator</a:t>
            </a:r>
            <a:r>
              <a:rPr lang="en-US" dirty="0"/>
              <a:t>('#</a:t>
            </a:r>
            <a:r>
              <a:rPr lang="en-US" dirty="0" err="1"/>
              <a:t>myFrame</a:t>
            </a:r>
            <a:r>
              <a:rPr lang="en-US" dirty="0"/>
              <a:t>').locator('text=Submit').click();</a:t>
            </a:r>
          </a:p>
          <a:p>
            <a:pPr marL="0" indent="0">
              <a:buNone/>
            </a:pPr>
            <a:r>
              <a:rPr lang="en-US" dirty="0" err="1"/>
              <a:t>frameLocator</a:t>
            </a:r>
            <a:r>
              <a:rPr lang="en-US" dirty="0"/>
              <a:t> is more modern and resilient — no need to manage frame switching.</a:t>
            </a:r>
          </a:p>
          <a:p>
            <a:pPr lvl="1"/>
            <a:r>
              <a:rPr lang="en-US" b="1" dirty="0"/>
              <a:t>Handling Dialogs in Playwright</a:t>
            </a:r>
          </a:p>
          <a:p>
            <a:pPr marL="0" indent="0">
              <a:buNone/>
            </a:pPr>
            <a:r>
              <a:rPr lang="en-US" b="1" dirty="0"/>
              <a:t>What is a Dialog?</a:t>
            </a:r>
          </a:p>
          <a:p>
            <a:pPr marL="0" indent="0">
              <a:buNone/>
            </a:pPr>
            <a:r>
              <a:rPr lang="en-US" dirty="0"/>
              <a:t>Dialogs are browser-native popups: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alert()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confirm()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prompt()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beforeunload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Playwright listens to these using the dialog event.</a:t>
            </a:r>
          </a:p>
        </p:txBody>
      </p:sp>
      <p:sp>
        <p:nvSpPr>
          <p:cNvPr id="7" name="Google Shape;82;p15">
            <a:extLst>
              <a:ext uri="{FF2B5EF4-FFF2-40B4-BE49-F238E27FC236}">
                <a16:creationId xmlns:a16="http://schemas.microsoft.com/office/drawing/2014/main" id="{3F420F5D-DEE4-0201-E48F-8D92045024E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2800" dirty="0"/>
              <a:t>How to Work with Frames</a:t>
            </a:r>
            <a:endParaRPr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A36D3BEE-1011-F9E0-428A-46C7B9FFF7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5D48C-FC98-49A9-ADEB-B15A54DDD646}"/>
              </a:ext>
            </a:extLst>
          </p:cNvPr>
          <p:cNvSpPr txBox="1">
            <a:spLocks/>
          </p:cNvSpPr>
          <p:nvPr/>
        </p:nvSpPr>
        <p:spPr>
          <a:xfrm>
            <a:off x="283931" y="674177"/>
            <a:ext cx="8576137" cy="4641742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r>
              <a:rPr lang="en-US" b="1" dirty="0"/>
              <a:t>Example: Accept an Alert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page.on</a:t>
            </a:r>
            <a:r>
              <a:rPr lang="en-US" dirty="0"/>
              <a:t>('dialog', async (dialog) =&gt; {</a:t>
            </a:r>
          </a:p>
          <a:p>
            <a:pPr marL="0" indent="0">
              <a:buNone/>
            </a:pPr>
            <a:r>
              <a:rPr lang="en-US" dirty="0"/>
              <a:t>  console.log(</a:t>
            </a:r>
            <a:r>
              <a:rPr lang="en-US" dirty="0" err="1"/>
              <a:t>dialog.message</a:t>
            </a:r>
            <a:r>
              <a:rPr lang="en-US" dirty="0"/>
              <a:t>());  // Get dialog text</a:t>
            </a:r>
          </a:p>
          <a:p>
            <a:pPr marL="0" indent="0">
              <a:buNone/>
            </a:pPr>
            <a:r>
              <a:rPr lang="en-US" dirty="0"/>
              <a:t>  await </a:t>
            </a:r>
            <a:r>
              <a:rPr lang="en-US" dirty="0" err="1"/>
              <a:t>dialog.accept</a:t>
            </a:r>
            <a:r>
              <a:rPr lang="en-US" dirty="0"/>
              <a:t>();          // Accept the dialog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await </a:t>
            </a:r>
            <a:r>
              <a:rPr lang="en-US" dirty="0" err="1"/>
              <a:t>page.click</a:t>
            </a:r>
            <a:r>
              <a:rPr lang="en-US" dirty="0"/>
              <a:t>('#trigger-alert’);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Example: Dismiss or Handle Prompt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page.on</a:t>
            </a:r>
            <a:r>
              <a:rPr lang="en-US" dirty="0"/>
              <a:t>('dialog', async (dialog) =&gt; {</a:t>
            </a:r>
          </a:p>
          <a:p>
            <a:pPr marL="0" indent="0">
              <a:buNone/>
            </a:pPr>
            <a:r>
              <a:rPr lang="en-US" dirty="0"/>
              <a:t>  if (</a:t>
            </a:r>
            <a:r>
              <a:rPr lang="en-US" dirty="0" err="1"/>
              <a:t>dialog.type</a:t>
            </a:r>
            <a:r>
              <a:rPr lang="en-US" dirty="0"/>
              <a:t>() === 'prompt') {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dialog.accept</a:t>
            </a:r>
            <a:r>
              <a:rPr lang="en-US" dirty="0"/>
              <a:t>('Playwright User');</a:t>
            </a:r>
          </a:p>
          <a:p>
            <a:pPr marL="0" indent="0">
              <a:buNone/>
            </a:pPr>
            <a:r>
              <a:rPr lang="en-US" dirty="0"/>
              <a:t>  } else {</a:t>
            </a:r>
          </a:p>
          <a:p>
            <a:pPr marL="0" indent="0">
              <a:buNone/>
            </a:pPr>
            <a:r>
              <a:rPr lang="en-US" dirty="0"/>
              <a:t>    await </a:t>
            </a:r>
            <a:r>
              <a:rPr lang="en-US" dirty="0" err="1"/>
              <a:t>dialog.dismiss</a:t>
            </a:r>
            <a:r>
              <a:rPr lang="en-US" dirty="0"/>
              <a:t>();</a:t>
            </a:r>
          </a:p>
          <a:p>
            <a:pPr marL="0" indent="0">
              <a:buNone/>
            </a:pPr>
            <a:r>
              <a:rPr lang="en-US" dirty="0"/>
              <a:t>  }</a:t>
            </a:r>
          </a:p>
          <a:p>
            <a:pPr marL="0" indent="0">
              <a:buNone/>
            </a:pPr>
            <a:r>
              <a:rPr lang="en-US" dirty="0"/>
              <a:t>});</a:t>
            </a:r>
          </a:p>
        </p:txBody>
      </p:sp>
    </p:spTree>
    <p:extLst>
      <p:ext uri="{BB962C8B-B14F-4D97-AF65-F5344CB8AC3E}">
        <p14:creationId xmlns:p14="http://schemas.microsoft.com/office/powerpoint/2010/main" val="21846145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257BE6-B99D-DA5D-91B6-7AE0D8CE5F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Concepts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DF0DB87-44FF-8FF4-CD2C-24B94DD5BF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089086"/>
              </p:ext>
            </p:extLst>
          </p:nvPr>
        </p:nvGraphicFramePr>
        <p:xfrm>
          <a:off x="929898" y="1210310"/>
          <a:ext cx="7284204" cy="236220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642102">
                  <a:extLst>
                    <a:ext uri="{9D8B030D-6E8A-4147-A177-3AD203B41FA5}">
                      <a16:colId xmlns:a16="http://schemas.microsoft.com/office/drawing/2014/main" val="3167630454"/>
                    </a:ext>
                  </a:extLst>
                </a:gridCol>
                <a:gridCol w="3642102">
                  <a:extLst>
                    <a:ext uri="{9D8B030D-6E8A-4147-A177-3AD203B41FA5}">
                      <a16:colId xmlns:a16="http://schemas.microsoft.com/office/drawing/2014/main" val="33030272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Explanation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2915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context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 browser context manages multiple pages (tabs/windows).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63944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page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Represents a single tab or window.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7145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context.waitForEvent('page')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Waits for a new page (tab/window) to open.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4848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/>
                        <a:t>Child Page Object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Once opened, the new tab is treated as another page object, and you can interact with it just like the first one.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8553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217353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>
          <a:extLst>
            <a:ext uri="{FF2B5EF4-FFF2-40B4-BE49-F238E27FC236}">
              <a16:creationId xmlns:a16="http://schemas.microsoft.com/office/drawing/2014/main" id="{01D3D67A-46BD-9129-CA61-BF78DFBE82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05247662-0C18-413C-BA62-BAC5B125DA5D}"/>
              </a:ext>
            </a:extLst>
          </p:cNvPr>
          <p:cNvSpPr txBox="1">
            <a:spLocks/>
          </p:cNvSpPr>
          <p:nvPr/>
        </p:nvSpPr>
        <p:spPr>
          <a:xfrm>
            <a:off x="309966" y="674176"/>
            <a:ext cx="8349712" cy="4742481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indent="0">
              <a:buNone/>
            </a:pPr>
            <a:endParaRPr lang="en-US" b="1" dirty="0"/>
          </a:p>
        </p:txBody>
      </p:sp>
      <p:sp>
        <p:nvSpPr>
          <p:cNvPr id="3" name="Google Shape;127;p22">
            <a:extLst>
              <a:ext uri="{FF2B5EF4-FFF2-40B4-BE49-F238E27FC236}">
                <a16:creationId xmlns:a16="http://schemas.microsoft.com/office/drawing/2014/main" id="{6D4B5C00-64AB-6395-A427-4A47F222412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1"/>
            <a:r>
              <a:rPr lang="en-US" dirty="0"/>
              <a:t>Summary of Core Concepts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4C26500-8CD9-419D-81FE-1808661FAAC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1194210"/>
              </p:ext>
            </p:extLst>
          </p:nvPr>
        </p:nvGraphicFramePr>
        <p:xfrm>
          <a:off x="665432" y="712470"/>
          <a:ext cx="7638780" cy="185928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546260">
                  <a:extLst>
                    <a:ext uri="{9D8B030D-6E8A-4147-A177-3AD203B41FA5}">
                      <a16:colId xmlns:a16="http://schemas.microsoft.com/office/drawing/2014/main" val="1771902643"/>
                    </a:ext>
                  </a:extLst>
                </a:gridCol>
                <a:gridCol w="2546260">
                  <a:extLst>
                    <a:ext uri="{9D8B030D-6E8A-4147-A177-3AD203B41FA5}">
                      <a16:colId xmlns:a16="http://schemas.microsoft.com/office/drawing/2014/main" val="108141308"/>
                    </a:ext>
                  </a:extLst>
                </a:gridCol>
                <a:gridCol w="2546260">
                  <a:extLst>
                    <a:ext uri="{9D8B030D-6E8A-4147-A177-3AD203B41FA5}">
                      <a16:colId xmlns:a16="http://schemas.microsoft.com/office/drawing/2014/main" val="3292486166"/>
                    </a:ext>
                  </a:extLst>
                </a:gridCol>
              </a:tblGrid>
              <a:tr h="265578">
                <a:tc>
                  <a:txBody>
                    <a:bodyPr/>
                    <a:lstStyle/>
                    <a:p>
                      <a:r>
                        <a:rPr lang="en-US" dirty="0"/>
                        <a:t>Feature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Concept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Method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05335251"/>
                  </a:ext>
                </a:extLst>
              </a:tr>
              <a:tr h="451482">
                <a:tc>
                  <a:txBody>
                    <a:bodyPr/>
                    <a:lstStyle/>
                    <a:p>
                      <a:r>
                        <a:rPr lang="en-US" b="1"/>
                        <a:t>Frame</a:t>
                      </a:r>
                      <a:endParaRPr lang="en-US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An embedded browser inside a page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frame(), frameLocator()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74717691"/>
                  </a:ext>
                </a:extLst>
              </a:tr>
              <a:tr h="451482">
                <a:tc>
                  <a:txBody>
                    <a:bodyPr/>
                    <a:lstStyle/>
                    <a:p>
                      <a:r>
                        <a:rPr lang="en-US" b="1" dirty="0"/>
                        <a:t>Dialog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Native alert/confirm/prompt boxes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fr-FR"/>
                        <a:t>page.on('dialog'), dialog.accept()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4064846"/>
                  </a:ext>
                </a:extLst>
              </a:tr>
              <a:tr h="451482">
                <a:tc>
                  <a:txBody>
                    <a:bodyPr/>
                    <a:lstStyle/>
                    <a:p>
                      <a:r>
                        <a:rPr lang="en-US" b="1" dirty="0"/>
                        <a:t>Popup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A new tab or window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page.context</a:t>
                      </a:r>
                      <a:r>
                        <a:rPr lang="en-US" dirty="0"/>
                        <a:t>().</a:t>
                      </a:r>
                      <a:r>
                        <a:rPr lang="en-US" dirty="0" err="1"/>
                        <a:t>waitForEvent</a:t>
                      </a:r>
                      <a:r>
                        <a:rPr lang="en-US" dirty="0"/>
                        <a:t>('page')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928712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E7FEE931-E0B6-EA2B-4C2A-20ECB0357241}"/>
              </a:ext>
            </a:extLst>
          </p:cNvPr>
          <p:cNvSpPr txBox="1"/>
          <p:nvPr/>
        </p:nvSpPr>
        <p:spPr>
          <a:xfrm>
            <a:off x="484322" y="2737639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Best Practices</a:t>
            </a:r>
          </a:p>
        </p:txBody>
      </p:sp>
      <p:graphicFrame>
        <p:nvGraphicFramePr>
          <p:cNvPr id="8" name="Table 5">
            <a:extLst>
              <a:ext uri="{FF2B5EF4-FFF2-40B4-BE49-F238E27FC236}">
                <a16:creationId xmlns:a16="http://schemas.microsoft.com/office/drawing/2014/main" id="{F8CB1810-F8E2-4A43-8E5E-D0F08A25163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5050299"/>
              </p:ext>
            </p:extLst>
          </p:nvPr>
        </p:nvGraphicFramePr>
        <p:xfrm>
          <a:off x="850414" y="3211305"/>
          <a:ext cx="7933250" cy="164592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3966625">
                  <a:extLst>
                    <a:ext uri="{9D8B030D-6E8A-4147-A177-3AD203B41FA5}">
                      <a16:colId xmlns:a16="http://schemas.microsoft.com/office/drawing/2014/main" val="886482038"/>
                    </a:ext>
                  </a:extLst>
                </a:gridCol>
                <a:gridCol w="3966625">
                  <a:extLst>
                    <a:ext uri="{9D8B030D-6E8A-4147-A177-3AD203B41FA5}">
                      <a16:colId xmlns:a16="http://schemas.microsoft.com/office/drawing/2014/main" val="3198984874"/>
                    </a:ext>
                  </a:extLst>
                </a:gridCol>
              </a:tblGrid>
              <a:tr h="296811">
                <a:tc>
                  <a:txBody>
                    <a:bodyPr/>
                    <a:lstStyle/>
                    <a:p>
                      <a:r>
                        <a:rPr lang="en-US" dirty="0"/>
                        <a:t>Do 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Don’t 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76153678"/>
                  </a:ext>
                </a:extLst>
              </a:tr>
              <a:tr h="512304">
                <a:tc>
                  <a:txBody>
                    <a:bodyPr/>
                    <a:lstStyle/>
                    <a:p>
                      <a:r>
                        <a:rPr lang="en-US"/>
                        <a:t>Use frameLocator() for iframe interaction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Don’t try to access iframe elements directly from page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0350705"/>
                  </a:ext>
                </a:extLst>
              </a:tr>
              <a:tr h="296811">
                <a:tc>
                  <a:txBody>
                    <a:bodyPr/>
                    <a:lstStyle/>
                    <a:p>
                      <a:r>
                        <a:rPr lang="en-US"/>
                        <a:t>Use page.on('dialog') before triggering dialog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Don’t wait until after the dialog appears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1898269"/>
                  </a:ext>
                </a:extLst>
              </a:tr>
              <a:tr h="512304">
                <a:tc>
                  <a:txBody>
                    <a:bodyPr/>
                    <a:lstStyle/>
                    <a:p>
                      <a:r>
                        <a:rPr lang="en-US"/>
                        <a:t>Use Promise.all() to capture popup + click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Don’t use just </a:t>
                      </a:r>
                      <a:r>
                        <a:rPr lang="en-US" dirty="0" err="1"/>
                        <a:t>page.click</a:t>
                      </a:r>
                      <a:r>
                        <a:rPr lang="en-US" dirty="0"/>
                        <a:t>() and hope to catch the popup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00840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45766"/>
      </p:ext>
    </p:extLst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1104</TotalTime>
  <Words>546</Words>
  <Application>Microsoft Office PowerPoint</Application>
  <PresentationFormat>On-screen Show (16:9)</PresentationFormat>
  <Paragraphs>86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Roboto</vt:lpstr>
      <vt:lpstr>Calibri</vt:lpstr>
      <vt:lpstr>Arial</vt:lpstr>
      <vt:lpstr>Material</vt:lpstr>
      <vt:lpstr>Handling Frames, Dialogs, and Popups</vt:lpstr>
      <vt:lpstr>Overview</vt:lpstr>
      <vt:lpstr>How to Work with Frames</vt:lpstr>
      <vt:lpstr>PowerPoint Presentation</vt:lpstr>
      <vt:lpstr>Key Concepts</vt:lpstr>
      <vt:lpstr>Summary of Core Concepts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USER</dc:creator>
  <cp:lastModifiedBy>admin</cp:lastModifiedBy>
  <cp:revision>47</cp:revision>
  <dcterms:modified xsi:type="dcterms:W3CDTF">2025-08-25T13:26:09Z</dcterms:modified>
</cp:coreProperties>
</file>
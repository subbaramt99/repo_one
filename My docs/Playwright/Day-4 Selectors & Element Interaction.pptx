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8" r:id="rId3"/>
    <p:sldId id="265" r:id="rId4"/>
    <p:sldId id="266" r:id="rId5"/>
    <p:sldId id="267" r:id="rId6"/>
    <p:sldId id="268" r:id="rId7"/>
  </p:sldIdLst>
  <p:sldSz cx="9144000" cy="5143500" type="screen16x9"/>
  <p:notesSz cx="6858000" cy="9144000"/>
  <p:embeddedFontLst>
    <p:embeddedFont>
      <p:font typeface="Roboto" panose="02000000000000000000" pitchFamily="2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85F4"/>
    <a:srgbClr val="4286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2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ecb4f0fa3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ecb4f0fa3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93347E27-9347-E14A-5277-C49C1D824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C9FA4F3A-D0D8-CC7F-2419-0A93C48FD7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333315D0-B8BE-2166-8906-17606BA955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58062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B2D6C3D2-56B1-F830-CC42-2EC707A8E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54BDE184-7A7D-D45C-9CD6-80DDA8D346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15128885-B5D4-3602-4221-F04E8C9946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00093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FFC5DF81-988D-05D3-89FE-48F1262A2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6CD3342D-504F-B544-E3F3-4F259B1CB5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A3EF0777-40E6-1011-62ED-9B2F330E4F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5778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App</a:t>
            </a:r>
            <a:r>
              <a:rPr lang="en-US" dirty="0"/>
              <a:t>lication programming Interface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C2CCDA0-EB04-0B6C-5463-6C1D3A8F4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224" y="1819275"/>
            <a:ext cx="8903776" cy="933600"/>
          </a:xfrm>
        </p:spPr>
        <p:txBody>
          <a:bodyPr/>
          <a:lstStyle/>
          <a:p>
            <a:r>
              <a:rPr lang="en-US" dirty="0"/>
              <a:t>Selectors &amp; Element Interaction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2400" y="4520775"/>
            <a:ext cx="1183600" cy="55527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800" dirty="0"/>
              <a:t>What are Selectors?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5E1A72-ECE7-EAF5-67AF-A12343ABC290}"/>
              </a:ext>
            </a:extLst>
          </p:cNvPr>
          <p:cNvSpPr txBox="1"/>
          <p:nvPr/>
        </p:nvSpPr>
        <p:spPr>
          <a:xfrm>
            <a:off x="158700" y="701870"/>
            <a:ext cx="88266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Selectors</a:t>
            </a:r>
            <a:r>
              <a:rPr lang="en-US" dirty="0"/>
              <a:t> are strings or functions that help identify </a:t>
            </a:r>
            <a:r>
              <a:rPr lang="en-US" b="1" dirty="0"/>
              <a:t>HTML elements</a:t>
            </a:r>
            <a:r>
              <a:rPr lang="en-US" dirty="0"/>
              <a:t> on a page.</a:t>
            </a:r>
          </a:p>
          <a:p>
            <a:r>
              <a:rPr lang="en-US" dirty="0"/>
              <a:t>In Playwright, you use selectors to target specific elements before performing actions on them.</a:t>
            </a:r>
          </a:p>
          <a:p>
            <a:pPr marL="0" indent="0">
              <a:buNone/>
            </a:pPr>
            <a:r>
              <a:rPr lang="en-US" b="1" dirty="0"/>
              <a:t> Purpose: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Locate elements in the DOM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Ensure stable and reliable tests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 interaction with elements (click, fill, hover, etc.)</a:t>
            </a:r>
          </a:p>
          <a:p>
            <a:endParaRPr lang="en-IN" kern="100" dirty="0">
              <a:effectLst/>
              <a:latin typeface="Calibri" panose="020F0502020204030204" pitchFamily="34" charset="0"/>
              <a:ea typeface="Yu Mincho" panose="02020400000000000000" pitchFamily="18" charset="-128"/>
              <a:cs typeface="Calibri" panose="020F0502020204030204" pitchFamily="34" charset="0"/>
            </a:endParaRPr>
          </a:p>
          <a:p>
            <a:r>
              <a:rPr lang="en-US" b="1" dirty="0"/>
              <a:t>Different between getInputValue() and getTextContent:</a:t>
            </a:r>
          </a:p>
          <a:p>
            <a:endParaRPr lang="en-US" b="1" dirty="0"/>
          </a:p>
          <a:p>
            <a:endParaRPr lang="en-IN" kern="100" dirty="0">
              <a:effectLst/>
              <a:latin typeface="Calibri" panose="020F0502020204030204" pitchFamily="34" charset="0"/>
              <a:ea typeface="Yu Mincho" panose="02020400000000000000" pitchFamily="18" charset="-128"/>
              <a:cs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1F9F258-CED1-39AF-18A7-454C302AA4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154255"/>
              </p:ext>
            </p:extLst>
          </p:nvPr>
        </p:nvGraphicFramePr>
        <p:xfrm>
          <a:off x="860156" y="2571750"/>
          <a:ext cx="7276456" cy="1767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19114">
                  <a:extLst>
                    <a:ext uri="{9D8B030D-6E8A-4147-A177-3AD203B41FA5}">
                      <a16:colId xmlns:a16="http://schemas.microsoft.com/office/drawing/2014/main" val="241958506"/>
                    </a:ext>
                  </a:extLst>
                </a:gridCol>
                <a:gridCol w="1819114">
                  <a:extLst>
                    <a:ext uri="{9D8B030D-6E8A-4147-A177-3AD203B41FA5}">
                      <a16:colId xmlns:a16="http://schemas.microsoft.com/office/drawing/2014/main" val="1117780372"/>
                    </a:ext>
                  </a:extLst>
                </a:gridCol>
                <a:gridCol w="1819114">
                  <a:extLst>
                    <a:ext uri="{9D8B030D-6E8A-4147-A177-3AD203B41FA5}">
                      <a16:colId xmlns:a16="http://schemas.microsoft.com/office/drawing/2014/main" val="1070503144"/>
                    </a:ext>
                  </a:extLst>
                </a:gridCol>
                <a:gridCol w="1819114">
                  <a:extLst>
                    <a:ext uri="{9D8B030D-6E8A-4147-A177-3AD203B41FA5}">
                      <a16:colId xmlns:a16="http://schemas.microsoft.com/office/drawing/2014/main" val="30825808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Works On Elements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What It Returns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Example Use Case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3111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inputValue()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&lt;input&gt;, &lt;textarea&gt;, &lt;select&gt;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The </a:t>
                      </a:r>
                      <a:r>
                        <a:rPr lang="en-US" b="1"/>
                        <a:t>value</a:t>
                      </a:r>
                      <a:r>
                        <a:rPr lang="en-US"/>
                        <a:t> entered in the field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Getting text typed in a login input box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597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textContent()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&lt;div&gt;, &lt;span&gt;, &lt;p&gt;, &lt;h1&gt; (non-form elements)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The </a:t>
                      </a:r>
                      <a:r>
                        <a:rPr lang="en-US" b="1"/>
                        <a:t>inner text</a:t>
                      </a:r>
                      <a:r>
                        <a:rPr lang="en-US"/>
                        <a:t> of the element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Reading a heading, paragraph, or label text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041169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7354D1-F7B1-4CD9-0967-BC5418FB99E3}"/>
              </a:ext>
            </a:extLst>
          </p:cNvPr>
          <p:cNvSpPr txBox="1"/>
          <p:nvPr/>
        </p:nvSpPr>
        <p:spPr>
          <a:xfrm>
            <a:off x="216976" y="643180"/>
            <a:ext cx="6633275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CSS Selector</a:t>
            </a:r>
          </a:p>
          <a:p>
            <a:pPr marL="0" indent="0">
              <a:buNone/>
            </a:pPr>
            <a:r>
              <a:rPr lang="en-US" dirty="0"/>
              <a:t>Finds elements using standard CSS syntax.</a:t>
            </a:r>
          </a:p>
          <a:p>
            <a:pPr lvl="1"/>
            <a:r>
              <a:rPr lang="en-US" b="1" dirty="0"/>
              <a:t>	</a:t>
            </a:r>
            <a:r>
              <a:rPr lang="en-US" dirty="0"/>
              <a:t>await </a:t>
            </a:r>
            <a:r>
              <a:rPr lang="en-US" dirty="0" err="1"/>
              <a:t>page.click</a:t>
            </a:r>
            <a:r>
              <a:rPr lang="en-US" dirty="0"/>
              <a:t>('</a:t>
            </a:r>
            <a:r>
              <a:rPr lang="en-US" dirty="0" err="1"/>
              <a:t>button#login</a:t>
            </a:r>
            <a:r>
              <a:rPr lang="en-US" dirty="0"/>
              <a:t>');        </a:t>
            </a:r>
          </a:p>
          <a:p>
            <a:pPr lvl="1"/>
            <a:r>
              <a:rPr lang="en-US" dirty="0"/>
              <a:t>	await </a:t>
            </a:r>
            <a:r>
              <a:rPr lang="en-US" dirty="0" err="1"/>
              <a:t>page.fill</a:t>
            </a:r>
            <a:r>
              <a:rPr lang="en-US" dirty="0"/>
              <a:t>('input[name="email"]', 'test@example.com');</a:t>
            </a:r>
          </a:p>
          <a:p>
            <a:pPr marL="0" indent="0">
              <a:buNone/>
            </a:pPr>
            <a:r>
              <a:rPr lang="en-US" b="1" dirty="0"/>
              <a:t>Text Selector</a:t>
            </a:r>
          </a:p>
          <a:p>
            <a:pPr marL="0" indent="0">
              <a:buNone/>
            </a:pPr>
            <a:r>
              <a:rPr lang="en-US" dirty="0"/>
              <a:t>Matches elements with visible text.</a:t>
            </a:r>
          </a:p>
          <a:p>
            <a:pPr lvl="1"/>
            <a:r>
              <a:rPr lang="en-US" b="1" dirty="0"/>
              <a:t>	</a:t>
            </a:r>
            <a:r>
              <a:rPr lang="en-US" dirty="0"/>
              <a:t>await </a:t>
            </a:r>
            <a:r>
              <a:rPr lang="en-US" dirty="0" err="1"/>
              <a:t>page.click</a:t>
            </a:r>
            <a:r>
              <a:rPr lang="en-US" dirty="0"/>
              <a:t>('text="Submit"');       </a:t>
            </a:r>
          </a:p>
          <a:p>
            <a:pPr marL="0" indent="0">
              <a:buNone/>
            </a:pPr>
            <a:r>
              <a:rPr lang="en-US" b="1" dirty="0"/>
              <a:t>Role Selector</a:t>
            </a:r>
          </a:p>
          <a:p>
            <a:pPr marL="0" indent="0">
              <a:buNone/>
            </a:pPr>
            <a:r>
              <a:rPr lang="en-US" dirty="0"/>
              <a:t>Selects elements by their ARIA role, useful for accessibility.</a:t>
            </a:r>
          </a:p>
          <a:p>
            <a:pPr lvl="1"/>
            <a:r>
              <a:rPr lang="en-US" b="1" dirty="0"/>
              <a:t>	</a:t>
            </a:r>
            <a:r>
              <a:rPr lang="en-US" dirty="0"/>
              <a:t>await </a:t>
            </a:r>
            <a:r>
              <a:rPr lang="en-US" dirty="0" err="1"/>
              <a:t>page.getByRole</a:t>
            </a:r>
            <a:r>
              <a:rPr lang="en-US" dirty="0"/>
              <a:t>('button', { name: 'Submit' }).click();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Placeholder Selector</a:t>
            </a:r>
          </a:p>
          <a:p>
            <a:pPr marL="0" indent="0">
              <a:buNone/>
            </a:pPr>
            <a:r>
              <a:rPr lang="en-US" dirty="0"/>
              <a:t>Targets input fields using their placeholder text.</a:t>
            </a:r>
          </a:p>
          <a:p>
            <a:pPr lvl="1"/>
            <a:r>
              <a:rPr lang="en-US" dirty="0"/>
              <a:t>	await </a:t>
            </a:r>
            <a:r>
              <a:rPr lang="en-US" dirty="0" err="1"/>
              <a:t>page.getByPlaceholder</a:t>
            </a:r>
            <a:r>
              <a:rPr lang="en-US" dirty="0"/>
              <a:t>('Enter your email').fill('user@example.com');</a:t>
            </a:r>
          </a:p>
          <a:p>
            <a:pPr marL="0" indent="0">
              <a:buNone/>
            </a:pPr>
            <a:r>
              <a:rPr lang="en-US" b="1" dirty="0"/>
              <a:t>Test ID Selector</a:t>
            </a:r>
          </a:p>
          <a:p>
            <a:pPr marL="0" indent="0">
              <a:buNone/>
            </a:pPr>
            <a:r>
              <a:rPr lang="en-US" dirty="0"/>
              <a:t>Targets elements using a data-</a:t>
            </a:r>
            <a:r>
              <a:rPr lang="en-US" dirty="0" err="1"/>
              <a:t>testid</a:t>
            </a:r>
            <a:r>
              <a:rPr lang="en-US" dirty="0"/>
              <a:t> attribute (very stable).</a:t>
            </a:r>
          </a:p>
          <a:p>
            <a:pPr lvl="1"/>
            <a:r>
              <a:rPr lang="en-US" dirty="0"/>
              <a:t>	await </a:t>
            </a:r>
            <a:r>
              <a:rPr lang="en-US" dirty="0" err="1"/>
              <a:t>page.getByTestId</a:t>
            </a:r>
            <a:r>
              <a:rPr lang="en-US" dirty="0"/>
              <a:t>('login-button').click();</a:t>
            </a:r>
          </a:p>
          <a:p>
            <a:pPr marL="0" indent="0">
              <a:buNone/>
            </a:pPr>
            <a:r>
              <a:rPr lang="en-US" b="1" dirty="0"/>
              <a:t>XPath Selector</a:t>
            </a:r>
          </a:p>
          <a:p>
            <a:pPr marL="0" indent="0">
              <a:buNone/>
            </a:pPr>
            <a:r>
              <a:rPr lang="en-US" dirty="0"/>
              <a:t>Uses XML path syntax (less recommended, more brittle).</a:t>
            </a:r>
          </a:p>
          <a:p>
            <a:pPr lvl="1"/>
            <a:r>
              <a:rPr lang="en-US" dirty="0"/>
              <a:t>	await </a:t>
            </a:r>
            <a:r>
              <a:rPr lang="en-US" dirty="0" err="1"/>
              <a:t>page.click</a:t>
            </a:r>
            <a:r>
              <a:rPr lang="en-US" dirty="0"/>
              <a:t>('//input[@id="search"]’);</a:t>
            </a:r>
            <a:endParaRPr lang="en-US" b="1" dirty="0"/>
          </a:p>
          <a:p>
            <a:pPr lvl="1"/>
            <a:endParaRPr lang="en-US" dirty="0"/>
          </a:p>
        </p:txBody>
      </p:sp>
      <p:sp>
        <p:nvSpPr>
          <p:cNvPr id="7" name="Google Shape;82;p15">
            <a:extLst>
              <a:ext uri="{FF2B5EF4-FFF2-40B4-BE49-F238E27FC236}">
                <a16:creationId xmlns:a16="http://schemas.microsoft.com/office/drawing/2014/main" id="{3F420F5D-DEE4-0201-E48F-8D92045024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800" dirty="0"/>
              <a:t>What are Selectors?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A36D3BEE-1011-F9E0-428A-46C7B9FFF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1E949372-58EC-6E30-CFC6-3728E7D940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1"/>
            <a:r>
              <a:rPr lang="en-US" dirty="0"/>
              <a:t>Element Interaction Methods (with Theory + Example)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5D48C-FC98-49A9-ADEB-B15A54DDD646}"/>
              </a:ext>
            </a:extLst>
          </p:cNvPr>
          <p:cNvSpPr txBox="1">
            <a:spLocks/>
          </p:cNvSpPr>
          <p:nvPr/>
        </p:nvSpPr>
        <p:spPr>
          <a:xfrm>
            <a:off x="283931" y="674177"/>
            <a:ext cx="8576137" cy="464174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en-US" b="1" dirty="0"/>
              <a:t>Click an Element</a:t>
            </a:r>
          </a:p>
          <a:p>
            <a:pPr marL="0" indent="0">
              <a:buNone/>
            </a:pPr>
            <a:r>
              <a:rPr lang="en-US" dirty="0"/>
              <a:t>Simulates a mouse click.</a:t>
            </a:r>
          </a:p>
          <a:p>
            <a:pPr lvl="3"/>
            <a:r>
              <a:rPr lang="en-US" dirty="0"/>
              <a:t>	await </a:t>
            </a:r>
            <a:r>
              <a:rPr lang="en-US" dirty="0" err="1"/>
              <a:t>page.click</a:t>
            </a:r>
            <a:r>
              <a:rPr lang="en-US" dirty="0"/>
              <a:t>('</a:t>
            </a:r>
            <a:r>
              <a:rPr lang="en-US" dirty="0" err="1"/>
              <a:t>button#submit</a:t>
            </a:r>
            <a:r>
              <a:rPr lang="en-US" dirty="0"/>
              <a:t>'); </a:t>
            </a:r>
          </a:p>
          <a:p>
            <a:pPr lvl="3"/>
            <a:r>
              <a:rPr lang="en-US" dirty="0"/>
              <a:t>	await </a:t>
            </a:r>
            <a:r>
              <a:rPr lang="en-US" dirty="0" err="1"/>
              <a:t>page.getByText</a:t>
            </a:r>
            <a:r>
              <a:rPr lang="en-US" dirty="0"/>
              <a:t>('Submit').click(); </a:t>
            </a:r>
          </a:p>
          <a:p>
            <a:pPr marL="0" indent="0">
              <a:buNone/>
            </a:pPr>
            <a:r>
              <a:rPr lang="en-US" b="1" dirty="0"/>
              <a:t>Fill an Input Field</a:t>
            </a:r>
          </a:p>
          <a:p>
            <a:pPr marL="0" indent="0">
              <a:buNone/>
            </a:pPr>
            <a:r>
              <a:rPr lang="en-US" dirty="0"/>
              <a:t>Clears and types text into an input or </a:t>
            </a:r>
            <a:r>
              <a:rPr lang="en-US" dirty="0" err="1"/>
              <a:t>textarea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	</a:t>
            </a:r>
            <a:r>
              <a:rPr lang="en-US" dirty="0"/>
              <a:t>await </a:t>
            </a:r>
            <a:r>
              <a:rPr lang="en-US" dirty="0" err="1"/>
              <a:t>page.fill</a:t>
            </a:r>
            <a:r>
              <a:rPr lang="en-US" dirty="0"/>
              <a:t>('#email', 'example@mail.com');</a:t>
            </a:r>
          </a:p>
          <a:p>
            <a:pPr marL="0" indent="0">
              <a:buNone/>
            </a:pPr>
            <a:r>
              <a:rPr lang="en-US" b="1" dirty="0"/>
              <a:t>Type with Delay</a:t>
            </a:r>
          </a:p>
          <a:p>
            <a:pPr marL="0" indent="0">
              <a:buNone/>
            </a:pPr>
            <a:r>
              <a:rPr lang="en-US" dirty="0"/>
              <a:t>Mimics real typing.</a:t>
            </a:r>
          </a:p>
          <a:p>
            <a:pPr lvl="1"/>
            <a:r>
              <a:rPr lang="en-US" b="1" dirty="0"/>
              <a:t>	</a:t>
            </a:r>
            <a:r>
              <a:rPr lang="en-US" dirty="0"/>
              <a:t>await </a:t>
            </a:r>
            <a:r>
              <a:rPr lang="en-US" dirty="0" err="1"/>
              <a:t>page.type</a:t>
            </a:r>
            <a:r>
              <a:rPr lang="en-US" dirty="0"/>
              <a:t>('#username', '</a:t>
            </a:r>
            <a:r>
              <a:rPr lang="en-US" dirty="0" err="1"/>
              <a:t>JohnDoe</a:t>
            </a:r>
            <a:r>
              <a:rPr lang="en-US" dirty="0"/>
              <a:t>', { delay: 100 });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Select Dropdown Option</a:t>
            </a:r>
          </a:p>
          <a:p>
            <a:pPr marL="0" indent="0">
              <a:buNone/>
            </a:pPr>
            <a:r>
              <a:rPr lang="en-US" dirty="0"/>
              <a:t>Chooses an option in a &lt;select&gt; element.</a:t>
            </a:r>
          </a:p>
          <a:p>
            <a:pPr lvl="1"/>
            <a:r>
              <a:rPr lang="en-US" dirty="0"/>
              <a:t>	await </a:t>
            </a:r>
            <a:r>
              <a:rPr lang="en-US" dirty="0" err="1"/>
              <a:t>page.selectOption</a:t>
            </a:r>
            <a:r>
              <a:rPr lang="en-US" dirty="0"/>
              <a:t>('#country', 'US'); </a:t>
            </a:r>
          </a:p>
          <a:p>
            <a:pPr marL="0" indent="0">
              <a:buNone/>
            </a:pPr>
            <a:r>
              <a:rPr lang="en-US" b="1" dirty="0"/>
              <a:t>Check or Uncheck a Checkbox</a:t>
            </a:r>
          </a:p>
          <a:p>
            <a:pPr lvl="1"/>
            <a:r>
              <a:rPr lang="en-US" dirty="0"/>
              <a:t>	await </a:t>
            </a:r>
            <a:r>
              <a:rPr lang="en-US" dirty="0" err="1"/>
              <a:t>page.check</a:t>
            </a:r>
            <a:r>
              <a:rPr lang="en-US" dirty="0"/>
              <a:t>('#agree');    </a:t>
            </a:r>
          </a:p>
          <a:p>
            <a:pPr lvl="1"/>
            <a:r>
              <a:rPr lang="en-US" dirty="0"/>
              <a:t>	await </a:t>
            </a:r>
            <a:r>
              <a:rPr lang="en-US" dirty="0" err="1"/>
              <a:t>page.uncheck</a:t>
            </a:r>
            <a:r>
              <a:rPr lang="en-US" dirty="0"/>
              <a:t>('#agree'); </a:t>
            </a:r>
          </a:p>
          <a:p>
            <a:pPr marL="0" indent="0">
              <a:buNone/>
            </a:pPr>
            <a:r>
              <a:rPr lang="en-US" b="1" dirty="0"/>
              <a:t>Hover Over Element</a:t>
            </a:r>
          </a:p>
          <a:p>
            <a:pPr marL="0" indent="0">
              <a:buNone/>
            </a:pPr>
            <a:r>
              <a:rPr lang="en-US" dirty="0"/>
              <a:t>Triggers hover effects (tooltips, menus).</a:t>
            </a:r>
          </a:p>
          <a:p>
            <a:pPr lvl="1"/>
            <a:r>
              <a:rPr lang="en-US" dirty="0"/>
              <a:t>	await </a:t>
            </a:r>
            <a:r>
              <a:rPr lang="en-US" dirty="0" err="1"/>
              <a:t>page.hover</a:t>
            </a:r>
            <a:r>
              <a:rPr lang="en-US" dirty="0"/>
              <a:t>('.menu-item');</a:t>
            </a:r>
          </a:p>
        </p:txBody>
      </p:sp>
    </p:spTree>
    <p:extLst>
      <p:ext uri="{BB962C8B-B14F-4D97-AF65-F5344CB8AC3E}">
        <p14:creationId xmlns:p14="http://schemas.microsoft.com/office/powerpoint/2010/main" val="2184614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01D3D67A-46BD-9129-CA61-BF78DFBE8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5247662-0C18-413C-BA62-BAC5B125DA5D}"/>
              </a:ext>
            </a:extLst>
          </p:cNvPr>
          <p:cNvSpPr txBox="1">
            <a:spLocks/>
          </p:cNvSpPr>
          <p:nvPr/>
        </p:nvSpPr>
        <p:spPr>
          <a:xfrm>
            <a:off x="484322" y="674176"/>
            <a:ext cx="8175356" cy="474248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en-US" b="1" dirty="0"/>
              <a:t>Get Text Content</a:t>
            </a:r>
          </a:p>
          <a:p>
            <a:pPr marL="0" indent="0">
              <a:buNone/>
            </a:pPr>
            <a:r>
              <a:rPr lang="en-US" dirty="0"/>
              <a:t>Reads the visible text of an element.</a:t>
            </a:r>
          </a:p>
          <a:p>
            <a:pPr lvl="1"/>
            <a:r>
              <a:rPr lang="en-US" dirty="0"/>
              <a:t>	const msg = await </a:t>
            </a:r>
            <a:r>
              <a:rPr lang="en-US" dirty="0" err="1"/>
              <a:t>page.textContent</a:t>
            </a:r>
            <a:r>
              <a:rPr lang="en-US" dirty="0"/>
              <a:t>('.welcome’);</a:t>
            </a:r>
          </a:p>
          <a:p>
            <a:pPr lvl="1"/>
            <a:r>
              <a:rPr lang="en-US" dirty="0"/>
              <a:t>	console.log(msg);</a:t>
            </a:r>
          </a:p>
          <a:p>
            <a:pPr marL="0" indent="0">
              <a:buNone/>
            </a:pPr>
            <a:r>
              <a:rPr lang="en-US" b="1" dirty="0"/>
              <a:t>Wait for an Element</a:t>
            </a:r>
          </a:p>
          <a:p>
            <a:pPr marL="0" indent="0">
              <a:buNone/>
            </a:pPr>
            <a:r>
              <a:rPr lang="en-US" dirty="0"/>
              <a:t>Waits for an element to appear, disappear, or change state.</a:t>
            </a:r>
          </a:p>
          <a:p>
            <a:pPr lvl="1"/>
            <a:r>
              <a:rPr lang="en-US" dirty="0"/>
              <a:t>	await </a:t>
            </a:r>
            <a:r>
              <a:rPr lang="en-US" dirty="0" err="1"/>
              <a:t>page.waitForSelector</a:t>
            </a:r>
            <a:r>
              <a:rPr lang="en-US" dirty="0"/>
              <a:t>('.loading', { state: 'hidden' });</a:t>
            </a:r>
          </a:p>
          <a:p>
            <a:pPr lvl="1"/>
            <a:endParaRPr lang="en-US" dirty="0"/>
          </a:p>
          <a:p>
            <a:r>
              <a:rPr lang="en-US" b="1" dirty="0"/>
              <a:t>Full Theoretical Example</a:t>
            </a:r>
          </a:p>
          <a:p>
            <a:pPr marL="0" indent="0">
              <a:buNone/>
            </a:pPr>
            <a:r>
              <a:rPr lang="en-US" dirty="0"/>
              <a:t>const { chromium } = require('playwright');</a:t>
            </a:r>
          </a:p>
          <a:p>
            <a:pPr marL="0" indent="0">
              <a:buNone/>
            </a:pPr>
            <a:r>
              <a:rPr lang="en-US" dirty="0"/>
              <a:t>(async () =&gt; {</a:t>
            </a:r>
          </a:p>
          <a:p>
            <a:pPr marL="0" indent="0">
              <a:buNone/>
            </a:pPr>
            <a:r>
              <a:rPr lang="en-US" dirty="0"/>
              <a:t>  const browser = await </a:t>
            </a:r>
            <a:r>
              <a:rPr lang="en-US" dirty="0" err="1"/>
              <a:t>chromium.launch</a:t>
            </a:r>
            <a:r>
              <a:rPr lang="en-US" dirty="0"/>
              <a:t>({ headless: false });</a:t>
            </a:r>
          </a:p>
          <a:p>
            <a:pPr marL="0" indent="0">
              <a:buNone/>
            </a:pPr>
            <a:r>
              <a:rPr lang="en-US" dirty="0"/>
              <a:t>  const page = await </a:t>
            </a:r>
            <a:r>
              <a:rPr lang="en-US" dirty="0" err="1"/>
              <a:t>browser.newPage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await </a:t>
            </a:r>
            <a:r>
              <a:rPr lang="en-US" dirty="0" err="1"/>
              <a:t>page.goto</a:t>
            </a:r>
            <a:r>
              <a:rPr lang="en-US" dirty="0"/>
              <a:t>('https://example.com');</a:t>
            </a:r>
          </a:p>
          <a:p>
            <a:pPr marL="0" indent="0">
              <a:buNone/>
            </a:pPr>
            <a:r>
              <a:rPr lang="en-US" dirty="0"/>
              <a:t>await </a:t>
            </a:r>
            <a:r>
              <a:rPr lang="en-US" dirty="0" err="1"/>
              <a:t>page.fill</a:t>
            </a:r>
            <a:r>
              <a:rPr lang="en-US" dirty="0"/>
              <a:t>('input[name="email"]', 'test@example.com’);     // Fill input using CSS selector</a:t>
            </a:r>
          </a:p>
          <a:p>
            <a:pPr marL="0" indent="0">
              <a:buNone/>
            </a:pPr>
            <a:r>
              <a:rPr lang="en-US" dirty="0"/>
              <a:t>await </a:t>
            </a:r>
            <a:r>
              <a:rPr lang="en-US" dirty="0" err="1"/>
              <a:t>page.click</a:t>
            </a:r>
            <a:r>
              <a:rPr lang="en-US" dirty="0"/>
              <a:t>('text="Login“’);     // Click login using text selector</a:t>
            </a:r>
          </a:p>
          <a:p>
            <a:pPr marL="0" indent="0">
              <a:buNone/>
            </a:pPr>
            <a:r>
              <a:rPr lang="en-US" dirty="0"/>
              <a:t>await </a:t>
            </a:r>
            <a:r>
              <a:rPr lang="en-US" dirty="0" err="1"/>
              <a:t>page.waitForSelector</a:t>
            </a:r>
            <a:r>
              <a:rPr lang="en-US" dirty="0"/>
              <a:t>('.welcome', { state: 'visible' });     // Wait for welcome message</a:t>
            </a:r>
          </a:p>
          <a:p>
            <a:pPr marL="0" indent="0">
              <a:buNone/>
            </a:pPr>
            <a:r>
              <a:rPr lang="en-US" dirty="0"/>
              <a:t>const message = await </a:t>
            </a:r>
            <a:r>
              <a:rPr lang="en-US" dirty="0" err="1"/>
              <a:t>page.textContent</a:t>
            </a:r>
            <a:r>
              <a:rPr lang="en-US" dirty="0"/>
              <a:t>('.welcome’);     // Print the welcome text</a:t>
            </a:r>
          </a:p>
          <a:p>
            <a:pPr marL="0" indent="0">
              <a:buNone/>
            </a:pPr>
            <a:r>
              <a:rPr lang="en-US" dirty="0"/>
              <a:t>  console.log('Message:', message);</a:t>
            </a:r>
          </a:p>
          <a:p>
            <a:pPr marL="0" indent="0">
              <a:buNone/>
            </a:pPr>
            <a:r>
              <a:rPr lang="en-US" dirty="0"/>
              <a:t>  await </a:t>
            </a:r>
            <a:r>
              <a:rPr lang="en-US" dirty="0" err="1"/>
              <a:t>browser.close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})();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5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23698AD6-1B4D-D4D5-DB35-83BD949C4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DD7BE-4D1F-4F63-AE26-E4652B31F514}"/>
              </a:ext>
            </a:extLst>
          </p:cNvPr>
          <p:cNvSpPr txBox="1">
            <a:spLocks/>
          </p:cNvSpPr>
          <p:nvPr/>
        </p:nvSpPr>
        <p:spPr>
          <a:xfrm>
            <a:off x="317715" y="782664"/>
            <a:ext cx="11186897" cy="588980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3C30C8-84F7-5388-08CA-358144289B90}"/>
              </a:ext>
            </a:extLst>
          </p:cNvPr>
          <p:cNvSpPr txBox="1"/>
          <p:nvPr/>
        </p:nvSpPr>
        <p:spPr>
          <a:xfrm>
            <a:off x="317715" y="782664"/>
            <a:ext cx="856281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Best Practices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b="1" dirty="0"/>
              <a:t>Summary</a:t>
            </a: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EDB7FCEE-D134-49CD-8CE4-31572DD8B2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06566248"/>
              </p:ext>
            </p:extLst>
          </p:nvPr>
        </p:nvGraphicFramePr>
        <p:xfrm>
          <a:off x="567572" y="1093975"/>
          <a:ext cx="7693026" cy="174203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846513">
                  <a:extLst>
                    <a:ext uri="{9D8B030D-6E8A-4147-A177-3AD203B41FA5}">
                      <a16:colId xmlns:a16="http://schemas.microsoft.com/office/drawing/2014/main" val="3949032752"/>
                    </a:ext>
                  </a:extLst>
                </a:gridCol>
                <a:gridCol w="3846513">
                  <a:extLst>
                    <a:ext uri="{9D8B030D-6E8A-4147-A177-3AD203B41FA5}">
                      <a16:colId xmlns:a16="http://schemas.microsoft.com/office/drawing/2014/main" val="735815801"/>
                    </a:ext>
                  </a:extLst>
                </a:gridCol>
              </a:tblGrid>
              <a:tr h="302909">
                <a:tc>
                  <a:txBody>
                    <a:bodyPr/>
                    <a:lstStyle/>
                    <a:p>
                      <a:r>
                        <a:rPr lang="en-US" dirty="0"/>
                        <a:t>Practice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Why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4134856"/>
                  </a:ext>
                </a:extLst>
              </a:tr>
              <a:tr h="302909">
                <a:tc>
                  <a:txBody>
                    <a:bodyPr/>
                    <a:lstStyle/>
                    <a:p>
                      <a:r>
                        <a:rPr lang="en-US"/>
                        <a:t>Use getByRole, getByLabel, or getByTestId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More stable and readable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7459312"/>
                  </a:ext>
                </a:extLst>
              </a:tr>
              <a:tr h="302909">
                <a:tc>
                  <a:txBody>
                    <a:bodyPr/>
                    <a:lstStyle/>
                    <a:p>
                      <a:r>
                        <a:rPr lang="en-US"/>
                        <a:t>Avoid positional selectors like nth-child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Breaks with UI changes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1337326"/>
                  </a:ext>
                </a:extLst>
              </a:tr>
              <a:tr h="302909">
                <a:tc>
                  <a:txBody>
                    <a:bodyPr/>
                    <a:lstStyle/>
                    <a:p>
                      <a:r>
                        <a:rPr lang="en-US" dirty="0"/>
                        <a:t>Use locator() for chains and retries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More powerful than simple click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7213830"/>
                  </a:ext>
                </a:extLst>
              </a:tr>
              <a:tr h="522830">
                <a:tc>
                  <a:txBody>
                    <a:bodyPr/>
                    <a:lstStyle/>
                    <a:p>
                      <a:r>
                        <a:rPr lang="en-US" dirty="0"/>
                        <a:t>Always </a:t>
                      </a:r>
                      <a:r>
                        <a:rPr lang="en-US" dirty="0" err="1"/>
                        <a:t>waitForSelector</a:t>
                      </a:r>
                      <a:r>
                        <a:rPr lang="en-US" dirty="0"/>
                        <a:t> before interaction if needed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Avoids race conditions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1637975"/>
                  </a:ext>
                </a:extLst>
              </a:tr>
            </a:tbl>
          </a:graphicData>
        </a:graphic>
      </p:graphicFrame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D846CCA-5599-49E0-94B9-298D6EB4D3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13848684"/>
              </p:ext>
            </p:extLst>
          </p:nvPr>
        </p:nvGraphicFramePr>
        <p:xfrm>
          <a:off x="823293" y="3248240"/>
          <a:ext cx="7375310" cy="173446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687655">
                  <a:extLst>
                    <a:ext uri="{9D8B030D-6E8A-4147-A177-3AD203B41FA5}">
                      <a16:colId xmlns:a16="http://schemas.microsoft.com/office/drawing/2014/main" val="322283442"/>
                    </a:ext>
                  </a:extLst>
                </a:gridCol>
                <a:gridCol w="3687655">
                  <a:extLst>
                    <a:ext uri="{9D8B030D-6E8A-4147-A177-3AD203B41FA5}">
                      <a16:colId xmlns:a16="http://schemas.microsoft.com/office/drawing/2014/main" val="36357171"/>
                    </a:ext>
                  </a:extLst>
                </a:gridCol>
              </a:tblGrid>
              <a:tr h="346893">
                <a:tc>
                  <a:txBody>
                    <a:bodyPr/>
                    <a:lstStyle/>
                    <a:p>
                      <a:r>
                        <a:rPr lang="en-US" dirty="0"/>
                        <a:t>Topic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Key Point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352938"/>
                  </a:ext>
                </a:extLst>
              </a:tr>
              <a:tr h="346893">
                <a:tc>
                  <a:txBody>
                    <a:bodyPr/>
                    <a:lstStyle/>
                    <a:p>
                      <a:r>
                        <a:rPr lang="en-US" dirty="0"/>
                        <a:t>Selectors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Help identify elements (CSS, text, role, etc.)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3711353"/>
                  </a:ext>
                </a:extLst>
              </a:tr>
              <a:tr h="346893">
                <a:tc>
                  <a:txBody>
                    <a:bodyPr/>
                    <a:lstStyle/>
                    <a:p>
                      <a:r>
                        <a:rPr lang="en-US"/>
                        <a:t>Interactions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Perform actions like click, type, fill, hover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3364570"/>
                  </a:ext>
                </a:extLst>
              </a:tr>
              <a:tr h="346893">
                <a:tc>
                  <a:txBody>
                    <a:bodyPr/>
                    <a:lstStyle/>
                    <a:p>
                      <a:r>
                        <a:rPr lang="en-US" dirty="0"/>
                        <a:t>Stability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Choose selectors that don’t break easily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8483300"/>
                  </a:ext>
                </a:extLst>
              </a:tr>
              <a:tr h="346893">
                <a:tc>
                  <a:txBody>
                    <a:bodyPr/>
                    <a:lstStyle/>
                    <a:p>
                      <a:r>
                        <a:rPr lang="en-US"/>
                        <a:t>Readability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Prefer role-based or test ID selectors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54443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808574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1080</TotalTime>
  <Words>742</Words>
  <Application>Microsoft Office PowerPoint</Application>
  <PresentationFormat>On-screen Show (16:9)</PresentationFormat>
  <Paragraphs>121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Roboto</vt:lpstr>
      <vt:lpstr>Calibri</vt:lpstr>
      <vt:lpstr>Arial</vt:lpstr>
      <vt:lpstr>Material</vt:lpstr>
      <vt:lpstr>Selectors &amp; Element Interaction</vt:lpstr>
      <vt:lpstr>What are Selectors?</vt:lpstr>
      <vt:lpstr>What are Selectors?</vt:lpstr>
      <vt:lpstr>Element Interaction Methods (with Theory + Example)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admin</cp:lastModifiedBy>
  <cp:revision>36</cp:revision>
  <dcterms:modified xsi:type="dcterms:W3CDTF">2025-08-25T11:48:28Z</dcterms:modified>
</cp:coreProperties>
</file>
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524" y="1819275"/>
            <a:ext cx="8590743" cy="933600"/>
          </a:xfrm>
        </p:spPr>
        <p:txBody>
          <a:bodyPr/>
          <a:lstStyle/>
          <a:p>
            <a:r>
              <a:rPr lang="en-US" dirty="0"/>
              <a:t>Playwright Test Runner using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the Playwright Test Runner?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Playwright provides its own test runner called @playwright/test—a powerful, built-in testing framework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Parallel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Rich assertions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Fixtures (reusable test context)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reporters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retries and screenshots</a:t>
            </a:r>
          </a:p>
          <a:p>
            <a:endParaRPr lang="en-US" dirty="0"/>
          </a:p>
          <a:p>
            <a:pPr lvl="1"/>
            <a:r>
              <a:rPr lang="en-US" sz="1200" b="1" dirty="0"/>
              <a:t>How to Download and Install Node.js</a:t>
            </a:r>
          </a:p>
          <a:p>
            <a:endParaRPr lang="en-US" sz="1200" dirty="0"/>
          </a:p>
          <a:p>
            <a:pPr>
              <a:defRPr sz="2000"/>
            </a:pPr>
            <a:r>
              <a:rPr lang="en-US" sz="1200" dirty="0"/>
              <a:t>1. Go to official site → https://nodejs.org</a:t>
            </a:r>
          </a:p>
          <a:p>
            <a:pPr>
              <a:defRPr sz="2000"/>
            </a:pPr>
            <a:r>
              <a:rPr lang="en-US" sz="1200" dirty="0"/>
              <a:t>2. Choose version: LTS (stable) or Current (latest features)</a:t>
            </a:r>
          </a:p>
          <a:p>
            <a:pPr>
              <a:defRPr sz="2000"/>
            </a:pPr>
            <a:r>
              <a:rPr lang="en-US" sz="1200" dirty="0"/>
              <a:t>3. Download installer (.</a:t>
            </a:r>
            <a:r>
              <a:rPr lang="en-US" sz="1200" dirty="0" err="1"/>
              <a:t>msi</a:t>
            </a:r>
            <a:r>
              <a:rPr lang="en-US" sz="1200" dirty="0"/>
              <a:t> for Windows, .pkg for macOS, package manager for Linux)</a:t>
            </a:r>
          </a:p>
          <a:p>
            <a:pPr>
              <a:defRPr sz="2000"/>
            </a:pPr>
            <a:r>
              <a:rPr lang="en-US" sz="1200" dirty="0"/>
              <a:t>4. Run installer → keep default options (check 'Add to PATH')</a:t>
            </a:r>
          </a:p>
          <a:p>
            <a:pPr>
              <a:defRPr sz="2000"/>
            </a:pPr>
            <a:r>
              <a:rPr lang="en-US" sz="1200" dirty="0"/>
              <a:t>5. Verify installation in Terminal/Command Prompt:</a:t>
            </a:r>
          </a:p>
          <a:p>
            <a:pPr>
              <a:defRPr sz="2000"/>
            </a:pPr>
            <a:r>
              <a:rPr lang="en-US" sz="1200" dirty="0"/>
              <a:t>   - node -v   (check Node.js version)</a:t>
            </a:r>
          </a:p>
          <a:p>
            <a:pPr>
              <a:defRPr sz="2000"/>
            </a:pPr>
            <a:r>
              <a:rPr lang="en-US" sz="1200" dirty="0"/>
              <a:t>   - </a:t>
            </a:r>
            <a:r>
              <a:rPr lang="en-US" sz="1200" dirty="0" err="1"/>
              <a:t>npm</a:t>
            </a:r>
            <a:r>
              <a:rPr lang="en-US" sz="1200" dirty="0"/>
              <a:t> -v    (check NPM version)</a:t>
            </a:r>
          </a:p>
          <a:p>
            <a:endParaRPr lang="en-US" dirty="0"/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195272" y="743919"/>
            <a:ext cx="863255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/>
              <a:t>Installation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In your Node.js project, run: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npm</a:t>
            </a:r>
            <a:r>
              <a:rPr lang="en-US" sz="1200" dirty="0"/>
              <a:t> install -D @playwright/test</a:t>
            </a:r>
          </a:p>
          <a:p>
            <a:pPr marL="0" indent="0">
              <a:buNone/>
            </a:pPr>
            <a:r>
              <a:rPr lang="en-US" sz="1200" dirty="0"/>
              <a:t>Optional but recommended: install browsers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npx</a:t>
            </a:r>
            <a:r>
              <a:rPr lang="en-US" sz="1200" dirty="0"/>
              <a:t> playwright install</a:t>
            </a:r>
          </a:p>
          <a:p>
            <a:pPr marL="0" indent="0">
              <a:buNone/>
            </a:pPr>
            <a:r>
              <a:rPr lang="en-US" sz="1200" b="1" dirty="0"/>
              <a:t>Run the Test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npx</a:t>
            </a:r>
            <a:r>
              <a:rPr lang="en-US" sz="1200" dirty="0"/>
              <a:t> playwright test</a:t>
            </a:r>
          </a:p>
          <a:p>
            <a:pPr marL="0" indent="0">
              <a:buNone/>
            </a:pPr>
            <a:r>
              <a:rPr lang="en-US" sz="1200" dirty="0"/>
              <a:t>Output:</a:t>
            </a:r>
          </a:p>
          <a:p>
            <a:pPr marL="0" indent="0">
              <a:buNone/>
            </a:pPr>
            <a:r>
              <a:rPr lang="en-US" sz="1200" dirty="0"/>
              <a:t>	Running 1 test using 1 worker</a:t>
            </a:r>
          </a:p>
          <a:p>
            <a:pPr marL="0" indent="0">
              <a:buNone/>
            </a:pPr>
            <a:r>
              <a:rPr lang="en-US" sz="1200" dirty="0"/>
              <a:t>  	example.spec.js:3:1 › homepage has title (1s)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First Playwright Test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const { test, expect } = require('@playwright/test');</a:t>
            </a:r>
          </a:p>
          <a:p>
            <a:pPr marL="0" indent="0">
              <a:buNone/>
            </a:pPr>
            <a:r>
              <a:rPr lang="en-US" sz="1200" dirty="0"/>
              <a:t>test('homepage has title', async ({ page }) =&gt; {</a:t>
            </a:r>
          </a:p>
          <a:p>
            <a:pPr marL="0" indent="0">
              <a:buNone/>
            </a:pPr>
            <a:r>
              <a:rPr lang="en-US" sz="1200" dirty="0"/>
              <a:t>  await </a:t>
            </a:r>
            <a:r>
              <a:rPr lang="en-US" sz="1200" dirty="0" err="1"/>
              <a:t>page.goto</a:t>
            </a:r>
            <a:r>
              <a:rPr lang="en-US" sz="1200" dirty="0"/>
              <a:t>('https://example.com');</a:t>
            </a:r>
          </a:p>
          <a:p>
            <a:pPr marL="0" indent="0">
              <a:buNone/>
            </a:pPr>
            <a:r>
              <a:rPr lang="en-US" sz="1200" dirty="0"/>
              <a:t>  await expect(page).</a:t>
            </a:r>
            <a:r>
              <a:rPr lang="en-US" sz="1200" dirty="0" err="1"/>
              <a:t>toHaveTitle</a:t>
            </a:r>
            <a:r>
              <a:rPr lang="en-US" sz="1200" dirty="0"/>
              <a:t>('Example Domain');</a:t>
            </a:r>
          </a:p>
          <a:p>
            <a:pPr marL="0" indent="0">
              <a:buNone/>
            </a:pPr>
            <a:r>
              <a:rPr lang="en-US" sz="1200" dirty="0"/>
              <a:t>});</a:t>
            </a:r>
          </a:p>
          <a:p>
            <a:pPr marL="0" indent="0">
              <a:buNone/>
            </a:pPr>
            <a:r>
              <a:rPr lang="en-US" sz="1200" b="1" dirty="0"/>
              <a:t>Key Concepts:</a:t>
            </a:r>
          </a:p>
          <a:p>
            <a:pPr lvl="1"/>
            <a:r>
              <a:rPr lang="en-US" sz="1200" dirty="0"/>
              <a:t>test: Defines a single test.</a:t>
            </a:r>
          </a:p>
          <a:p>
            <a:pPr lvl="1"/>
            <a:r>
              <a:rPr lang="en-US" sz="1200" dirty="0"/>
              <a:t>expect: Assertion API for verifying UI behavior.</a:t>
            </a:r>
          </a:p>
          <a:p>
            <a:pPr lvl="1"/>
            <a:r>
              <a:rPr lang="en-US" sz="1200" dirty="0"/>
              <a:t>page: Fixture provided automatically (browser tab).</a:t>
            </a:r>
          </a:p>
          <a:p>
            <a:pPr lvl="1"/>
            <a:endParaRPr lang="en-US" sz="12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Playwright Test Runner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1.</a:t>
            </a:r>
            <a:r>
              <a:rPr lang="en-US" b="1" dirty="0"/>
              <a:t>Multiple Tests in One File</a:t>
            </a:r>
          </a:p>
          <a:p>
            <a:pPr marL="0" indent="0">
              <a:buNone/>
            </a:pPr>
            <a:r>
              <a:rPr lang="en-US" dirty="0"/>
              <a:t>test('check heading', async ({ page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const heading = await </a:t>
            </a:r>
            <a:r>
              <a:rPr lang="en-US" dirty="0" err="1"/>
              <a:t>page.locator</a:t>
            </a:r>
            <a:r>
              <a:rPr lang="en-US" dirty="0"/>
              <a:t>('h1');</a:t>
            </a:r>
          </a:p>
          <a:p>
            <a:pPr marL="0" indent="0">
              <a:buNone/>
            </a:pPr>
            <a:r>
              <a:rPr lang="en-US" dirty="0"/>
              <a:t>  await expect(heading).</a:t>
            </a:r>
            <a:r>
              <a:rPr lang="en-US" dirty="0" err="1"/>
              <a:t>toHaveText</a:t>
            </a:r>
            <a:r>
              <a:rPr lang="en-US" dirty="0"/>
              <a:t>('Example Domain');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b="1" dirty="0"/>
              <a:t>. Test Hooks</a:t>
            </a:r>
          </a:p>
          <a:p>
            <a:pPr marL="0" indent="0">
              <a:buNone/>
            </a:pPr>
            <a:r>
              <a:rPr lang="en-US" dirty="0" err="1"/>
              <a:t>test.beforeEach</a:t>
            </a:r>
            <a:r>
              <a:rPr lang="en-US" dirty="0"/>
              <a:t>(async ({ page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Group Tests with describe</a:t>
            </a:r>
          </a:p>
          <a:p>
            <a:pPr marL="0" indent="0">
              <a:buNone/>
            </a:pPr>
            <a:r>
              <a:rPr lang="en-US" dirty="0" err="1"/>
              <a:t>test.describe</a:t>
            </a:r>
            <a:r>
              <a:rPr lang="en-US" dirty="0"/>
              <a:t>('Example Domain tests', () =&gt; {</a:t>
            </a:r>
          </a:p>
          <a:p>
            <a:pPr marL="0" indent="0">
              <a:buNone/>
            </a:pPr>
            <a:r>
              <a:rPr lang="en-US" dirty="0"/>
              <a:t>  test('has correct title', async ({ page }) =&gt;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  await expect(page).</a:t>
            </a:r>
            <a:r>
              <a:rPr lang="en-US" dirty="0" err="1"/>
              <a:t>toHaveTitle</a:t>
            </a:r>
            <a:r>
              <a:rPr lang="en-US" dirty="0"/>
              <a:t>('Example Domain');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  test('has correct header', async ({ page }) =&gt; {</a:t>
            </a:r>
          </a:p>
          <a:p>
            <a:pPr marL="0" indent="0">
              <a:buNone/>
            </a:pPr>
            <a:r>
              <a:rPr lang="en-US" dirty="0"/>
              <a:t>    const h1 = </a:t>
            </a:r>
            <a:r>
              <a:rPr lang="en-US" dirty="0" err="1"/>
              <a:t>page.locator</a:t>
            </a:r>
            <a:r>
              <a:rPr lang="en-US" dirty="0"/>
              <a:t>('h1');</a:t>
            </a:r>
          </a:p>
          <a:p>
            <a:pPr marL="0" indent="0">
              <a:buNone/>
            </a:pPr>
            <a:r>
              <a:rPr lang="en-US" dirty="0"/>
              <a:t>    await expect(h1).</a:t>
            </a:r>
            <a:r>
              <a:rPr lang="en-US" dirty="0" err="1"/>
              <a:t>toHaveText</a:t>
            </a:r>
            <a:r>
              <a:rPr lang="en-US" dirty="0"/>
              <a:t>('Example Domain');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484322" y="736171"/>
            <a:ext cx="8175356" cy="425234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Take Screenshots on Failure</a:t>
            </a:r>
          </a:p>
          <a:p>
            <a:pPr marL="0" indent="0">
              <a:buNone/>
            </a:pPr>
            <a:r>
              <a:rPr lang="en-US" dirty="0"/>
              <a:t>Playwright captures screenshots and videos by default (configurable).</a:t>
            </a:r>
          </a:p>
          <a:p>
            <a:pPr marL="0" indent="0">
              <a:buNone/>
            </a:pPr>
            <a:r>
              <a:rPr lang="en-US" dirty="0"/>
              <a:t>Find them in test-results/ folder after test failures.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Configuration (Optional)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module.exports</a:t>
            </a:r>
            <a:r>
              <a:rPr lang="en-US" dirty="0"/>
              <a:t> =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testDir</a:t>
            </a:r>
            <a:r>
              <a:rPr lang="en-US" dirty="0"/>
              <a:t>: './tests',</a:t>
            </a:r>
          </a:p>
          <a:p>
            <a:pPr marL="0" indent="0">
              <a:buNone/>
            </a:pPr>
            <a:r>
              <a:rPr lang="en-US" dirty="0"/>
              <a:t>  retries: 1,</a:t>
            </a:r>
          </a:p>
          <a:p>
            <a:pPr marL="0" indent="0">
              <a:buNone/>
            </a:pPr>
            <a:r>
              <a:rPr lang="en-US" dirty="0"/>
              <a:t>  use: {</a:t>
            </a:r>
          </a:p>
          <a:p>
            <a:pPr marL="0" indent="0">
              <a:buNone/>
            </a:pPr>
            <a:r>
              <a:rPr lang="en-US" dirty="0"/>
              <a:t>    headless: true,</a:t>
            </a:r>
          </a:p>
          <a:p>
            <a:pPr marL="0" indent="0">
              <a:buNone/>
            </a:pPr>
            <a:r>
              <a:rPr lang="en-US" dirty="0"/>
              <a:t>    screenshot: 'only-on-failure',</a:t>
            </a:r>
          </a:p>
          <a:p>
            <a:pPr marL="0" indent="0">
              <a:buNone/>
            </a:pPr>
            <a:r>
              <a:rPr lang="en-US" dirty="0"/>
              <a:t>    video: 'retain-on-failure',</a:t>
            </a:r>
          </a:p>
          <a:p>
            <a:pPr marL="0" indent="0">
              <a:buNone/>
            </a:pPr>
            <a:r>
              <a:rPr lang="en-US" dirty="0"/>
              <a:t>  },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b="1" dirty="0"/>
              <a:t>HTML Report</a:t>
            </a:r>
          </a:p>
          <a:p>
            <a:pPr marL="0" indent="0">
              <a:buNone/>
            </a:pPr>
            <a:r>
              <a:rPr lang="en-US" dirty="0"/>
              <a:t>Generate a visual report: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show-report</a:t>
            </a:r>
          </a:p>
          <a:p>
            <a:pPr marL="0" indent="0">
              <a:buNone/>
            </a:pPr>
            <a:r>
              <a:rPr lang="en-US" dirty="0"/>
              <a:t>After running: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--reporter html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82664"/>
            <a:ext cx="11186897" cy="58898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C30C8-84F7-5388-08CA-358144289B90}"/>
              </a:ext>
            </a:extLst>
          </p:cNvPr>
          <p:cNvSpPr txBox="1"/>
          <p:nvPr/>
        </p:nvSpPr>
        <p:spPr>
          <a:xfrm>
            <a:off x="317715" y="782664"/>
            <a:ext cx="57534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Run Specific Tests</a:t>
            </a:r>
          </a:p>
          <a:p>
            <a:pPr marL="0" indent="0">
              <a:buNone/>
            </a:pPr>
            <a:r>
              <a:rPr lang="en-US" dirty="0"/>
              <a:t>Run a single file: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tests/example.spec.js</a:t>
            </a:r>
          </a:p>
          <a:p>
            <a:pPr marL="0" indent="0">
              <a:buNone/>
            </a:pPr>
            <a:r>
              <a:rPr lang="en-US" dirty="0"/>
              <a:t>Run tests by name: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-g "homepage has title“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Retry Failed Tests</a:t>
            </a:r>
          </a:p>
          <a:p>
            <a:pPr marL="0" indent="0">
              <a:buNone/>
            </a:pPr>
            <a:r>
              <a:rPr lang="en-US" dirty="0"/>
              <a:t>Enable in playwright.config.js:</a:t>
            </a:r>
          </a:p>
          <a:p>
            <a:pPr marL="0" indent="0">
              <a:buNone/>
            </a:pPr>
            <a:r>
              <a:rPr lang="en-US" dirty="0"/>
              <a:t>	retries: 2</a:t>
            </a:r>
          </a:p>
          <a:p>
            <a:pPr marL="0" indent="0">
              <a:buNone/>
            </a:pPr>
            <a:r>
              <a:rPr lang="en-US" b="1" dirty="0"/>
              <a:t>Clean Test Fixtures</a:t>
            </a:r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test.use</a:t>
            </a:r>
            <a:r>
              <a:rPr lang="en-US" dirty="0"/>
              <a:t>() to define test-scoped fixtures: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test.use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baseURL</a:t>
            </a:r>
            <a:r>
              <a:rPr lang="en-US" dirty="0"/>
              <a:t>: 'https://example.com',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6938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CC981D68-38F7-A426-A3FC-F95CB79B1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Summary	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9303E42-EB6F-4C09-8A5F-92D632DAE5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453415"/>
              </p:ext>
            </p:extLst>
          </p:nvPr>
        </p:nvGraphicFramePr>
        <p:xfrm>
          <a:off x="1317654" y="1027805"/>
          <a:ext cx="6387792" cy="2157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896">
                  <a:extLst>
                    <a:ext uri="{9D8B030D-6E8A-4147-A177-3AD203B41FA5}">
                      <a16:colId xmlns:a16="http://schemas.microsoft.com/office/drawing/2014/main" val="553309382"/>
                    </a:ext>
                  </a:extLst>
                </a:gridCol>
                <a:gridCol w="3193896">
                  <a:extLst>
                    <a:ext uri="{9D8B030D-6E8A-4147-A177-3AD203B41FA5}">
                      <a16:colId xmlns:a16="http://schemas.microsoft.com/office/drawing/2014/main" val="4144582347"/>
                    </a:ext>
                  </a:extLst>
                </a:gridCol>
              </a:tblGrid>
              <a:tr h="405757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216360"/>
                  </a:ext>
                </a:extLst>
              </a:tr>
              <a:tr h="350268">
                <a:tc>
                  <a:txBody>
                    <a:bodyPr/>
                    <a:lstStyle/>
                    <a:p>
                      <a:r>
                        <a:rPr lang="en-US"/>
                        <a:t>Built-in test runner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need for Jest/Mocha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927380"/>
                  </a:ext>
                </a:extLst>
              </a:tr>
              <a:tr h="350268">
                <a:tc>
                  <a:txBody>
                    <a:bodyPr/>
                    <a:lstStyle/>
                    <a:p>
                      <a:r>
                        <a:rPr lang="en-US"/>
                        <a:t>Auto fixtures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Page, context, browser injected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369761"/>
                  </a:ext>
                </a:extLst>
              </a:tr>
              <a:tr h="350268">
                <a:tc>
                  <a:txBody>
                    <a:bodyPr/>
                    <a:lstStyle/>
                    <a:p>
                      <a:r>
                        <a:rPr lang="en-US"/>
                        <a:t>Easy assertions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expect() with locators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885864"/>
                  </a:ext>
                </a:extLst>
              </a:tr>
              <a:tr h="350268">
                <a:tc>
                  <a:txBody>
                    <a:bodyPr/>
                    <a:lstStyle/>
                    <a:p>
                      <a:r>
                        <a:rPr lang="en-US"/>
                        <a:t>Retry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Reliable flaky test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723799"/>
                  </a:ext>
                </a:extLst>
              </a:tr>
              <a:tr h="350268">
                <a:tc>
                  <a:txBody>
                    <a:bodyPr/>
                    <a:lstStyle/>
                    <a:p>
                      <a:r>
                        <a:rPr lang="en-US"/>
                        <a:t>Screenshot/video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Debug visually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59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674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Calibri</vt:lpstr>
      <vt:lpstr>Arial</vt:lpstr>
      <vt:lpstr>Material</vt:lpstr>
      <vt:lpstr>Playwright Test Runner using JavaScript</vt:lpstr>
      <vt:lpstr>What is the Playwright Test Runner?</vt:lpstr>
      <vt:lpstr>PowerPoint Presentation</vt:lpstr>
      <vt:lpstr>Playwright Test Runner Features</vt:lpstr>
      <vt:lpstr>PowerPoint Presentation</vt:lpstr>
      <vt:lpstr>PowerPoint Presentation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34</cp:revision>
  <dcterms:modified xsi:type="dcterms:W3CDTF">2025-08-25T11:44:25Z</dcterms:modified>
</cp:coreProperties>
</file>
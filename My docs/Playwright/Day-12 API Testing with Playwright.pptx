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65" r:id="rId4"/>
    <p:sldId id="266" r:id="rId5"/>
    <p:sldId id="267" r:id="rId6"/>
    <p:sldId id="269" r:id="rId7"/>
    <p:sldId id="270" r:id="rId8"/>
    <p:sldId id="271" r:id="rId9"/>
    <p:sldId id="272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API Testing with Playwright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What is API Testing in Playwright?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9277"/>
            <a:ext cx="8826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dirty="0"/>
              <a:t>API testing involves verifying that backend services (like REST or </a:t>
            </a:r>
            <a:r>
              <a:rPr lang="en-US" dirty="0" err="1"/>
              <a:t>GraphQL</a:t>
            </a:r>
            <a:r>
              <a:rPr lang="en-US" dirty="0"/>
              <a:t> APIs) return correct responses. Playwright, while primarily a UI automation tool, also has powerful support for API testing using its </a:t>
            </a:r>
            <a:r>
              <a:rPr lang="en-US" dirty="0" err="1"/>
              <a:t>APIRequestContext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Why Use Playwright for API Testing?</a:t>
            </a:r>
          </a:p>
          <a:p>
            <a:pPr marL="0" indent="0" algn="just">
              <a:buNone/>
            </a:pPr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AB559D9-BD69-441C-AB86-0EA332986F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7414586"/>
              </p:ext>
            </p:extLst>
          </p:nvPr>
        </p:nvGraphicFramePr>
        <p:xfrm>
          <a:off x="804837" y="1985128"/>
          <a:ext cx="7534326" cy="224590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67163">
                  <a:extLst>
                    <a:ext uri="{9D8B030D-6E8A-4147-A177-3AD203B41FA5}">
                      <a16:colId xmlns:a16="http://schemas.microsoft.com/office/drawing/2014/main" val="2941682749"/>
                    </a:ext>
                  </a:extLst>
                </a:gridCol>
                <a:gridCol w="3767163">
                  <a:extLst>
                    <a:ext uri="{9D8B030D-6E8A-4147-A177-3AD203B41FA5}">
                      <a16:colId xmlns:a16="http://schemas.microsoft.com/office/drawing/2014/main" val="500508874"/>
                    </a:ext>
                  </a:extLst>
                </a:gridCol>
              </a:tblGrid>
              <a:tr h="312884">
                <a:tc>
                  <a:txBody>
                    <a:bodyPr/>
                    <a:lstStyle/>
                    <a:p>
                      <a:r>
                        <a:rPr lang="en-US" dirty="0"/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6071209"/>
                  </a:ext>
                </a:extLst>
              </a:tr>
              <a:tr h="312884">
                <a:tc>
                  <a:txBody>
                    <a:bodyPr/>
                    <a:lstStyle/>
                    <a:p>
                      <a:r>
                        <a:rPr lang="en-US" dirty="0"/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Faster than UI testing; no rendering required.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187483"/>
                  </a:ext>
                </a:extLst>
              </a:tr>
              <a:tr h="540047">
                <a:tc>
                  <a:txBody>
                    <a:bodyPr/>
                    <a:lstStyle/>
                    <a:p>
                      <a:r>
                        <a:rPr lang="en-US" dirty="0"/>
                        <a:t>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Easily combine API + UI flows (e.g., login via API, then test UI).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273636"/>
                  </a:ext>
                </a:extLst>
              </a:tr>
              <a:tr h="540047">
                <a:tc>
                  <a:txBody>
                    <a:bodyPr/>
                    <a:lstStyle/>
                    <a:p>
                      <a:r>
                        <a:rPr lang="en-US" dirty="0"/>
                        <a:t>Assertions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built-in expect matchers for response validation.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81025"/>
                  </a:ext>
                </a:extLst>
              </a:tr>
              <a:tr h="540047">
                <a:tc>
                  <a:txBody>
                    <a:bodyPr/>
                    <a:lstStyle/>
                    <a:p>
                      <a:r>
                        <a:rPr lang="en-US" dirty="0"/>
                        <a:t>No Extra Library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need for Postman, </a:t>
                      </a:r>
                      <a:r>
                        <a:rPr lang="en-US" dirty="0" err="1"/>
                        <a:t>SuperTest</a:t>
                      </a:r>
                      <a:r>
                        <a:rPr lang="en-US" dirty="0"/>
                        <a:t>, etc. — everything is in Playwright.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4405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6976" y="643180"/>
            <a:ext cx="87078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 err="1"/>
              <a:t>APIRequestContext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A special context provided by Playwright to send HTTP requests.</a:t>
            </a:r>
          </a:p>
          <a:p>
            <a:pPr marL="0" indent="0">
              <a:buNone/>
            </a:pPr>
            <a:r>
              <a:rPr lang="en-US" b="1" dirty="0"/>
              <a:t>Common Methods: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88112C09-E15F-F048-C60B-8D95C1243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Key Concepts &amp; Methods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8B14A8B-29AC-4414-ADDA-4B916C470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406117"/>
              </p:ext>
            </p:extLst>
          </p:nvPr>
        </p:nvGraphicFramePr>
        <p:xfrm>
          <a:off x="506913" y="1455493"/>
          <a:ext cx="8128000" cy="25841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97383319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5397312"/>
                    </a:ext>
                  </a:extLst>
                </a:gridCol>
              </a:tblGrid>
              <a:tr h="430696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623018"/>
                  </a:ext>
                </a:extLst>
              </a:tr>
              <a:tr h="430696">
                <a:tc>
                  <a:txBody>
                    <a:bodyPr/>
                    <a:lstStyle/>
                    <a:p>
                      <a:r>
                        <a:rPr lang="en-US" dirty="0"/>
                        <a:t>get(</a:t>
                      </a:r>
                      <a:r>
                        <a:rPr lang="en-US" dirty="0" err="1"/>
                        <a:t>url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Perform GET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851840"/>
                  </a:ext>
                </a:extLst>
              </a:tr>
              <a:tr h="430696">
                <a:tc>
                  <a:txBody>
                    <a:bodyPr/>
                    <a:lstStyle/>
                    <a:p>
                      <a:r>
                        <a:rPr lang="en-US"/>
                        <a:t>post(url, { data 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POST with JSON body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593249"/>
                  </a:ext>
                </a:extLst>
              </a:tr>
              <a:tr h="430696">
                <a:tc>
                  <a:txBody>
                    <a:bodyPr/>
                    <a:lstStyle/>
                    <a:p>
                      <a:r>
                        <a:rPr lang="en-US"/>
                        <a:t>put(url, { data 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PUT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640566"/>
                  </a:ext>
                </a:extLst>
              </a:tr>
              <a:tr h="430696">
                <a:tc>
                  <a:txBody>
                    <a:bodyPr/>
                    <a:lstStyle/>
                    <a:p>
                      <a:r>
                        <a:rPr lang="en-US"/>
                        <a:t>delete(url)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DELETE resource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830156"/>
                  </a:ext>
                </a:extLst>
              </a:tr>
              <a:tr h="430696">
                <a:tc>
                  <a:txBody>
                    <a:bodyPr/>
                    <a:lstStyle/>
                    <a:p>
                      <a:r>
                        <a:rPr lang="en-US"/>
                        <a:t>fetch(url, options)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Raw low-level HTTP call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9194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6417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import { test, expect, request } from '@playwright/test';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test('GET users list', async () =&gt; {</a:t>
            </a:r>
          </a:p>
          <a:p>
            <a:pPr marL="0" indent="0">
              <a:buNone/>
            </a:pPr>
            <a:r>
              <a:rPr lang="en-US" dirty="0"/>
              <a:t>  const </a:t>
            </a:r>
            <a:r>
              <a:rPr lang="en-US" dirty="0" err="1"/>
              <a:t>apiContext</a:t>
            </a:r>
            <a:r>
              <a:rPr lang="en-US" dirty="0"/>
              <a:t> = await </a:t>
            </a:r>
            <a:r>
              <a:rPr lang="en-US" dirty="0" err="1"/>
              <a:t>request.newContext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const response = await </a:t>
            </a:r>
            <a:r>
              <a:rPr lang="en-US" dirty="0" err="1"/>
              <a:t>apiContext.get</a:t>
            </a:r>
            <a:r>
              <a:rPr lang="en-US" dirty="0"/>
              <a:t>('https://reqres.in/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users?page</a:t>
            </a:r>
            <a:r>
              <a:rPr lang="en-US" dirty="0"/>
              <a:t>=2');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expect(</a:t>
            </a:r>
            <a:r>
              <a:rPr lang="en-US" dirty="0" err="1"/>
              <a:t>response.ok</a:t>
            </a:r>
            <a:r>
              <a:rPr lang="en-US" dirty="0"/>
              <a:t>()).</a:t>
            </a:r>
            <a:r>
              <a:rPr lang="en-US" dirty="0" err="1"/>
              <a:t>toBeTruthy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const body = await </a:t>
            </a:r>
            <a:r>
              <a:rPr lang="en-US" dirty="0" err="1"/>
              <a:t>response.json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expect(</a:t>
            </a:r>
            <a:r>
              <a:rPr lang="en-US" dirty="0" err="1"/>
              <a:t>body.data</a:t>
            </a:r>
            <a:r>
              <a:rPr lang="en-US" dirty="0"/>
              <a:t>).</a:t>
            </a:r>
            <a:r>
              <a:rPr lang="en-US" dirty="0" err="1"/>
              <a:t>toBeInstanceOf</a:t>
            </a:r>
            <a:r>
              <a:rPr lang="en-US" dirty="0"/>
              <a:t>(Array);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1DD9EE2F-68CE-C77E-A17B-58E36E2804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Example: Basic API Test</a:t>
            </a:r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309966" y="674176"/>
            <a:ext cx="8349712" cy="47424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EE931-E0B6-EA2B-4C2A-20ECB0357241}"/>
              </a:ext>
            </a:extLst>
          </p:cNvPr>
          <p:cNvSpPr txBox="1"/>
          <p:nvPr/>
        </p:nvSpPr>
        <p:spPr>
          <a:xfrm>
            <a:off x="309966" y="674176"/>
            <a:ext cx="84911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Example: Login and use token</a:t>
            </a:r>
          </a:p>
          <a:p>
            <a:pPr marL="0" indent="0">
              <a:buNone/>
            </a:pPr>
            <a:r>
              <a:rPr lang="en-US" dirty="0"/>
              <a:t>test('Authenticated API test', async () =&gt; {</a:t>
            </a:r>
          </a:p>
          <a:p>
            <a:pPr marL="0" indent="0">
              <a:buNone/>
            </a:pPr>
            <a:r>
              <a:rPr lang="en-US" dirty="0"/>
              <a:t>  const </a:t>
            </a:r>
            <a:r>
              <a:rPr lang="en-US" dirty="0" err="1"/>
              <a:t>apiContext</a:t>
            </a:r>
            <a:r>
              <a:rPr lang="en-US" dirty="0"/>
              <a:t> = await </a:t>
            </a:r>
            <a:r>
              <a:rPr lang="en-US" dirty="0" err="1"/>
              <a:t>request.newContext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const </a:t>
            </a:r>
            <a:r>
              <a:rPr lang="en-US" dirty="0" err="1"/>
              <a:t>loginRes</a:t>
            </a:r>
            <a:r>
              <a:rPr lang="en-US" dirty="0"/>
              <a:t> = await </a:t>
            </a:r>
            <a:r>
              <a:rPr lang="en-US" dirty="0" err="1"/>
              <a:t>apiContext.post</a:t>
            </a:r>
            <a:r>
              <a:rPr lang="en-US" dirty="0"/>
              <a:t>('https://api.example.com/auth/login', {</a:t>
            </a:r>
          </a:p>
          <a:p>
            <a:pPr marL="0" indent="0">
              <a:buNone/>
            </a:pPr>
            <a:r>
              <a:rPr lang="en-US" dirty="0"/>
              <a:t>    data: {</a:t>
            </a:r>
          </a:p>
          <a:p>
            <a:pPr marL="0" indent="0">
              <a:buNone/>
            </a:pPr>
            <a:r>
              <a:rPr lang="en-US" dirty="0"/>
              <a:t>      email: 'user@example.com',</a:t>
            </a:r>
          </a:p>
          <a:p>
            <a:pPr marL="0" indent="0">
              <a:buNone/>
            </a:pPr>
            <a:r>
              <a:rPr lang="en-US" dirty="0"/>
              <a:t>      password: 'secret123'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});</a:t>
            </a:r>
          </a:p>
          <a:p>
            <a:pPr marL="0" indent="0">
              <a:buNone/>
            </a:pPr>
            <a:r>
              <a:rPr lang="en-US" dirty="0"/>
              <a:t>  const { token } = await </a:t>
            </a:r>
            <a:r>
              <a:rPr lang="en-US" dirty="0" err="1"/>
              <a:t>loginRes.json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// Use token in new context</a:t>
            </a:r>
          </a:p>
          <a:p>
            <a:pPr marL="0" indent="0">
              <a:buNone/>
            </a:pPr>
            <a:r>
              <a:rPr lang="en-US" dirty="0"/>
              <a:t>  const </a:t>
            </a:r>
            <a:r>
              <a:rPr lang="en-US" dirty="0" err="1"/>
              <a:t>authContext</a:t>
            </a:r>
            <a:r>
              <a:rPr lang="en-US" dirty="0"/>
              <a:t> = await </a:t>
            </a:r>
            <a:r>
              <a:rPr lang="en-US" dirty="0" err="1"/>
              <a:t>request.newContext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extraHTTPHeaders</a:t>
            </a:r>
            <a:r>
              <a:rPr lang="en-US" dirty="0"/>
              <a:t>: {</a:t>
            </a:r>
          </a:p>
          <a:p>
            <a:pPr marL="0" indent="0">
              <a:buNone/>
            </a:pPr>
            <a:r>
              <a:rPr lang="en-US" dirty="0"/>
              <a:t>      Authorization: `Bearer ${token}`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});</a:t>
            </a:r>
          </a:p>
          <a:p>
            <a:pPr marL="0" indent="0">
              <a:buNone/>
            </a:pPr>
            <a:r>
              <a:rPr lang="en-US" dirty="0"/>
              <a:t>  const </a:t>
            </a:r>
            <a:r>
              <a:rPr lang="en-US" dirty="0" err="1"/>
              <a:t>profileRes</a:t>
            </a:r>
            <a:r>
              <a:rPr lang="en-US" dirty="0"/>
              <a:t> = await </a:t>
            </a:r>
            <a:r>
              <a:rPr lang="en-US" dirty="0" err="1"/>
              <a:t>authContext.get</a:t>
            </a:r>
            <a:r>
              <a:rPr lang="en-US" dirty="0"/>
              <a:t>('https://api.example.com/me');</a:t>
            </a:r>
          </a:p>
          <a:p>
            <a:pPr marL="0" indent="0">
              <a:buNone/>
            </a:pPr>
            <a:r>
              <a:rPr lang="en-US" dirty="0"/>
              <a:t>  expect(</a:t>
            </a:r>
            <a:r>
              <a:rPr lang="en-US" dirty="0" err="1"/>
              <a:t>profileRes.ok</a:t>
            </a:r>
            <a:r>
              <a:rPr lang="en-US" dirty="0"/>
              <a:t>()).</a:t>
            </a:r>
            <a:r>
              <a:rPr lang="en-US" dirty="0" err="1"/>
              <a:t>toBeTruthy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Google Shape;82;p15">
            <a:extLst>
              <a:ext uri="{FF2B5EF4-FFF2-40B4-BE49-F238E27FC236}">
                <a16:creationId xmlns:a16="http://schemas.microsoft.com/office/drawing/2014/main" id="{2889BF4E-1075-F644-8B6D-68ADC79F5D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Authenticated API Testing</a:t>
            </a:r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CF99B6BF-6942-E09A-9381-856304F174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Handling Request Contexts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841F2-CD28-F2FB-DBD2-8560E0E06DD2}"/>
              </a:ext>
            </a:extLst>
          </p:cNvPr>
          <p:cNvSpPr txBox="1"/>
          <p:nvPr/>
        </p:nvSpPr>
        <p:spPr>
          <a:xfrm>
            <a:off x="234669" y="809205"/>
            <a:ext cx="662333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import { test as base, request } from '@playwright/test';</a:t>
            </a:r>
          </a:p>
          <a:p>
            <a:pPr marL="0" indent="0">
              <a:buNone/>
            </a:pPr>
            <a:r>
              <a:rPr lang="en-US" dirty="0"/>
              <a:t>export const test = </a:t>
            </a:r>
            <a:r>
              <a:rPr lang="en-US" dirty="0" err="1"/>
              <a:t>base.extend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apiClient</a:t>
            </a:r>
            <a:r>
              <a:rPr lang="en-US" dirty="0"/>
              <a:t>: async ({}, use) =&gt; {</a:t>
            </a:r>
          </a:p>
          <a:p>
            <a:pPr marL="0" indent="0">
              <a:buNone/>
            </a:pPr>
            <a:r>
              <a:rPr lang="en-US" dirty="0"/>
              <a:t>    const context = await </a:t>
            </a:r>
            <a:r>
              <a:rPr lang="en-US" dirty="0" err="1"/>
              <a:t>request.newContext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baseURL</a:t>
            </a:r>
            <a:r>
              <a:rPr lang="en-US" dirty="0"/>
              <a:t>: 'https://api.example.com'</a:t>
            </a:r>
          </a:p>
          <a:p>
            <a:pPr marL="0" indent="0">
              <a:buNone/>
            </a:pPr>
            <a:r>
              <a:rPr lang="en-US" dirty="0"/>
              <a:t>    });</a:t>
            </a:r>
          </a:p>
          <a:p>
            <a:pPr marL="0" indent="0">
              <a:buNone/>
            </a:pPr>
            <a:r>
              <a:rPr lang="en-US" dirty="0"/>
              <a:t>    await use(context);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/>
              <a:t>// tests/user-api.spec.js</a:t>
            </a:r>
          </a:p>
          <a:p>
            <a:pPr marL="0" indent="0">
              <a:buNone/>
            </a:pPr>
            <a:r>
              <a:rPr lang="en-US" dirty="0"/>
              <a:t>import { test, expect } from '../fixtures/</a:t>
            </a:r>
            <a:r>
              <a:rPr lang="en-US" dirty="0" err="1"/>
              <a:t>api</a:t>
            </a:r>
            <a:r>
              <a:rPr lang="en-US" dirty="0"/>
              <a:t>-fixture';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test('get current user', async ({ </a:t>
            </a:r>
            <a:r>
              <a:rPr lang="en-US" dirty="0" err="1"/>
              <a:t>apiClient</a:t>
            </a:r>
            <a:r>
              <a:rPr lang="en-US" dirty="0"/>
              <a:t> }) =&gt; {</a:t>
            </a:r>
          </a:p>
          <a:p>
            <a:pPr marL="0" indent="0">
              <a:buNone/>
            </a:pPr>
            <a:r>
              <a:rPr lang="en-US" dirty="0"/>
              <a:t>  const res = await </a:t>
            </a:r>
            <a:r>
              <a:rPr lang="en-US" dirty="0" err="1"/>
              <a:t>apiClient.get</a:t>
            </a:r>
            <a:r>
              <a:rPr lang="en-US" dirty="0"/>
              <a:t>('/me');</a:t>
            </a:r>
          </a:p>
          <a:p>
            <a:pPr marL="0" indent="0">
              <a:buNone/>
            </a:pPr>
            <a:r>
              <a:rPr lang="en-US" dirty="0"/>
              <a:t>  expect(</a:t>
            </a:r>
            <a:r>
              <a:rPr lang="en-US" dirty="0" err="1"/>
              <a:t>res.status</a:t>
            </a:r>
            <a:r>
              <a:rPr lang="en-US" dirty="0"/>
              <a:t>()).</a:t>
            </a:r>
            <a:r>
              <a:rPr lang="en-US" dirty="0" err="1"/>
              <a:t>toBe</a:t>
            </a:r>
            <a:r>
              <a:rPr lang="en-US" dirty="0"/>
              <a:t>(200);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76298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DFDA-4F02-50D7-26A0-62F183D4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Validating API Responses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ADF60-33D0-04CC-8806-3D7E62BBDE20}"/>
              </a:ext>
            </a:extLst>
          </p:cNvPr>
          <p:cNvSpPr txBox="1"/>
          <p:nvPr/>
        </p:nvSpPr>
        <p:spPr>
          <a:xfrm>
            <a:off x="162732" y="798163"/>
            <a:ext cx="876211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const res = await </a:t>
            </a:r>
            <a:r>
              <a:rPr lang="en-US" dirty="0" err="1"/>
              <a:t>apiContext.get</a:t>
            </a:r>
            <a:r>
              <a:rPr lang="en-US" dirty="0"/>
              <a:t>('/products/1');</a:t>
            </a:r>
          </a:p>
          <a:p>
            <a:pPr marL="0" indent="0">
              <a:buNone/>
            </a:pPr>
            <a:r>
              <a:rPr lang="en-US" dirty="0"/>
              <a:t>const body = await </a:t>
            </a:r>
            <a:r>
              <a:rPr lang="en-US" dirty="0" err="1"/>
              <a:t>res.json</a:t>
            </a:r>
            <a:r>
              <a:rPr lang="en-US" dirty="0"/>
              <a:t>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expect(</a:t>
            </a:r>
            <a:r>
              <a:rPr lang="en-US" dirty="0" err="1"/>
              <a:t>res.status</a:t>
            </a:r>
            <a:r>
              <a:rPr lang="en-US" dirty="0"/>
              <a:t>()).</a:t>
            </a:r>
            <a:r>
              <a:rPr lang="en-US" dirty="0" err="1"/>
              <a:t>toBe</a:t>
            </a:r>
            <a:r>
              <a:rPr lang="en-US" dirty="0"/>
              <a:t>(200);</a:t>
            </a:r>
          </a:p>
          <a:p>
            <a:pPr marL="0" indent="0">
              <a:buNone/>
            </a:pPr>
            <a:r>
              <a:rPr lang="en-US" dirty="0"/>
              <a:t>expect(body.name).</a:t>
            </a:r>
            <a:r>
              <a:rPr lang="en-US" dirty="0" err="1"/>
              <a:t>toBe</a:t>
            </a:r>
            <a:r>
              <a:rPr lang="en-US" dirty="0"/>
              <a:t>('iPhone 15');</a:t>
            </a:r>
          </a:p>
          <a:p>
            <a:pPr marL="0" indent="0">
              <a:buNone/>
            </a:pPr>
            <a:r>
              <a:rPr lang="en-US" dirty="0"/>
              <a:t>expect(</a:t>
            </a:r>
            <a:r>
              <a:rPr lang="en-US" dirty="0" err="1"/>
              <a:t>body.price</a:t>
            </a:r>
            <a:r>
              <a:rPr lang="en-US" dirty="0"/>
              <a:t>).</a:t>
            </a:r>
            <a:r>
              <a:rPr lang="en-US" dirty="0" err="1"/>
              <a:t>toBeGreaterThan</a:t>
            </a:r>
            <a:r>
              <a:rPr lang="en-US" dirty="0"/>
              <a:t>(1000);</a:t>
            </a:r>
          </a:p>
          <a:p>
            <a:endParaRPr lang="en-US" dirty="0"/>
          </a:p>
          <a:p>
            <a:r>
              <a:rPr lang="en-US" b="1" dirty="0"/>
              <a:t>Error Handling</a:t>
            </a:r>
          </a:p>
          <a:p>
            <a:pPr marL="0" indent="0">
              <a:buNone/>
            </a:pPr>
            <a:r>
              <a:rPr lang="en-US" dirty="0"/>
              <a:t>const res = await </a:t>
            </a:r>
            <a:r>
              <a:rPr lang="en-US" dirty="0" err="1"/>
              <a:t>apiContext.get</a:t>
            </a:r>
            <a:r>
              <a:rPr lang="en-US" dirty="0"/>
              <a:t>('/unknown-resource');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expect(</a:t>
            </a:r>
            <a:r>
              <a:rPr lang="en-US" dirty="0" err="1"/>
              <a:t>res.status</a:t>
            </a:r>
            <a:r>
              <a:rPr lang="en-US" dirty="0"/>
              <a:t>()).</a:t>
            </a:r>
            <a:r>
              <a:rPr lang="en-US" dirty="0" err="1"/>
              <a:t>toBe</a:t>
            </a:r>
            <a:r>
              <a:rPr lang="en-US" dirty="0"/>
              <a:t>(404);</a:t>
            </a:r>
          </a:p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errorMsg</a:t>
            </a:r>
            <a:r>
              <a:rPr lang="en-US" dirty="0"/>
              <a:t> = await </a:t>
            </a:r>
            <a:r>
              <a:rPr lang="en-US" dirty="0" err="1"/>
              <a:t>res.text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expect(</a:t>
            </a:r>
            <a:r>
              <a:rPr lang="en-US" dirty="0" err="1"/>
              <a:t>errorMsg</a:t>
            </a:r>
            <a:r>
              <a:rPr lang="en-US" dirty="0"/>
              <a:t>).</a:t>
            </a:r>
            <a:r>
              <a:rPr lang="en-US" dirty="0" err="1"/>
              <a:t>toContain</a:t>
            </a:r>
            <a:r>
              <a:rPr lang="en-US" dirty="0"/>
              <a:t>('Not Found');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481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90C1-F5F0-B656-3C0A-A8DA4AA8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68E09FC1-4AD8-4C9E-A984-8B661340DC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6169782"/>
              </p:ext>
            </p:extLst>
          </p:nvPr>
        </p:nvGraphicFramePr>
        <p:xfrm>
          <a:off x="655947" y="753014"/>
          <a:ext cx="7832106" cy="214517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16053">
                  <a:extLst>
                    <a:ext uri="{9D8B030D-6E8A-4147-A177-3AD203B41FA5}">
                      <a16:colId xmlns:a16="http://schemas.microsoft.com/office/drawing/2014/main" val="939426201"/>
                    </a:ext>
                  </a:extLst>
                </a:gridCol>
                <a:gridCol w="3916053">
                  <a:extLst>
                    <a:ext uri="{9D8B030D-6E8A-4147-A177-3AD203B41FA5}">
                      <a16:colId xmlns:a16="http://schemas.microsoft.com/office/drawing/2014/main" val="2247962458"/>
                    </a:ext>
                  </a:extLst>
                </a:gridCol>
              </a:tblGrid>
              <a:tr h="318936">
                <a:tc>
                  <a:txBody>
                    <a:bodyPr/>
                    <a:lstStyle/>
                    <a:p>
                      <a:r>
                        <a:rPr lang="en-US" dirty="0"/>
                        <a:t>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Why It Helps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9270482"/>
                  </a:ext>
                </a:extLst>
              </a:tr>
              <a:tr h="318936">
                <a:tc>
                  <a:txBody>
                    <a:bodyPr/>
                    <a:lstStyle/>
                    <a:p>
                      <a:r>
                        <a:rPr lang="en-US"/>
                        <a:t>Use request.newContext() with baseURL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Cleaner, shorter calls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288541"/>
                  </a:ext>
                </a:extLst>
              </a:tr>
              <a:tr h="550491">
                <a:tc>
                  <a:txBody>
                    <a:bodyPr/>
                    <a:lstStyle/>
                    <a:p>
                      <a:r>
                        <a:rPr lang="en-US" dirty="0"/>
                        <a:t>Avoid UI for setup (e.g. use API to create test 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Faster and more stable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1037580"/>
                  </a:ext>
                </a:extLst>
              </a:tr>
              <a:tr h="318936">
                <a:tc>
                  <a:txBody>
                    <a:bodyPr/>
                    <a:lstStyle/>
                    <a:p>
                      <a:r>
                        <a:rPr lang="en-US"/>
                        <a:t>Use fixtures for reusable clients or tokens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DRY your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133163"/>
                  </a:ext>
                </a:extLst>
              </a:tr>
              <a:tr h="318936">
                <a:tc>
                  <a:txBody>
                    <a:bodyPr/>
                    <a:lstStyle/>
                    <a:p>
                      <a:r>
                        <a:rPr lang="en-US"/>
                        <a:t>Chain API + UI only when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Keep unit and integration tests separate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914751"/>
                  </a:ext>
                </a:extLst>
              </a:tr>
              <a:tr h="318936">
                <a:tc>
                  <a:txBody>
                    <a:bodyPr/>
                    <a:lstStyle/>
                    <a:p>
                      <a:r>
                        <a:rPr lang="en-US"/>
                        <a:t>Use .ok(), .status() and .json() for full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Better test clarity and debugging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442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447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695D-A0EC-F5F2-E209-0CD6D157A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Table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8FA9A1D-EC05-47B5-ACC7-ED29819DE2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9230140"/>
              </p:ext>
            </p:extLst>
          </p:nvPr>
        </p:nvGraphicFramePr>
        <p:xfrm>
          <a:off x="830303" y="831222"/>
          <a:ext cx="7483394" cy="274888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41697">
                  <a:extLst>
                    <a:ext uri="{9D8B030D-6E8A-4147-A177-3AD203B41FA5}">
                      <a16:colId xmlns:a16="http://schemas.microsoft.com/office/drawing/2014/main" val="2338053580"/>
                    </a:ext>
                  </a:extLst>
                </a:gridCol>
                <a:gridCol w="3741697">
                  <a:extLst>
                    <a:ext uri="{9D8B030D-6E8A-4147-A177-3AD203B41FA5}">
                      <a16:colId xmlns:a16="http://schemas.microsoft.com/office/drawing/2014/main" val="1685158286"/>
                    </a:ext>
                  </a:extLst>
                </a:gridCol>
              </a:tblGrid>
              <a:tr h="392698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141440"/>
                  </a:ext>
                </a:extLst>
              </a:tr>
              <a:tr h="392698">
                <a:tc>
                  <a:txBody>
                    <a:bodyPr/>
                    <a:lstStyle/>
                    <a:p>
                      <a:r>
                        <a:rPr lang="en-US" dirty="0" err="1"/>
                        <a:t>request.newContext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Creates new API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058994"/>
                  </a:ext>
                </a:extLst>
              </a:tr>
              <a:tr h="392698">
                <a:tc>
                  <a:txBody>
                    <a:bodyPr/>
                    <a:lstStyle/>
                    <a:p>
                      <a:r>
                        <a:rPr lang="en-US"/>
                        <a:t>context.get()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Makes GET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200606"/>
                  </a:ext>
                </a:extLst>
              </a:tr>
              <a:tr h="392698">
                <a:tc>
                  <a:txBody>
                    <a:bodyPr/>
                    <a:lstStyle/>
                    <a:p>
                      <a:r>
                        <a:rPr lang="en-US"/>
                        <a:t>context.post()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Makes POST request with body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7156739"/>
                  </a:ext>
                </a:extLst>
              </a:tr>
              <a:tr h="392698">
                <a:tc>
                  <a:txBody>
                    <a:bodyPr/>
                    <a:lstStyle/>
                    <a:p>
                      <a:r>
                        <a:rPr lang="en-US"/>
                        <a:t>res.status()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Get status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10527"/>
                  </a:ext>
                </a:extLst>
              </a:tr>
              <a:tr h="392698">
                <a:tc>
                  <a:txBody>
                    <a:bodyPr/>
                    <a:lstStyle/>
                    <a:p>
                      <a:r>
                        <a:rPr lang="en-US"/>
                        <a:t>res.json()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Parse JSON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368192"/>
                  </a:ext>
                </a:extLst>
              </a:tr>
              <a:tr h="392698">
                <a:tc>
                  <a:txBody>
                    <a:bodyPr/>
                    <a:lstStyle/>
                    <a:p>
                      <a:r>
                        <a:rPr lang="en-US"/>
                        <a:t>Use in addInitScript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 token for UI after API login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769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04331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762</Words>
  <Application>Microsoft Office PowerPoint</Application>
  <PresentationFormat>On-screen Show (16:9)</PresentationFormat>
  <Paragraphs>122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Arial</vt:lpstr>
      <vt:lpstr>Roboto</vt:lpstr>
      <vt:lpstr>Material</vt:lpstr>
      <vt:lpstr>API Testing with Playwright</vt:lpstr>
      <vt:lpstr>What is API Testing in Playwright?</vt:lpstr>
      <vt:lpstr>Key Concepts &amp; Methods</vt:lpstr>
      <vt:lpstr>Example: Basic API Test</vt:lpstr>
      <vt:lpstr>Authenticated API Testing</vt:lpstr>
      <vt:lpstr>Handling Request Contexts</vt:lpstr>
      <vt:lpstr>Validating API Responses</vt:lpstr>
      <vt:lpstr>Best Practices</vt:lpstr>
      <vt:lpstr>Summary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71</cp:revision>
  <dcterms:modified xsi:type="dcterms:W3CDTF">2025-08-26T13:26:58Z</dcterms:modified>
</cp:coreProperties>
</file>
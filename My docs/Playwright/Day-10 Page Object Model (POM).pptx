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8" r:id="rId3"/>
    <p:sldId id="265" r:id="rId4"/>
    <p:sldId id="266" r:id="rId5"/>
    <p:sldId id="267" r:id="rId6"/>
    <p:sldId id="268" r:id="rId7"/>
    <p:sldId id="270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App</a:t>
            </a:r>
            <a:r>
              <a:rPr lang="en-US" dirty="0"/>
              <a:t>lication programming Interface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224" y="1819275"/>
            <a:ext cx="8903776" cy="933600"/>
          </a:xfrm>
        </p:spPr>
        <p:txBody>
          <a:bodyPr/>
          <a:lstStyle/>
          <a:p>
            <a:r>
              <a:rPr lang="en-US" dirty="0"/>
              <a:t>Page Object Model (POM)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What is Page Object Model (POM)?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8700" y="709277"/>
            <a:ext cx="88266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Page Object Model (POM) is a design pattern in test automation where web page elements and actions are encapsulated into separate classes or modules.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Each page of your application gets a corresponding Page Object.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Why Use POM?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41D4BBE7-3BDD-4550-A594-8EAE26DCAF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6733051"/>
              </p:ext>
            </p:extLst>
          </p:nvPr>
        </p:nvGraphicFramePr>
        <p:xfrm>
          <a:off x="628623" y="2143335"/>
          <a:ext cx="7886754" cy="2377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43377">
                  <a:extLst>
                    <a:ext uri="{9D8B030D-6E8A-4147-A177-3AD203B41FA5}">
                      <a16:colId xmlns:a16="http://schemas.microsoft.com/office/drawing/2014/main" val="797880340"/>
                    </a:ext>
                  </a:extLst>
                </a:gridCol>
                <a:gridCol w="3943377">
                  <a:extLst>
                    <a:ext uri="{9D8B030D-6E8A-4147-A177-3AD203B41FA5}">
                      <a16:colId xmlns:a16="http://schemas.microsoft.com/office/drawing/2014/main" val="877472738"/>
                    </a:ext>
                  </a:extLst>
                </a:gridCol>
              </a:tblGrid>
              <a:tr h="240656">
                <a:tc>
                  <a:txBody>
                    <a:bodyPr/>
                    <a:lstStyle/>
                    <a:p>
                      <a:r>
                        <a:rPr lang="en-US" dirty="0"/>
                        <a:t>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888359"/>
                  </a:ext>
                </a:extLst>
              </a:tr>
              <a:tr h="415380">
                <a:tc>
                  <a:txBody>
                    <a:bodyPr/>
                    <a:lstStyle/>
                    <a:p>
                      <a:r>
                        <a:rPr lang="en-US" b="1"/>
                        <a:t>Maintainability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Easier to update selectors and flows when the UI changes.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0477929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r>
                        <a:rPr lang="en-US" b="1"/>
                        <a:t>Reusability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Encapsulated methods can be reused across tests.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989023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r>
                        <a:rPr lang="en-US" b="1"/>
                        <a:t>Readability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Tests become more readable and behavior-driven.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0150605"/>
                  </a:ext>
                </a:extLst>
              </a:tr>
              <a:tr h="240656">
                <a:tc>
                  <a:txBody>
                    <a:bodyPr/>
                    <a:lstStyle/>
                    <a:p>
                      <a:r>
                        <a:rPr lang="en-US" b="1"/>
                        <a:t>Separation of concerns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Keeps test logic and page interactions separate.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12141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7354D1-F7B1-4CD9-0967-BC5418FB99E3}"/>
              </a:ext>
            </a:extLst>
          </p:cNvPr>
          <p:cNvSpPr txBox="1"/>
          <p:nvPr/>
        </p:nvSpPr>
        <p:spPr>
          <a:xfrm>
            <a:off x="216976" y="643180"/>
            <a:ext cx="870787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export class </a:t>
            </a:r>
            <a:r>
              <a:rPr lang="en-US" dirty="0" err="1"/>
              <a:t>LoginPage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/**</a:t>
            </a:r>
          </a:p>
          <a:p>
            <a:pPr marL="0" indent="0">
              <a:buNone/>
            </a:pPr>
            <a:r>
              <a:rPr lang="en-US" dirty="0"/>
              <a:t>   * @param {import('@playwright/test').Page} page</a:t>
            </a:r>
          </a:p>
          <a:p>
            <a:pPr marL="0" indent="0">
              <a:buNone/>
            </a:pPr>
            <a:r>
              <a:rPr lang="en-US" dirty="0"/>
              <a:t>   */</a:t>
            </a:r>
          </a:p>
          <a:p>
            <a:pPr marL="0" indent="0">
              <a:buNone/>
            </a:pPr>
            <a:r>
              <a:rPr lang="en-US" dirty="0"/>
              <a:t>  constructor(page)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this.page</a:t>
            </a:r>
            <a:r>
              <a:rPr lang="en-US" dirty="0"/>
              <a:t> = page;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this.usernameInput</a:t>
            </a:r>
            <a:r>
              <a:rPr lang="en-US" dirty="0"/>
              <a:t> = </a:t>
            </a:r>
            <a:r>
              <a:rPr lang="en-US" dirty="0" err="1"/>
              <a:t>page.locator</a:t>
            </a:r>
            <a:r>
              <a:rPr lang="en-US" dirty="0"/>
              <a:t>('#username');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this.passwordInput</a:t>
            </a:r>
            <a:r>
              <a:rPr lang="en-US" dirty="0"/>
              <a:t> = </a:t>
            </a:r>
            <a:r>
              <a:rPr lang="en-US" dirty="0" err="1"/>
              <a:t>page.locator</a:t>
            </a:r>
            <a:r>
              <a:rPr lang="en-US" dirty="0"/>
              <a:t>('#password');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this.loginButton</a:t>
            </a:r>
            <a:r>
              <a:rPr lang="en-US" dirty="0"/>
              <a:t> = </a:t>
            </a:r>
            <a:r>
              <a:rPr lang="en-US" dirty="0" err="1"/>
              <a:t>page.locator</a:t>
            </a:r>
            <a:r>
              <a:rPr lang="en-US" dirty="0"/>
              <a:t>('button[type="submit"]');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async </a:t>
            </a:r>
            <a:r>
              <a:rPr lang="en-US" dirty="0" err="1"/>
              <a:t>goto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await </a:t>
            </a:r>
            <a:r>
              <a:rPr lang="en-US" dirty="0" err="1"/>
              <a:t>this.page.goto</a:t>
            </a:r>
            <a:r>
              <a:rPr lang="en-US" dirty="0"/>
              <a:t>('https://example.com/login');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  async login(username, password) {</a:t>
            </a:r>
          </a:p>
          <a:p>
            <a:pPr marL="0" indent="0">
              <a:buNone/>
            </a:pPr>
            <a:r>
              <a:rPr lang="en-US" dirty="0"/>
              <a:t>    await </a:t>
            </a:r>
            <a:r>
              <a:rPr lang="en-US" dirty="0" err="1"/>
              <a:t>this.usernameInput.fill</a:t>
            </a:r>
            <a:r>
              <a:rPr lang="en-US" dirty="0"/>
              <a:t>(username);</a:t>
            </a:r>
          </a:p>
          <a:p>
            <a:pPr marL="0" indent="0">
              <a:buNone/>
            </a:pPr>
            <a:r>
              <a:rPr lang="en-US" dirty="0"/>
              <a:t>    await </a:t>
            </a:r>
            <a:r>
              <a:rPr lang="en-US" dirty="0" err="1"/>
              <a:t>this.passwordInput.fill</a:t>
            </a:r>
            <a:r>
              <a:rPr lang="en-US" dirty="0"/>
              <a:t>(password);</a:t>
            </a:r>
          </a:p>
          <a:p>
            <a:pPr marL="0" indent="0">
              <a:buNone/>
            </a:pPr>
            <a:r>
              <a:rPr lang="en-US" dirty="0"/>
              <a:t>    await </a:t>
            </a:r>
            <a:r>
              <a:rPr lang="en-US" dirty="0" err="1"/>
              <a:t>this.loginButton.click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Google Shape;82;p15">
            <a:extLst>
              <a:ext uri="{FF2B5EF4-FFF2-40B4-BE49-F238E27FC236}">
                <a16:creationId xmlns:a16="http://schemas.microsoft.com/office/drawing/2014/main" id="{88112C09-E15F-F048-C60B-8D95C1243F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dirty="0"/>
              <a:t>Example: Login Page (POM)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283931" y="674177"/>
            <a:ext cx="8576137" cy="46417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dirty="0"/>
              <a:t>import { test, expect } from '@playwright/test';</a:t>
            </a:r>
          </a:p>
          <a:p>
            <a:pPr marL="0" indent="0">
              <a:buNone/>
            </a:pPr>
            <a:r>
              <a:rPr lang="en-US" dirty="0"/>
              <a:t>import { </a:t>
            </a:r>
            <a:r>
              <a:rPr lang="en-US" dirty="0" err="1"/>
              <a:t>LoginPage</a:t>
            </a:r>
            <a:r>
              <a:rPr lang="en-US" dirty="0"/>
              <a:t> } from '../pages/LoginPage.js';</a:t>
            </a:r>
          </a:p>
          <a:p>
            <a:pPr marL="0" indent="0">
              <a:buNone/>
            </a:pPr>
            <a:r>
              <a:rPr lang="en-US" dirty="0"/>
              <a:t>test('valid login', async ({ page }) =&gt; {</a:t>
            </a:r>
          </a:p>
          <a:p>
            <a:pPr marL="0" indent="0">
              <a:buNone/>
            </a:pPr>
            <a:r>
              <a:rPr lang="en-US" dirty="0"/>
              <a:t>  const </a:t>
            </a:r>
            <a:r>
              <a:rPr lang="en-US" dirty="0" err="1"/>
              <a:t>loginPage</a:t>
            </a:r>
            <a:r>
              <a:rPr lang="en-US" dirty="0"/>
              <a:t> = new </a:t>
            </a:r>
            <a:r>
              <a:rPr lang="en-US" dirty="0" err="1"/>
              <a:t>LoginPage</a:t>
            </a:r>
            <a:r>
              <a:rPr lang="en-US" dirty="0"/>
              <a:t>(page);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loginPage.goto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loginPage.login</a:t>
            </a:r>
            <a:r>
              <a:rPr lang="en-US" dirty="0"/>
              <a:t>('admin', 'password123');</a:t>
            </a:r>
          </a:p>
          <a:p>
            <a:pPr marL="0" indent="0">
              <a:buNone/>
            </a:pPr>
            <a:r>
              <a:rPr lang="en-US" dirty="0"/>
              <a:t>  await expect(page).</a:t>
            </a:r>
            <a:r>
              <a:rPr lang="en-US" dirty="0" err="1"/>
              <a:t>toHaveURL</a:t>
            </a:r>
            <a:r>
              <a:rPr lang="en-US" dirty="0"/>
              <a:t>('https://example.com/dashboard');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Additional Page Examples</a:t>
            </a:r>
          </a:p>
          <a:p>
            <a:pPr marL="0" indent="0">
              <a:buNone/>
            </a:pPr>
            <a:r>
              <a:rPr lang="en-US" dirty="0"/>
              <a:t>pages/DashboardPage.js:</a:t>
            </a:r>
          </a:p>
          <a:p>
            <a:pPr marL="0" indent="0">
              <a:buNone/>
            </a:pPr>
            <a:r>
              <a:rPr lang="en-US" dirty="0"/>
              <a:t>export class </a:t>
            </a:r>
            <a:r>
              <a:rPr lang="en-US" dirty="0" err="1"/>
              <a:t>DashboardPage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constructor(page)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this.page</a:t>
            </a:r>
            <a:r>
              <a:rPr lang="en-US" dirty="0"/>
              <a:t> = page;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this.welcomeMessage</a:t>
            </a:r>
            <a:r>
              <a:rPr lang="en-US" dirty="0"/>
              <a:t> = </a:t>
            </a:r>
            <a:r>
              <a:rPr lang="en-US" dirty="0" err="1"/>
              <a:t>page.locator</a:t>
            </a:r>
            <a:r>
              <a:rPr lang="en-US" dirty="0"/>
              <a:t>('h1');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  async </a:t>
            </a:r>
            <a:r>
              <a:rPr lang="en-US" dirty="0" err="1"/>
              <a:t>isLoaded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await expect(</a:t>
            </a:r>
            <a:r>
              <a:rPr lang="en-US" dirty="0" err="1"/>
              <a:t>this.welcomeMessage</a:t>
            </a:r>
            <a:r>
              <a:rPr lang="en-US" dirty="0"/>
              <a:t>).</a:t>
            </a:r>
            <a:r>
              <a:rPr lang="en-US" dirty="0" err="1"/>
              <a:t>toHaveText</a:t>
            </a:r>
            <a:r>
              <a:rPr lang="en-US" dirty="0"/>
              <a:t>('Welcome, Admin');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309966" y="674176"/>
            <a:ext cx="8349712" cy="47424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FEE931-E0B6-EA2B-4C2A-20ECB0357241}"/>
              </a:ext>
            </a:extLst>
          </p:cNvPr>
          <p:cNvSpPr txBox="1"/>
          <p:nvPr/>
        </p:nvSpPr>
        <p:spPr>
          <a:xfrm>
            <a:off x="309966" y="674176"/>
            <a:ext cx="849113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import { </a:t>
            </a:r>
            <a:r>
              <a:rPr lang="en-US" dirty="0" err="1"/>
              <a:t>LoginPage</a:t>
            </a:r>
            <a:r>
              <a:rPr lang="en-US" dirty="0"/>
              <a:t> } from '../pages/</a:t>
            </a:r>
            <a:r>
              <a:rPr lang="en-US" dirty="0" err="1"/>
              <a:t>LoginPage</a:t>
            </a:r>
            <a:r>
              <a:rPr lang="en-US" dirty="0"/>
              <a:t>';</a:t>
            </a:r>
          </a:p>
          <a:p>
            <a:pPr marL="0" indent="0">
              <a:buNone/>
            </a:pPr>
            <a:r>
              <a:rPr lang="en-US" dirty="0"/>
              <a:t>import { </a:t>
            </a:r>
            <a:r>
              <a:rPr lang="en-US" dirty="0" err="1"/>
              <a:t>DashboardPage</a:t>
            </a:r>
            <a:r>
              <a:rPr lang="en-US" dirty="0"/>
              <a:t> } from '../pages/</a:t>
            </a:r>
            <a:r>
              <a:rPr lang="en-US" dirty="0" err="1"/>
              <a:t>DashboardPage</a:t>
            </a:r>
            <a:r>
              <a:rPr lang="en-US" dirty="0"/>
              <a:t>';</a:t>
            </a:r>
          </a:p>
          <a:p>
            <a:pPr marL="0" indent="0">
              <a:buNone/>
            </a:pPr>
            <a:r>
              <a:rPr lang="en-US" dirty="0"/>
              <a:t>test('dashboard appears after login', async ({ page }) =&gt; {</a:t>
            </a:r>
          </a:p>
          <a:p>
            <a:pPr marL="0" indent="0">
              <a:buNone/>
            </a:pPr>
            <a:r>
              <a:rPr lang="en-US" dirty="0"/>
              <a:t>  const login = new </a:t>
            </a:r>
            <a:r>
              <a:rPr lang="en-US" dirty="0" err="1"/>
              <a:t>LoginPage</a:t>
            </a:r>
            <a:r>
              <a:rPr lang="en-US" dirty="0"/>
              <a:t>(page);</a:t>
            </a:r>
          </a:p>
          <a:p>
            <a:pPr marL="0" indent="0">
              <a:buNone/>
            </a:pPr>
            <a:r>
              <a:rPr lang="en-US" dirty="0"/>
              <a:t>  const dashboard = new </a:t>
            </a:r>
            <a:r>
              <a:rPr lang="en-US" dirty="0" err="1"/>
              <a:t>DashboardPage</a:t>
            </a:r>
            <a:r>
              <a:rPr lang="en-US" dirty="0"/>
              <a:t>(page);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login.goto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login.login</a:t>
            </a:r>
            <a:r>
              <a:rPr lang="en-US" dirty="0"/>
              <a:t>('admin', 'password123');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dashboard.isLoaded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r>
              <a:rPr lang="en-US" b="1" dirty="0"/>
              <a:t>Best Practices</a:t>
            </a:r>
            <a:br>
              <a:rPr lang="en-US" dirty="0"/>
            </a:b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Google Shape;82;p15">
            <a:extLst>
              <a:ext uri="{FF2B5EF4-FFF2-40B4-BE49-F238E27FC236}">
                <a16:creationId xmlns:a16="http://schemas.microsoft.com/office/drawing/2014/main" id="{2889BF4E-1075-F644-8B6D-68ADC79F5D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dirty="0"/>
              <a:t>Combine Pages in a Test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9E826C-6DD3-4843-BB72-4CA6C12CCF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7610157"/>
              </p:ext>
            </p:extLst>
          </p:nvPr>
        </p:nvGraphicFramePr>
        <p:xfrm>
          <a:off x="75278" y="2909084"/>
          <a:ext cx="8960510" cy="221806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480255">
                  <a:extLst>
                    <a:ext uri="{9D8B030D-6E8A-4147-A177-3AD203B41FA5}">
                      <a16:colId xmlns:a16="http://schemas.microsoft.com/office/drawing/2014/main" val="3673756913"/>
                    </a:ext>
                  </a:extLst>
                </a:gridCol>
                <a:gridCol w="4480255">
                  <a:extLst>
                    <a:ext uri="{9D8B030D-6E8A-4147-A177-3AD203B41FA5}">
                      <a16:colId xmlns:a16="http://schemas.microsoft.com/office/drawing/2014/main" val="841329971"/>
                    </a:ext>
                  </a:extLst>
                </a:gridCol>
              </a:tblGrid>
              <a:tr h="278504">
                <a:tc>
                  <a:txBody>
                    <a:bodyPr/>
                    <a:lstStyle/>
                    <a:p>
                      <a:r>
                        <a:rPr lang="en-US" dirty="0"/>
                        <a:t>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Benefit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1585476"/>
                  </a:ext>
                </a:extLst>
              </a:tr>
              <a:tr h="480706">
                <a:tc>
                  <a:txBody>
                    <a:bodyPr/>
                    <a:lstStyle/>
                    <a:p>
                      <a:r>
                        <a:rPr lang="en-US"/>
                        <a:t>Use </a:t>
                      </a:r>
                      <a:r>
                        <a:rPr lang="en-US" b="1"/>
                        <a:t>clear method names</a:t>
                      </a:r>
                      <a:r>
                        <a:rPr lang="en-US"/>
                        <a:t> like submitLogin() or navigateToSettings()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Improves test readability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9926"/>
                  </a:ext>
                </a:extLst>
              </a:tr>
              <a:tr h="278504">
                <a:tc>
                  <a:txBody>
                    <a:bodyPr/>
                    <a:lstStyle/>
                    <a:p>
                      <a:r>
                        <a:rPr lang="en-US" dirty="0"/>
                        <a:t>Avoid hardcoded selectors in tests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Centralize them in Page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5827099"/>
                  </a:ext>
                </a:extLst>
              </a:tr>
              <a:tr h="278504">
                <a:tc>
                  <a:txBody>
                    <a:bodyPr/>
                    <a:lstStyle/>
                    <a:p>
                      <a:r>
                        <a:rPr lang="en-US"/>
                        <a:t>Group related actions together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Keep classes focused on a single page/component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8942293"/>
                  </a:ext>
                </a:extLst>
              </a:tr>
              <a:tr h="480706">
                <a:tc>
                  <a:txBody>
                    <a:bodyPr/>
                    <a:lstStyle/>
                    <a:p>
                      <a:r>
                        <a:rPr lang="en-US"/>
                        <a:t>Don’t add assertions in Page Object (unless reusable)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Keeps page logic and test validation separate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7040114"/>
                  </a:ext>
                </a:extLst>
              </a:tr>
              <a:tr h="278504">
                <a:tc>
                  <a:txBody>
                    <a:bodyPr/>
                    <a:lstStyle/>
                    <a:p>
                      <a:r>
                        <a:rPr lang="en-US"/>
                        <a:t>Use </a:t>
                      </a:r>
                      <a:r>
                        <a:rPr lang="en-US" b="1"/>
                        <a:t>Playwright fixtures</a:t>
                      </a:r>
                      <a:r>
                        <a:rPr lang="en-US"/>
                        <a:t> to inject pages cleanly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Combine POM with </a:t>
                      </a:r>
                      <a:r>
                        <a:rPr lang="en-US" dirty="0" err="1"/>
                        <a:t>test.extend</a:t>
                      </a:r>
                      <a:r>
                        <a:rPr lang="en-US" dirty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8714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2;p15">
            <a:extLst>
              <a:ext uri="{FF2B5EF4-FFF2-40B4-BE49-F238E27FC236}">
                <a16:creationId xmlns:a16="http://schemas.microsoft.com/office/drawing/2014/main" id="{06F83887-C8B4-CD57-47FC-E403A24124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1"/>
            <a:r>
              <a:rPr lang="en-US" dirty="0"/>
              <a:t>Advanced: Factory or Fixture-based POM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AFBD1-2EE3-92FC-95AF-300102E910E2}"/>
              </a:ext>
            </a:extLst>
          </p:cNvPr>
          <p:cNvSpPr txBox="1"/>
          <p:nvPr/>
        </p:nvSpPr>
        <p:spPr>
          <a:xfrm>
            <a:off x="232475" y="805912"/>
            <a:ext cx="6625525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Use Fixtures to Inject Page Objects:</a:t>
            </a:r>
          </a:p>
          <a:p>
            <a:pPr marL="0" indent="0">
              <a:buNone/>
            </a:pPr>
            <a:r>
              <a:rPr lang="en-US" dirty="0"/>
              <a:t>// fixtures/pages-fixture.js</a:t>
            </a:r>
          </a:p>
          <a:p>
            <a:pPr marL="0" indent="0">
              <a:buNone/>
            </a:pPr>
            <a:r>
              <a:rPr lang="en-US" dirty="0"/>
              <a:t>import { test as base } from '@playwright/test';</a:t>
            </a:r>
          </a:p>
          <a:p>
            <a:pPr marL="0" indent="0">
              <a:buNone/>
            </a:pPr>
            <a:r>
              <a:rPr lang="en-US" dirty="0"/>
              <a:t>import { </a:t>
            </a:r>
            <a:r>
              <a:rPr lang="en-US" dirty="0" err="1"/>
              <a:t>LoginPage</a:t>
            </a:r>
            <a:r>
              <a:rPr lang="en-US" dirty="0"/>
              <a:t> } from '../pages/</a:t>
            </a:r>
            <a:r>
              <a:rPr lang="en-US" dirty="0" err="1"/>
              <a:t>LoginPage</a:t>
            </a:r>
            <a:r>
              <a:rPr lang="en-US" dirty="0"/>
              <a:t>';</a:t>
            </a:r>
          </a:p>
          <a:p>
            <a:pPr marL="0" indent="0">
              <a:buNone/>
            </a:pPr>
            <a:r>
              <a:rPr lang="en-US" dirty="0"/>
              <a:t>export const test = </a:t>
            </a:r>
            <a:r>
              <a:rPr lang="en-US" dirty="0" err="1"/>
              <a:t>base.extend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loginPage</a:t>
            </a:r>
            <a:r>
              <a:rPr lang="en-US" dirty="0"/>
              <a:t>: async ({ page }, use) =&gt; {</a:t>
            </a:r>
          </a:p>
          <a:p>
            <a:pPr marL="0" indent="0">
              <a:buNone/>
            </a:pPr>
            <a:r>
              <a:rPr lang="en-US" dirty="0"/>
              <a:t>    await use(new </a:t>
            </a:r>
            <a:r>
              <a:rPr lang="en-US" dirty="0" err="1"/>
              <a:t>LoginPage</a:t>
            </a:r>
            <a:r>
              <a:rPr lang="en-US" dirty="0"/>
              <a:t>(page));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r>
              <a:rPr lang="en-US" dirty="0"/>
              <a:t>// tests/login.spec.js</a:t>
            </a:r>
          </a:p>
          <a:p>
            <a:pPr marL="0" indent="0">
              <a:buNone/>
            </a:pPr>
            <a:r>
              <a:rPr lang="en-US" dirty="0"/>
              <a:t>import { test } from '../fixtures/pages-fixture';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test('login with fixture', async ({ </a:t>
            </a:r>
            <a:r>
              <a:rPr lang="en-US" dirty="0" err="1"/>
              <a:t>loginPage</a:t>
            </a:r>
            <a:r>
              <a:rPr lang="en-US" dirty="0"/>
              <a:t> }) =&gt; {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loginPage.goto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loginPage.login</a:t>
            </a:r>
            <a:r>
              <a:rPr lang="en-US" dirty="0"/>
              <a:t>('user', 'pass');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180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DFDA-4F02-50D7-26A0-62F183D4B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Table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615BB5D-13E6-4D4C-A91F-3913913CF4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4878789"/>
              </p:ext>
            </p:extLst>
          </p:nvPr>
        </p:nvGraphicFramePr>
        <p:xfrm>
          <a:off x="648176" y="915607"/>
          <a:ext cx="7726748" cy="21350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63374">
                  <a:extLst>
                    <a:ext uri="{9D8B030D-6E8A-4147-A177-3AD203B41FA5}">
                      <a16:colId xmlns:a16="http://schemas.microsoft.com/office/drawing/2014/main" val="3151821945"/>
                    </a:ext>
                  </a:extLst>
                </a:gridCol>
                <a:gridCol w="3863374">
                  <a:extLst>
                    <a:ext uri="{9D8B030D-6E8A-4147-A177-3AD203B41FA5}">
                      <a16:colId xmlns:a16="http://schemas.microsoft.com/office/drawing/2014/main" val="789876435"/>
                    </a:ext>
                  </a:extLst>
                </a:gridCol>
              </a:tblGrid>
              <a:tr h="355848">
                <a:tc>
                  <a:txBody>
                    <a:bodyPr/>
                    <a:lstStyle/>
                    <a:p>
                      <a:r>
                        <a:rPr lang="en-US" dirty="0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505183"/>
                  </a:ext>
                </a:extLst>
              </a:tr>
              <a:tr h="355848">
                <a:tc>
                  <a:txBody>
                    <a:bodyPr/>
                    <a:lstStyle/>
                    <a:p>
                      <a:r>
                        <a:rPr lang="en-US" dirty="0"/>
                        <a:t>Page 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LoginPage, DashboardPage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713684"/>
                  </a:ext>
                </a:extLst>
              </a:tr>
              <a:tr h="355848">
                <a:tc>
                  <a:txBody>
                    <a:bodyPr/>
                    <a:lstStyle/>
                    <a:p>
                      <a:r>
                        <a:rPr lang="en-US"/>
                        <a:t>Method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login(username, password)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234358"/>
                  </a:ext>
                </a:extLst>
              </a:tr>
              <a:tr h="355848">
                <a:tc>
                  <a:txBody>
                    <a:bodyPr/>
                    <a:lstStyle/>
                    <a:p>
                      <a:r>
                        <a:rPr lang="en-US"/>
                        <a:t>Selector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page.locator('#username')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3559862"/>
                  </a:ext>
                </a:extLst>
              </a:tr>
              <a:tr h="355848">
                <a:tc>
                  <a:txBody>
                    <a:bodyPr/>
                    <a:lstStyle/>
                    <a:p>
                      <a:r>
                        <a:rPr lang="en-US"/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/pages/*.js, /tests/*.spec.js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966558"/>
                  </a:ext>
                </a:extLst>
              </a:tr>
              <a:tr h="355848">
                <a:tc>
                  <a:txBody>
                    <a:bodyPr/>
                    <a:lstStyle/>
                    <a:p>
                      <a:r>
                        <a:rPr lang="en-US"/>
                        <a:t>Benefits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Reusability, maintainability, clean tests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6895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365EDE-56D0-DF7C-F075-3EFB440BD39E}"/>
              </a:ext>
            </a:extLst>
          </p:cNvPr>
          <p:cNvSpPr txBox="1"/>
          <p:nvPr/>
        </p:nvSpPr>
        <p:spPr>
          <a:xfrm>
            <a:off x="648176" y="3148191"/>
            <a:ext cx="8276674" cy="1452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When Not to Use POM</a:t>
            </a:r>
          </a:p>
          <a:p>
            <a:pPr marL="0" indent="0">
              <a:buNone/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For simple test suites (e.g. landing page only).</a:t>
            </a:r>
          </a:p>
          <a:p>
            <a:pPr>
              <a:lnSpc>
                <a:spcPct val="150000"/>
              </a:lnSpc>
            </a:pPr>
            <a:r>
              <a:rPr lang="en-US" dirty="0"/>
              <a:t>If it adds unnecessary abstraction or overhead.</a:t>
            </a:r>
          </a:p>
          <a:p>
            <a:pPr>
              <a:lnSpc>
                <a:spcPct val="150000"/>
              </a:lnSpc>
            </a:pPr>
            <a:r>
              <a:rPr lang="en-US" dirty="0"/>
              <a:t>For one-off UI prototypes or throwaway scripts.</a:t>
            </a:r>
          </a:p>
        </p:txBody>
      </p:sp>
    </p:spTree>
    <p:extLst>
      <p:ext uri="{BB962C8B-B14F-4D97-AF65-F5344CB8AC3E}">
        <p14:creationId xmlns:p14="http://schemas.microsoft.com/office/powerpoint/2010/main" val="2897481465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1146</TotalTime>
  <Words>731</Words>
  <Application>Microsoft Office PowerPoint</Application>
  <PresentationFormat>On-screen Show (16:9)</PresentationFormat>
  <Paragraphs>116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Arial</vt:lpstr>
      <vt:lpstr>Roboto</vt:lpstr>
      <vt:lpstr>Material</vt:lpstr>
      <vt:lpstr>Page Object Model (POM)</vt:lpstr>
      <vt:lpstr>What is Page Object Model (POM)?</vt:lpstr>
      <vt:lpstr>Example: Login Page (POM)</vt:lpstr>
      <vt:lpstr>PowerPoint Presentation</vt:lpstr>
      <vt:lpstr>Combine Pages in a Test</vt:lpstr>
      <vt:lpstr>Advanced: Factory or Fixture-based POM</vt:lpstr>
      <vt:lpstr>Summary 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67</cp:revision>
  <dcterms:modified xsi:type="dcterms:W3CDTF">2025-08-26T13:26:20Z</dcterms:modified>
</cp:coreProperties>
</file>
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8" r:id="rId3"/>
    <p:sldId id="265" r:id="rId4"/>
    <p:sldId id="266" r:id="rId5"/>
    <p:sldId id="267" r:id="rId6"/>
    <p:sldId id="268" r:id="rId7"/>
  </p:sldIdLst>
  <p:sldSz cx="9144000" cy="5143500" type="screen16x9"/>
  <p:notesSz cx="6858000" cy="9144000"/>
  <p:embeddedFontLst>
    <p:embeddedFont>
      <p:font typeface="Roboto" panose="02000000000000000000" pitchFamily="2" charset="0"/>
      <p:regular r:id="rId9"/>
      <p:bold r:id="rId10"/>
      <p:italic r:id="rId11"/>
      <p:boldItalic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85F4"/>
    <a:srgbClr val="4286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2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6f91993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6f91993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ecb4f0fa32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ecb4f0fa32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cd7211dc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cd7211dc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93347E27-9347-E14A-5277-C49C1D824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cd7211dc6_0_38:notes">
            <a:extLst>
              <a:ext uri="{FF2B5EF4-FFF2-40B4-BE49-F238E27FC236}">
                <a16:creationId xmlns:a16="http://schemas.microsoft.com/office/drawing/2014/main" id="{C9FA4F3A-D0D8-CC7F-2419-0A93C48FD7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cd7211dc6_0_38:notes">
            <a:extLst>
              <a:ext uri="{FF2B5EF4-FFF2-40B4-BE49-F238E27FC236}">
                <a16:creationId xmlns:a16="http://schemas.microsoft.com/office/drawing/2014/main" id="{333315D0-B8BE-2166-8906-17606BA955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58062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B2D6C3D2-56B1-F830-CC42-2EC707A8E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cd7211dc6_0_38:notes">
            <a:extLst>
              <a:ext uri="{FF2B5EF4-FFF2-40B4-BE49-F238E27FC236}">
                <a16:creationId xmlns:a16="http://schemas.microsoft.com/office/drawing/2014/main" id="{54BDE184-7A7D-D45C-9CD6-80DDA8D346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cd7211dc6_0_38:notes">
            <a:extLst>
              <a:ext uri="{FF2B5EF4-FFF2-40B4-BE49-F238E27FC236}">
                <a16:creationId xmlns:a16="http://schemas.microsoft.com/office/drawing/2014/main" id="{15128885-B5D4-3602-4221-F04E8C9946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00093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name="adj" fmla="val 16667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rot="10800000" flipH="1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rot="10800000" flipH="1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rot="10800000" flipH="1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0"/>
          <p:cNvSpPr/>
          <p:nvPr/>
        </p:nvSpPr>
        <p:spPr>
          <a:xfrm rot="10800000" flipH="1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body" idx="1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4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>
            <a:spLocks noGrp="1"/>
          </p:cNvSpPr>
          <p:nvPr>
            <p:ph type="title" hasCustomPrompt="1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>
            <a:spLocks noGrp="1"/>
          </p:cNvSpPr>
          <p:nvPr>
            <p:ph type="body" idx="1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terial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3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dirty="0"/>
              <a:t>App</a:t>
            </a:r>
            <a:r>
              <a:rPr lang="en-US" dirty="0"/>
              <a:t>lication programming Interface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C2CCDA0-EB04-0B6C-5463-6C1D3A8F42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0224" y="1819275"/>
            <a:ext cx="8903776" cy="933600"/>
          </a:xfrm>
        </p:spPr>
        <p:txBody>
          <a:bodyPr/>
          <a:lstStyle/>
          <a:p>
            <a:r>
              <a:rPr lang="en-US" dirty="0"/>
              <a:t>Locators and Advanced Queries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2400" y="4520775"/>
            <a:ext cx="1183600" cy="555275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5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800" dirty="0"/>
              <a:t>What Are Locators in Playwright?</a:t>
            </a:r>
            <a:endParaRPr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5E1A72-ECE7-EAF5-67AF-A12343ABC290}"/>
              </a:ext>
            </a:extLst>
          </p:cNvPr>
          <p:cNvSpPr txBox="1"/>
          <p:nvPr/>
        </p:nvSpPr>
        <p:spPr>
          <a:xfrm>
            <a:off x="158700" y="701870"/>
            <a:ext cx="8826600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b="1" dirty="0"/>
              <a:t>Definition: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/>
              <a:t>	Locators in Playwright are powerful abstractions used to find and interact with elements on the page. They are smarter, more resilient than raw selectors like </a:t>
            </a:r>
            <a:r>
              <a:rPr lang="en-US" dirty="0" err="1"/>
              <a:t>page.click</a:t>
            </a:r>
            <a:r>
              <a:rPr lang="en-US" dirty="0"/>
              <a:t>('</a:t>
            </a:r>
            <a:r>
              <a:rPr lang="en-US" dirty="0" err="1"/>
              <a:t>css</a:t>
            </a:r>
            <a:r>
              <a:rPr lang="en-US" dirty="0"/>
              <a:t>-selector’).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b="1" dirty="0"/>
              <a:t>Basic Locator Syntax</a:t>
            </a:r>
          </a:p>
          <a:p>
            <a:pPr marL="457200" lvl="1" indent="0" algn="just">
              <a:lnSpc>
                <a:spcPct val="150000"/>
              </a:lnSpc>
              <a:buNone/>
            </a:pPr>
            <a:r>
              <a:rPr lang="en-US" dirty="0"/>
              <a:t>const locator = </a:t>
            </a:r>
            <a:r>
              <a:rPr lang="en-US" dirty="0" err="1"/>
              <a:t>page.locator</a:t>
            </a:r>
            <a:r>
              <a:rPr lang="en-US" dirty="0"/>
              <a:t>('selector');</a:t>
            </a:r>
          </a:p>
          <a:p>
            <a:pPr marL="457200" lvl="1" indent="0" algn="just">
              <a:lnSpc>
                <a:spcPct val="150000"/>
              </a:lnSpc>
              <a:buNone/>
            </a:pPr>
            <a:r>
              <a:rPr lang="en-US" dirty="0"/>
              <a:t>await </a:t>
            </a:r>
            <a:r>
              <a:rPr lang="en-US" dirty="0" err="1"/>
              <a:t>locator.click</a:t>
            </a:r>
            <a:r>
              <a:rPr lang="en-US" dirty="0"/>
              <a:t>();  // Instead of </a:t>
            </a:r>
            <a:r>
              <a:rPr lang="en-US" dirty="0" err="1"/>
              <a:t>page.click</a:t>
            </a:r>
            <a:r>
              <a:rPr lang="en-US" dirty="0"/>
              <a:t>('selector’)</a:t>
            </a:r>
          </a:p>
          <a:p>
            <a:r>
              <a:rPr lang="en-US" b="1" dirty="0"/>
              <a:t>Why Use Locators?</a:t>
            </a:r>
          </a:p>
          <a:p>
            <a:endParaRPr lang="en-US" b="1" kern="100" dirty="0">
              <a:effectLst/>
              <a:latin typeface="Calibri" panose="020F0502020204030204" pitchFamily="34" charset="0"/>
              <a:ea typeface="Yu Mincho" panose="02020400000000000000" pitchFamily="18" charset="-128"/>
              <a:cs typeface="Calibri" panose="020F0502020204030204" pitchFamily="34" charset="0"/>
            </a:endParaRPr>
          </a:p>
          <a:p>
            <a:endParaRPr lang="en-US" b="1" kern="100" dirty="0">
              <a:latin typeface="Calibri" panose="020F0502020204030204" pitchFamily="34" charset="0"/>
              <a:ea typeface="Yu Mincho" panose="02020400000000000000" pitchFamily="18" charset="-128"/>
              <a:cs typeface="Calibri" panose="020F0502020204030204" pitchFamily="34" charset="0"/>
            </a:endParaRPr>
          </a:p>
          <a:p>
            <a:endParaRPr lang="en-US" b="1" kern="100" dirty="0">
              <a:effectLst/>
              <a:latin typeface="Calibri" panose="020F0502020204030204" pitchFamily="34" charset="0"/>
              <a:ea typeface="Yu Mincho" panose="02020400000000000000" pitchFamily="18" charset="-128"/>
              <a:cs typeface="Calibri" panose="020F0502020204030204" pitchFamily="34" charset="0"/>
            </a:endParaRPr>
          </a:p>
          <a:p>
            <a:endParaRPr lang="en-IN" b="1" kern="100" dirty="0">
              <a:effectLst/>
              <a:latin typeface="Calibri" panose="020F0502020204030204" pitchFamily="34" charset="0"/>
              <a:ea typeface="Yu Mincho" panose="02020400000000000000" pitchFamily="18" charset="-128"/>
              <a:cs typeface="Calibri" panose="020F0502020204030204" pitchFamily="34" charset="0"/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F25114CD-0E71-4A91-A353-2375D236E4B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53963337"/>
              </p:ext>
            </p:extLst>
          </p:nvPr>
        </p:nvGraphicFramePr>
        <p:xfrm>
          <a:off x="1032521" y="2900817"/>
          <a:ext cx="7215026" cy="176938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607513">
                  <a:extLst>
                    <a:ext uri="{9D8B030D-6E8A-4147-A177-3AD203B41FA5}">
                      <a16:colId xmlns:a16="http://schemas.microsoft.com/office/drawing/2014/main" val="3515706500"/>
                    </a:ext>
                  </a:extLst>
                </a:gridCol>
                <a:gridCol w="3607513">
                  <a:extLst>
                    <a:ext uri="{9D8B030D-6E8A-4147-A177-3AD203B41FA5}">
                      <a16:colId xmlns:a16="http://schemas.microsoft.com/office/drawing/2014/main" val="2718336445"/>
                    </a:ext>
                  </a:extLst>
                </a:gridCol>
              </a:tblGrid>
              <a:tr h="309008">
                <a:tc>
                  <a:txBody>
                    <a:bodyPr/>
                    <a:lstStyle/>
                    <a:p>
                      <a:r>
                        <a:rPr lang="en-US" dirty="0"/>
                        <a:t>Benefit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0624789"/>
                  </a:ext>
                </a:extLst>
              </a:tr>
              <a:tr h="309008">
                <a:tc>
                  <a:txBody>
                    <a:bodyPr/>
                    <a:lstStyle/>
                    <a:p>
                      <a:r>
                        <a:rPr lang="en-US"/>
                        <a:t>✅ Auto-waiting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Waits for element to be ready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5771077"/>
                  </a:ext>
                </a:extLst>
              </a:tr>
              <a:tr h="533356">
                <a:tc>
                  <a:txBody>
                    <a:bodyPr/>
                    <a:lstStyle/>
                    <a:p>
                      <a:r>
                        <a:rPr lang="en-US" dirty="0"/>
                        <a:t>✅ Retry logic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Automatically retries on failure (e.g., transient state)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7631975"/>
                  </a:ext>
                </a:extLst>
              </a:tr>
              <a:tr h="309008">
                <a:tc>
                  <a:txBody>
                    <a:bodyPr/>
                    <a:lstStyle/>
                    <a:p>
                      <a:r>
                        <a:rPr lang="en-US"/>
                        <a:t>✅ Chaining support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Target nested elements cleanly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2382001"/>
                  </a:ext>
                </a:extLst>
              </a:tr>
              <a:tr h="309008">
                <a:tc>
                  <a:txBody>
                    <a:bodyPr/>
                    <a:lstStyle/>
                    <a:p>
                      <a:r>
                        <a:rPr lang="en-US" dirty="0"/>
                        <a:t>✅ Built-in assertions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Can verify element properties easily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02079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C7354D1-F7B1-4CD9-0967-BC5418FB99E3}"/>
              </a:ext>
            </a:extLst>
          </p:cNvPr>
          <p:cNvSpPr txBox="1"/>
          <p:nvPr/>
        </p:nvSpPr>
        <p:spPr>
          <a:xfrm>
            <a:off x="216976" y="643180"/>
            <a:ext cx="6633275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/>
              <a:t>CSS Selectors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page.locator</a:t>
            </a:r>
            <a:r>
              <a:rPr lang="en-US" dirty="0"/>
              <a:t>('input[name="email"]')</a:t>
            </a:r>
          </a:p>
          <a:p>
            <a:pPr marL="0" indent="0">
              <a:buNone/>
            </a:pPr>
            <a:r>
              <a:rPr lang="en-US" b="1" dirty="0"/>
              <a:t>Text Selector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page.locator</a:t>
            </a:r>
            <a:r>
              <a:rPr lang="en-US" dirty="0"/>
              <a:t>('text="Submit"') // Exact text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page.locator</a:t>
            </a:r>
            <a:r>
              <a:rPr lang="en-US" dirty="0"/>
              <a:t>('text=Welcome')  // Partial match</a:t>
            </a:r>
          </a:p>
          <a:p>
            <a:pPr marL="0" indent="0">
              <a:buNone/>
            </a:pPr>
            <a:r>
              <a:rPr lang="en-US" b="1" dirty="0"/>
              <a:t>Role-based Selectors</a:t>
            </a:r>
          </a:p>
          <a:p>
            <a:pPr marL="0" indent="0">
              <a:buNone/>
            </a:pPr>
            <a:r>
              <a:rPr lang="en-US" dirty="0"/>
              <a:t>Semantic locators based on ARIA roles — accessible, robust.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page.getByRole</a:t>
            </a:r>
            <a:r>
              <a:rPr lang="en-US" dirty="0"/>
              <a:t>('button', { name: 'Submit' })</a:t>
            </a:r>
          </a:p>
          <a:p>
            <a:pPr marL="0" indent="0">
              <a:buNone/>
            </a:pPr>
            <a:r>
              <a:rPr lang="en-US" b="1" dirty="0"/>
              <a:t>Placeholder</a:t>
            </a:r>
          </a:p>
          <a:p>
            <a:pPr marL="0" indent="0">
              <a:buNone/>
            </a:pPr>
            <a:r>
              <a:rPr lang="en-US" dirty="0"/>
              <a:t>Targets inputs using placeholder text.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page.getByPlaceholder</a:t>
            </a:r>
            <a:r>
              <a:rPr lang="en-US" dirty="0"/>
              <a:t>('Enter your name')</a:t>
            </a:r>
          </a:p>
          <a:p>
            <a:pPr marL="0" indent="0">
              <a:buNone/>
            </a:pPr>
            <a:r>
              <a:rPr lang="en-US" b="1" dirty="0"/>
              <a:t>Label-based</a:t>
            </a:r>
          </a:p>
          <a:p>
            <a:pPr marL="0" indent="0">
              <a:buNone/>
            </a:pPr>
            <a:r>
              <a:rPr lang="en-US" dirty="0"/>
              <a:t>Matches form fields using associated &lt;label&gt; elements.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page.getByLabel</a:t>
            </a:r>
            <a:r>
              <a:rPr lang="en-US" dirty="0"/>
              <a:t>('Username')</a:t>
            </a:r>
          </a:p>
          <a:p>
            <a:pPr marL="0" indent="0">
              <a:buNone/>
            </a:pPr>
            <a:r>
              <a:rPr lang="en-US" b="1" dirty="0"/>
              <a:t>Alt Text / Title / Test ID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page.getByAltText</a:t>
            </a:r>
            <a:r>
              <a:rPr lang="en-US" dirty="0"/>
              <a:t>('Logo’)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page.getByTitle</a:t>
            </a:r>
            <a:r>
              <a:rPr lang="en-US" dirty="0"/>
              <a:t>('Close dialog’)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page.getByTestId</a:t>
            </a:r>
            <a:r>
              <a:rPr lang="en-US" dirty="0"/>
              <a:t>('cart-button')</a:t>
            </a:r>
            <a:endParaRPr lang="en-US" b="1" dirty="0"/>
          </a:p>
          <a:p>
            <a:pPr lvl="1"/>
            <a:endParaRPr lang="en-US" dirty="0"/>
          </a:p>
        </p:txBody>
      </p:sp>
      <p:sp>
        <p:nvSpPr>
          <p:cNvPr id="7" name="Google Shape;82;p15">
            <a:extLst>
              <a:ext uri="{FF2B5EF4-FFF2-40B4-BE49-F238E27FC236}">
                <a16:creationId xmlns:a16="http://schemas.microsoft.com/office/drawing/2014/main" id="{3F420F5D-DEE4-0201-E48F-8D92045024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800" dirty="0"/>
              <a:t>Locator Strategies (Types of Queries)</a:t>
            </a:r>
            <a:endParaRPr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A36D3BEE-1011-F9E0-428A-46C7B9FFF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>
            <a:extLst>
              <a:ext uri="{FF2B5EF4-FFF2-40B4-BE49-F238E27FC236}">
                <a16:creationId xmlns:a16="http://schemas.microsoft.com/office/drawing/2014/main" id="{1E949372-58EC-6E30-CFC6-3728E7D940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1"/>
            <a:r>
              <a:rPr lang="en-US" dirty="0"/>
              <a:t>Locator Chaining (Advanced Queries)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5D48C-FC98-49A9-ADEB-B15A54DDD646}"/>
              </a:ext>
            </a:extLst>
          </p:cNvPr>
          <p:cNvSpPr txBox="1">
            <a:spLocks/>
          </p:cNvSpPr>
          <p:nvPr/>
        </p:nvSpPr>
        <p:spPr>
          <a:xfrm>
            <a:off x="283931" y="674177"/>
            <a:ext cx="8576137" cy="464174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None/>
            </a:pPr>
            <a:r>
              <a:rPr lang="en-US" b="1" dirty="0"/>
              <a:t>Definition: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	Chaining allows you to scope queries within another element.</a:t>
            </a:r>
          </a:p>
          <a:p>
            <a:pPr marL="0" indent="0">
              <a:buNone/>
            </a:pPr>
            <a:r>
              <a:rPr lang="en-US" b="1" dirty="0"/>
              <a:t>Example: Click the first button inside a specific card</a:t>
            </a:r>
          </a:p>
          <a:p>
            <a:pPr marL="0" indent="0">
              <a:buNone/>
            </a:pPr>
            <a:r>
              <a:rPr lang="en-US" dirty="0"/>
              <a:t>	const card = </a:t>
            </a:r>
            <a:r>
              <a:rPr lang="en-US" dirty="0" err="1"/>
              <a:t>page.locator</a:t>
            </a:r>
            <a:r>
              <a:rPr lang="en-US" dirty="0"/>
              <a:t>('.product-card').first();</a:t>
            </a:r>
          </a:p>
          <a:p>
            <a:pPr marL="0" indent="0">
              <a:buNone/>
            </a:pPr>
            <a:r>
              <a:rPr lang="en-US" dirty="0"/>
              <a:t>	await </a:t>
            </a:r>
            <a:r>
              <a:rPr lang="en-US" dirty="0" err="1"/>
              <a:t>card.locator</a:t>
            </a:r>
            <a:r>
              <a:rPr lang="en-US" dirty="0"/>
              <a:t>('button').click();</a:t>
            </a:r>
          </a:p>
          <a:p>
            <a:pPr marL="0" indent="0">
              <a:buNone/>
            </a:pPr>
            <a:r>
              <a:rPr lang="en-US" b="1" dirty="0"/>
              <a:t>Example: Nested Elements</a:t>
            </a:r>
          </a:p>
          <a:p>
            <a:pPr marL="0" indent="0">
              <a:buNone/>
            </a:pPr>
            <a:r>
              <a:rPr lang="en-US" dirty="0"/>
              <a:t>	await </a:t>
            </a:r>
            <a:r>
              <a:rPr lang="en-US" dirty="0" err="1"/>
              <a:t>page.locator</a:t>
            </a:r>
            <a:r>
              <a:rPr lang="en-US" dirty="0"/>
              <a:t>('.form').locator('input[type="email"]').fill('user@example.com’);</a:t>
            </a:r>
          </a:p>
          <a:p>
            <a:pPr lvl="1"/>
            <a:endParaRPr lang="en-US" dirty="0"/>
          </a:p>
          <a:p>
            <a:pPr lvl="1"/>
            <a:r>
              <a:rPr lang="en-US" b="1" dirty="0"/>
              <a:t>Locator Filters &amp; Options</a:t>
            </a:r>
          </a:p>
          <a:p>
            <a:pPr lvl="1"/>
            <a:endParaRPr lang="en-US" b="1" dirty="0"/>
          </a:p>
          <a:p>
            <a:pPr marL="0" indent="0">
              <a:buNone/>
            </a:pPr>
            <a:r>
              <a:rPr lang="en-US" b="1" dirty="0"/>
              <a:t>nth(index)</a:t>
            </a:r>
          </a:p>
          <a:p>
            <a:pPr marL="0" indent="0">
              <a:buNone/>
            </a:pPr>
            <a:r>
              <a:rPr lang="en-US" dirty="0"/>
              <a:t>Gets the nth element in a list.</a:t>
            </a:r>
          </a:p>
          <a:p>
            <a:pPr marL="0" indent="0">
              <a:buNone/>
            </a:pPr>
            <a:r>
              <a:rPr lang="en-US" dirty="0"/>
              <a:t>	await </a:t>
            </a:r>
            <a:r>
              <a:rPr lang="en-US" dirty="0" err="1"/>
              <a:t>page.locator</a:t>
            </a:r>
            <a:r>
              <a:rPr lang="en-US" dirty="0"/>
              <a:t>('li').nth(2).click(); // Click 3rd item (0-based)</a:t>
            </a:r>
          </a:p>
          <a:p>
            <a:pPr marL="0" indent="0">
              <a:buNone/>
            </a:pPr>
            <a:r>
              <a:rPr lang="en-US" b="1" dirty="0" err="1"/>
              <a:t>hasText</a:t>
            </a:r>
            <a:r>
              <a:rPr lang="en-US" b="1" dirty="0"/>
              <a:t>(text)</a:t>
            </a:r>
          </a:p>
          <a:p>
            <a:pPr marL="0" indent="0">
              <a:buNone/>
            </a:pPr>
            <a:r>
              <a:rPr lang="en-US" dirty="0"/>
              <a:t>Filter locator that contains specific text.</a:t>
            </a:r>
          </a:p>
          <a:p>
            <a:pPr marL="0" indent="0">
              <a:buNone/>
            </a:pPr>
            <a:r>
              <a:rPr lang="en-US" dirty="0"/>
              <a:t>	await </a:t>
            </a:r>
            <a:r>
              <a:rPr lang="en-US" dirty="0" err="1"/>
              <a:t>page.locator</a:t>
            </a:r>
            <a:r>
              <a:rPr lang="en-US" dirty="0"/>
              <a:t>('.alert', { </a:t>
            </a:r>
            <a:r>
              <a:rPr lang="en-US" dirty="0" err="1"/>
              <a:t>hasText</a:t>
            </a:r>
            <a:r>
              <a:rPr lang="en-US" dirty="0"/>
              <a:t>: 'Error' }).</a:t>
            </a:r>
            <a:r>
              <a:rPr lang="en-US" dirty="0" err="1"/>
              <a:t>isVisible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b="1" dirty="0"/>
              <a:t>has(locator)</a:t>
            </a:r>
          </a:p>
          <a:p>
            <a:pPr marL="0" indent="0">
              <a:buNone/>
            </a:pPr>
            <a:r>
              <a:rPr lang="en-US" dirty="0"/>
              <a:t>Filter that contains another locator.</a:t>
            </a:r>
          </a:p>
          <a:p>
            <a:pPr marL="0" indent="0">
              <a:buNone/>
            </a:pPr>
            <a:r>
              <a:rPr lang="en-US" dirty="0"/>
              <a:t>	await </a:t>
            </a:r>
            <a:r>
              <a:rPr lang="en-US" dirty="0" err="1"/>
              <a:t>page.locator</a:t>
            </a:r>
            <a:r>
              <a:rPr lang="en-US" dirty="0"/>
              <a:t>('section', { has: </a:t>
            </a:r>
            <a:r>
              <a:rPr lang="en-US" dirty="0" err="1"/>
              <a:t>page.locator</a:t>
            </a:r>
            <a:r>
              <a:rPr lang="en-US" dirty="0"/>
              <a:t>('h2') }).click();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4614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01D3D67A-46BD-9129-CA61-BF78DFBE8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5247662-0C18-413C-BA62-BAC5B125DA5D}"/>
              </a:ext>
            </a:extLst>
          </p:cNvPr>
          <p:cNvSpPr txBox="1">
            <a:spLocks/>
          </p:cNvSpPr>
          <p:nvPr/>
        </p:nvSpPr>
        <p:spPr>
          <a:xfrm>
            <a:off x="309966" y="674176"/>
            <a:ext cx="8349712" cy="474248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None/>
            </a:pPr>
            <a:r>
              <a:rPr lang="en-US" b="1" dirty="0"/>
              <a:t>Get text content:</a:t>
            </a:r>
          </a:p>
          <a:p>
            <a:pPr marL="0" indent="0">
              <a:buNone/>
            </a:pPr>
            <a:r>
              <a:rPr lang="en-US" dirty="0"/>
              <a:t>	const title = await </a:t>
            </a:r>
            <a:r>
              <a:rPr lang="en-US" dirty="0" err="1"/>
              <a:t>page.locator</a:t>
            </a:r>
            <a:r>
              <a:rPr lang="en-US" dirty="0"/>
              <a:t>('h1').</a:t>
            </a:r>
            <a:r>
              <a:rPr lang="en-US" dirty="0" err="1"/>
              <a:t>textContent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b="1" dirty="0"/>
              <a:t>Get attribute value:</a:t>
            </a:r>
          </a:p>
          <a:p>
            <a:pPr marL="0" indent="0">
              <a:buNone/>
            </a:pPr>
            <a:r>
              <a:rPr lang="en-US" dirty="0"/>
              <a:t>	const </a:t>
            </a:r>
            <a:r>
              <a:rPr lang="en-US" dirty="0" err="1"/>
              <a:t>href</a:t>
            </a:r>
            <a:r>
              <a:rPr lang="en-US" dirty="0"/>
              <a:t> = await </a:t>
            </a:r>
            <a:r>
              <a:rPr lang="en-US" dirty="0" err="1"/>
              <a:t>page.locator</a:t>
            </a:r>
            <a:r>
              <a:rPr lang="en-US" dirty="0"/>
              <a:t>('</a:t>
            </a:r>
            <a:r>
              <a:rPr lang="en-US" dirty="0" err="1"/>
              <a:t>a.link</a:t>
            </a:r>
            <a:r>
              <a:rPr lang="en-US" dirty="0"/>
              <a:t>').</a:t>
            </a:r>
            <a:r>
              <a:rPr lang="en-US" dirty="0" err="1"/>
              <a:t>getAttribute</a:t>
            </a:r>
            <a:r>
              <a:rPr lang="en-US" dirty="0"/>
              <a:t>('</a:t>
            </a:r>
            <a:r>
              <a:rPr lang="en-US" dirty="0" err="1"/>
              <a:t>href</a:t>
            </a:r>
            <a:r>
              <a:rPr lang="en-US" dirty="0"/>
              <a:t>');</a:t>
            </a:r>
          </a:p>
          <a:p>
            <a:pPr marL="0" indent="0">
              <a:buNone/>
            </a:pPr>
            <a:r>
              <a:rPr lang="en-US" b="1" dirty="0"/>
              <a:t>Locator Assertions (Built-In)</a:t>
            </a:r>
          </a:p>
          <a:p>
            <a:pPr marL="0" indent="0">
              <a:buNone/>
            </a:pPr>
            <a:r>
              <a:rPr lang="en-US" dirty="0"/>
              <a:t>	await expect(</a:t>
            </a:r>
            <a:r>
              <a:rPr lang="en-US" dirty="0" err="1"/>
              <a:t>page.locator</a:t>
            </a:r>
            <a:r>
              <a:rPr lang="en-US" dirty="0"/>
              <a:t>('.success')).</a:t>
            </a:r>
            <a:r>
              <a:rPr lang="en-US" dirty="0" err="1"/>
              <a:t>toHaveText</a:t>
            </a:r>
            <a:r>
              <a:rPr lang="en-US" dirty="0"/>
              <a:t>('Order placed’);</a:t>
            </a:r>
          </a:p>
          <a:p>
            <a:pPr marL="0" indent="0">
              <a:buNone/>
            </a:pPr>
            <a:r>
              <a:rPr lang="en-US" dirty="0"/>
              <a:t>	await expect(</a:t>
            </a:r>
            <a:r>
              <a:rPr lang="en-US" dirty="0" err="1"/>
              <a:t>page.locator</a:t>
            </a:r>
            <a:r>
              <a:rPr lang="en-US" dirty="0"/>
              <a:t>('#loader')).</a:t>
            </a:r>
            <a:r>
              <a:rPr lang="en-US" dirty="0" err="1"/>
              <a:t>toBeHidden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	await expect(</a:t>
            </a:r>
            <a:r>
              <a:rPr lang="en-US" dirty="0" err="1"/>
              <a:t>page.locator</a:t>
            </a:r>
            <a:r>
              <a:rPr lang="en-US" dirty="0"/>
              <a:t>('</a:t>
            </a:r>
            <a:r>
              <a:rPr lang="en-US" dirty="0" err="1"/>
              <a:t>img</a:t>
            </a:r>
            <a:r>
              <a:rPr lang="en-US" dirty="0"/>
              <a:t>')).</a:t>
            </a:r>
            <a:r>
              <a:rPr lang="en-US" dirty="0" err="1"/>
              <a:t>toHaveAttribute</a:t>
            </a:r>
            <a:r>
              <a:rPr lang="en-US" dirty="0"/>
              <a:t>('alt', 'Logo’);</a:t>
            </a:r>
          </a:p>
          <a:p>
            <a:endParaRPr lang="en-US" dirty="0"/>
          </a:p>
          <a:p>
            <a:endParaRPr lang="en-US" b="1" dirty="0"/>
          </a:p>
          <a:p>
            <a:r>
              <a:rPr lang="en-US" b="1" dirty="0"/>
              <a:t>Best Practices for Locators</a:t>
            </a:r>
          </a:p>
          <a:p>
            <a:endParaRPr lang="en-US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Use </a:t>
            </a:r>
            <a:r>
              <a:rPr lang="en-US" dirty="0" err="1"/>
              <a:t>getByRole</a:t>
            </a:r>
            <a:r>
              <a:rPr lang="en-US" dirty="0"/>
              <a:t>, </a:t>
            </a:r>
            <a:r>
              <a:rPr lang="en-US" dirty="0" err="1"/>
              <a:t>getByLabel</a:t>
            </a:r>
            <a:r>
              <a:rPr lang="en-US" dirty="0"/>
              <a:t>, and </a:t>
            </a:r>
            <a:r>
              <a:rPr lang="en-US" dirty="0" err="1"/>
              <a:t>getByTestId</a:t>
            </a:r>
            <a:r>
              <a:rPr lang="en-US" dirty="0"/>
              <a:t> for stability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Chain locators to scope actions in complex layouts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Use locator().first() or .nth() to interact with specific matches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Prefer semantic HTML for better selector reliability</a:t>
            </a:r>
          </a:p>
          <a:p>
            <a:endParaRPr lang="en-US" b="1" dirty="0"/>
          </a:p>
        </p:txBody>
      </p:sp>
      <p:sp>
        <p:nvSpPr>
          <p:cNvPr id="3" name="Google Shape;127;p22">
            <a:extLst>
              <a:ext uri="{FF2B5EF4-FFF2-40B4-BE49-F238E27FC236}">
                <a16:creationId xmlns:a16="http://schemas.microsoft.com/office/drawing/2014/main" id="{6D4B5C00-64AB-6395-A427-4A47F22241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1"/>
            <a:r>
              <a:rPr lang="en-US" dirty="0"/>
              <a:t>Locator Evaluation (Extract Data)</a:t>
            </a:r>
          </a:p>
        </p:txBody>
      </p:sp>
    </p:spTree>
    <p:extLst>
      <p:ext uri="{BB962C8B-B14F-4D97-AF65-F5344CB8AC3E}">
        <p14:creationId xmlns:p14="http://schemas.microsoft.com/office/powerpoint/2010/main" val="9745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F2140-EDC7-1874-95A7-29681D727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Avoid Anti-Patterns</a:t>
            </a:r>
            <a:endParaRPr lang="en-US" b="1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5263F5A-C1C1-F039-CA3F-35FF8B8975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963962"/>
              </p:ext>
            </p:extLst>
          </p:nvPr>
        </p:nvGraphicFramePr>
        <p:xfrm>
          <a:off x="937648" y="903960"/>
          <a:ext cx="7415940" cy="3779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471980">
                  <a:extLst>
                    <a:ext uri="{9D8B030D-6E8A-4147-A177-3AD203B41FA5}">
                      <a16:colId xmlns:a16="http://schemas.microsoft.com/office/drawing/2014/main" val="3774477717"/>
                    </a:ext>
                  </a:extLst>
                </a:gridCol>
                <a:gridCol w="2471980">
                  <a:extLst>
                    <a:ext uri="{9D8B030D-6E8A-4147-A177-3AD203B41FA5}">
                      <a16:colId xmlns:a16="http://schemas.microsoft.com/office/drawing/2014/main" val="4281833498"/>
                    </a:ext>
                  </a:extLst>
                </a:gridCol>
                <a:gridCol w="2471980">
                  <a:extLst>
                    <a:ext uri="{9D8B030D-6E8A-4147-A177-3AD203B41FA5}">
                      <a16:colId xmlns:a16="http://schemas.microsoft.com/office/drawing/2014/main" val="25377025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❌ Bad Practice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🚫 Why It's Problematic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 Good Practice (Correction)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32373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page.click</a:t>
                      </a:r>
                      <a:r>
                        <a:rPr lang="en-US" dirty="0"/>
                        <a:t>('</a:t>
                      </a:r>
                      <a:r>
                        <a:rPr lang="en-US" dirty="0" err="1"/>
                        <a:t>div:nth-child</a:t>
                      </a:r>
                      <a:r>
                        <a:rPr lang="en-US" dirty="0"/>
                        <a:t>(4)')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Fragile, breaks if DOM changes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Use </a:t>
                      </a:r>
                      <a:r>
                        <a:rPr lang="en-US" b="1"/>
                        <a:t>stable locators</a:t>
                      </a:r>
                      <a:r>
                        <a:rPr lang="en-US"/>
                        <a:t> like getByRole, getByText, or locator('css'). Example: await page.getByRole('button', { name: 'Submit' }).click();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5526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setTimeout() for waiting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Slow, not reliable (fixed waits)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Use </a:t>
                      </a:r>
                      <a:r>
                        <a:rPr lang="en-US" b="1"/>
                        <a:t>auto-waiting methods</a:t>
                      </a:r>
                      <a:r>
                        <a:rPr lang="en-US"/>
                        <a:t>: await page.waitForSelector('#login') or await locator.waitFor();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54045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Using </a:t>
                      </a:r>
                      <a:r>
                        <a:rPr lang="en-US" b="1"/>
                        <a:t>absolute XPath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Hard to read and maintain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Use </a:t>
                      </a:r>
                      <a:r>
                        <a:rPr lang="en-US" b="1" dirty="0"/>
                        <a:t>relative CSS selectors</a:t>
                      </a:r>
                      <a:r>
                        <a:rPr lang="en-US" dirty="0"/>
                        <a:t> or Playwright locators. Example: await </a:t>
                      </a:r>
                      <a:r>
                        <a:rPr lang="en-US" dirty="0" err="1"/>
                        <a:t>page.locator</a:t>
                      </a:r>
                      <a:r>
                        <a:rPr lang="en-US" dirty="0"/>
                        <a:t>('#username') instead of long XPath.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79492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5241821"/>
      </p:ext>
    </p:extLst>
  </p:cSld>
  <p:clrMapOvr>
    <a:masterClrMapping/>
  </p:clrMapOvr>
</p:sld>
</file>

<file path=ppt/theme/theme1.xml><?xml version="1.0" encoding="utf-8"?>
<a:theme xmlns:a="http://schemas.openxmlformats.org/drawingml/2006/main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1098</TotalTime>
  <Words>682</Words>
  <Application>Microsoft Office PowerPoint</Application>
  <PresentationFormat>On-screen Show (16:9)</PresentationFormat>
  <Paragraphs>91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Roboto</vt:lpstr>
      <vt:lpstr>Calibri</vt:lpstr>
      <vt:lpstr>Arial</vt:lpstr>
      <vt:lpstr>Material</vt:lpstr>
      <vt:lpstr>Locators and Advanced Queries</vt:lpstr>
      <vt:lpstr>What Are Locators in Playwright?</vt:lpstr>
      <vt:lpstr>Locator Strategies (Types of Queries)</vt:lpstr>
      <vt:lpstr>Locator Chaining (Advanced Queries)</vt:lpstr>
      <vt:lpstr>Locator Evaluation (Extract Data)</vt:lpstr>
      <vt:lpstr>Avoid Anti-Patterns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admin</cp:lastModifiedBy>
  <cp:revision>44</cp:revision>
  <dcterms:modified xsi:type="dcterms:W3CDTF">2025-08-25T13:23:59Z</dcterms:modified>
</cp:coreProperties>
</file>
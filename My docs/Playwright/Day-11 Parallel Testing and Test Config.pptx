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71" r:id="rId4"/>
    <p:sldId id="272" r:id="rId5"/>
    <p:sldId id="265" r:id="rId6"/>
    <p:sldId id="266" r:id="rId7"/>
    <p:sldId id="267" r:id="rId8"/>
    <p:sldId id="268" r:id="rId9"/>
    <p:sldId id="269" r:id="rId10"/>
    <p:sldId id="270" r:id="rId1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24" y="1819275"/>
            <a:ext cx="8903776" cy="933600"/>
          </a:xfrm>
        </p:spPr>
        <p:txBody>
          <a:bodyPr/>
          <a:lstStyle/>
          <a:p>
            <a:r>
              <a:rPr lang="en-US" dirty="0"/>
              <a:t>Parallel Testing and Test Config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What is Parallel Testing?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8700" y="709277"/>
            <a:ext cx="8826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b="1" dirty="0"/>
              <a:t>Parallel Testing</a:t>
            </a:r>
            <a:r>
              <a:rPr lang="en-US" dirty="0"/>
              <a:t> allows Playwright to run </a:t>
            </a:r>
            <a:r>
              <a:rPr lang="en-US" b="1" dirty="0"/>
              <a:t>multiple test files or test cases at the same time</a:t>
            </a:r>
            <a:r>
              <a:rPr lang="en-US" dirty="0"/>
              <a:t>, which speeds up test execution and helps validate concurrency issues.</a:t>
            </a:r>
          </a:p>
          <a:p>
            <a:pPr marL="0" indent="0" algn="just">
              <a:buNone/>
            </a:pPr>
            <a:r>
              <a:rPr lang="en-US" b="1" dirty="0"/>
              <a:t>Why Parallel Testing?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overall test execution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Validates thread-safety and session isolation.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Scales test execution for CI/CD pipelines.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How Playwright Executes Tests in Parallel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Playwright Test uses </a:t>
            </a:r>
            <a:r>
              <a:rPr lang="en-US" b="1" dirty="0"/>
              <a:t>worker processes</a:t>
            </a:r>
            <a:r>
              <a:rPr lang="en-US" dirty="0"/>
              <a:t> to run test files </a:t>
            </a:r>
            <a:r>
              <a:rPr lang="en-US" b="1" dirty="0"/>
              <a:t>in parallel by default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test file runs in a </a:t>
            </a:r>
            <a:r>
              <a:rPr lang="en-US" b="1" dirty="0"/>
              <a:t>separate worker process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Tests within the same file run </a:t>
            </a:r>
            <a:r>
              <a:rPr lang="en-US" b="1" dirty="0"/>
              <a:t>sequentially</a:t>
            </a:r>
            <a:r>
              <a:rPr lang="en-US" dirty="0"/>
              <a:t> by default.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You can </a:t>
            </a:r>
            <a:r>
              <a:rPr lang="en-US" b="1" dirty="0"/>
              <a:t>opt-in</a:t>
            </a:r>
            <a:r>
              <a:rPr lang="en-US" dirty="0"/>
              <a:t> to parallel execution </a:t>
            </a:r>
            <a:r>
              <a:rPr lang="en-US" b="1" dirty="0"/>
              <a:t>within a file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DCAFF-7711-F7C3-BD86-67CE428E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CI/CD Integration with Playwright (Parallel Execution)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A006F8-3AF5-EB86-EFB0-08B905A61A59}"/>
              </a:ext>
            </a:extLst>
          </p:cNvPr>
          <p:cNvSpPr txBox="1"/>
          <p:nvPr/>
        </p:nvSpPr>
        <p:spPr>
          <a:xfrm>
            <a:off x="216976" y="759417"/>
            <a:ext cx="870787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it means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CI/CD</a:t>
            </a:r>
            <a:r>
              <a:rPr lang="en-US" dirty="0"/>
              <a:t> → Automating test execution on GitHub Actions, Jenkins, GitLab,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Parallel Execution</a:t>
            </a:r>
            <a:r>
              <a:rPr lang="en-US" dirty="0"/>
              <a:t> → Run multiple tests at the same time across workers → saves time.</a:t>
            </a:r>
          </a:p>
          <a:p>
            <a:endParaRPr lang="en-US" dirty="0"/>
          </a:p>
          <a:p>
            <a:r>
              <a:rPr lang="en-US" b="1" dirty="0"/>
              <a:t>Enabling Parallel Execution in Playwright</a:t>
            </a:r>
            <a:endParaRPr lang="en-US" dirty="0"/>
          </a:p>
          <a:p>
            <a:r>
              <a:rPr lang="en-US" dirty="0"/>
              <a:t>In Playwright config (playwright.config.js):</a:t>
            </a:r>
          </a:p>
          <a:p>
            <a:endParaRPr lang="en-US" dirty="0"/>
          </a:p>
          <a:p>
            <a:r>
              <a:rPr lang="en-US" dirty="0"/>
              <a:t>// playwright.config.js</a:t>
            </a:r>
          </a:p>
          <a:p>
            <a:r>
              <a:rPr lang="en-US" dirty="0"/>
              <a:t>const { </a:t>
            </a:r>
            <a:r>
              <a:rPr lang="en-US" dirty="0" err="1"/>
              <a:t>defineConfig</a:t>
            </a:r>
            <a:r>
              <a:rPr lang="en-US" dirty="0"/>
              <a:t> } = require('@playwright/test');</a:t>
            </a:r>
          </a:p>
          <a:p>
            <a:endParaRPr lang="en-US" dirty="0"/>
          </a:p>
          <a:p>
            <a:r>
              <a:rPr lang="en-US" dirty="0" err="1"/>
              <a:t>module.exports</a:t>
            </a:r>
            <a:r>
              <a:rPr lang="en-US" dirty="0"/>
              <a:t> = </a:t>
            </a:r>
            <a:r>
              <a:rPr lang="en-US" dirty="0" err="1"/>
              <a:t>defineConfig</a:t>
            </a:r>
            <a:r>
              <a:rPr lang="en-US" dirty="0"/>
              <a:t>({</a:t>
            </a:r>
          </a:p>
          <a:p>
            <a:r>
              <a:rPr lang="en-US" dirty="0"/>
              <a:t>  workers: 4,  // Number of parallel workers</a:t>
            </a:r>
          </a:p>
          <a:p>
            <a:r>
              <a:rPr lang="en-US" dirty="0"/>
              <a:t>  use: {</a:t>
            </a:r>
          </a:p>
          <a:p>
            <a:r>
              <a:rPr lang="en-US" dirty="0"/>
              <a:t>    headless: true,</a:t>
            </a:r>
          </a:p>
          <a:p>
            <a:r>
              <a:rPr lang="en-US" dirty="0"/>
              <a:t>  },</a:t>
            </a:r>
          </a:p>
          <a:p>
            <a:r>
              <a:rPr lang="en-US" dirty="0"/>
              <a:t>});</a:t>
            </a:r>
          </a:p>
          <a:p>
            <a:endParaRPr lang="en-US" dirty="0"/>
          </a:p>
          <a:p>
            <a:r>
              <a:rPr lang="en-US" dirty="0"/>
              <a:t>📌 workers: 4 → runs 4 tests simultaneously.</a:t>
            </a:r>
          </a:p>
          <a:p>
            <a:r>
              <a:rPr lang="en-US" dirty="0"/>
              <a:t>📌 If not set, Playwright auto-detects CPU cores.</a:t>
            </a:r>
          </a:p>
        </p:txBody>
      </p:sp>
    </p:spTree>
    <p:extLst>
      <p:ext uri="{BB962C8B-B14F-4D97-AF65-F5344CB8AC3E}">
        <p14:creationId xmlns:p14="http://schemas.microsoft.com/office/powerpoint/2010/main" val="2214054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C17B-7716-50AB-25AB-58EF3962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 Commends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F3A3F4-1697-EEE7-1BF6-4FD10972A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381739"/>
              </p:ext>
            </p:extLst>
          </p:nvPr>
        </p:nvGraphicFramePr>
        <p:xfrm>
          <a:off x="430078" y="764475"/>
          <a:ext cx="8283843" cy="4277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61281">
                  <a:extLst>
                    <a:ext uri="{9D8B030D-6E8A-4147-A177-3AD203B41FA5}">
                      <a16:colId xmlns:a16="http://schemas.microsoft.com/office/drawing/2014/main" val="896857587"/>
                    </a:ext>
                  </a:extLst>
                </a:gridCol>
                <a:gridCol w="2761281">
                  <a:extLst>
                    <a:ext uri="{9D8B030D-6E8A-4147-A177-3AD203B41FA5}">
                      <a16:colId xmlns:a16="http://schemas.microsoft.com/office/drawing/2014/main" val="1575691233"/>
                    </a:ext>
                  </a:extLst>
                </a:gridCol>
                <a:gridCol w="2761281">
                  <a:extLst>
                    <a:ext uri="{9D8B030D-6E8A-4147-A177-3AD203B41FA5}">
                      <a16:colId xmlns:a16="http://schemas.microsoft.com/office/drawing/2014/main" val="201829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30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console.log()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console.log(await page.title());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Print values in test flow.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46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Debug Mode (PWDEBUG)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 with: PWDEBUG=1 npx playwright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Opens Playwright Inspector to step through code.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618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page.pause()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await page.pause();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Pauses test at that step; lets you inspect DOM and manually interact.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176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Slow Motion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await chromium.launch({ slowMo: 1000 });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Slows actions by X ms to watch test visually.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5548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Headed Mode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await chromium.launch({ headless: false });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 with browser UI visible.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386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Trace Viewer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Run: npx playwright test --trace on View: npx playwright show-trace trace.zip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Replay test with snapshots, network, console logs.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030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Video Recording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use: { video: 'on' } in config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Capture video of the test execution.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559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687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354D1-F7B1-4CD9-0967-BC5418FB99E3}"/>
              </a:ext>
            </a:extLst>
          </p:cNvPr>
          <p:cNvSpPr txBox="1"/>
          <p:nvPr/>
        </p:nvSpPr>
        <p:spPr>
          <a:xfrm>
            <a:off x="216976" y="643180"/>
            <a:ext cx="870787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In playwright.config.js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playwright.config.js</a:t>
            </a:r>
          </a:p>
          <a:p>
            <a:pPr marL="0" indent="0">
              <a:buNone/>
            </a:pPr>
            <a:r>
              <a:rPr lang="en-US" dirty="0"/>
              <a:t>export default {</a:t>
            </a:r>
          </a:p>
          <a:p>
            <a:pPr marL="0" indent="0">
              <a:buNone/>
            </a:pPr>
            <a:r>
              <a:rPr lang="en-US" dirty="0"/>
              <a:t>  workers: 4, // Use 4 workers for parallelism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workers: Number of parallel workers. Defaults to the number of CPU cores.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Parallel Tests Within a File</a:t>
            </a:r>
          </a:p>
          <a:p>
            <a:pPr marL="0" indent="0">
              <a:buNone/>
            </a:pPr>
            <a:r>
              <a:rPr lang="en-US" dirty="0"/>
              <a:t>import { test } from '@playwright/test';</a:t>
            </a:r>
          </a:p>
          <a:p>
            <a:pPr marL="0" indent="0">
              <a:buNone/>
            </a:pPr>
            <a:r>
              <a:rPr lang="en-US" dirty="0" err="1"/>
              <a:t>test.describe.configure</a:t>
            </a:r>
            <a:r>
              <a:rPr lang="en-US" dirty="0"/>
              <a:t>({ mode: 'parallel' }); // Enables parallelism within this describe block</a:t>
            </a:r>
          </a:p>
          <a:p>
            <a:pPr marL="0" indent="0">
              <a:buNone/>
            </a:pPr>
            <a:r>
              <a:rPr lang="en-US" dirty="0"/>
              <a:t>test('test A', async ({ page }) =&gt; {</a:t>
            </a:r>
          </a:p>
          <a:p>
            <a:pPr marL="0" indent="0">
              <a:buNone/>
            </a:pPr>
            <a:r>
              <a:rPr lang="en-US" dirty="0"/>
              <a:t>  // ...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dirty="0"/>
              <a:t>test('test B', async ({ page }) =&gt; {</a:t>
            </a:r>
          </a:p>
          <a:p>
            <a:pPr marL="0" indent="0">
              <a:buNone/>
            </a:pPr>
            <a:r>
              <a:rPr lang="en-US" dirty="0"/>
              <a:t>  // ...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88112C09-E15F-F048-C60B-8D95C1243F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Controlling Parallelism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283931" y="674177"/>
            <a:ext cx="8576137" cy="46417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playwright.config.js allows centralized control over test behavior.</a:t>
            </a:r>
          </a:p>
          <a:p>
            <a:pPr marL="0" indent="0">
              <a:buNone/>
            </a:pPr>
            <a:r>
              <a:rPr lang="en-US" dirty="0"/>
              <a:t>Key Fields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1DD9EE2F-68CE-C77E-A17B-58E36E2804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Test Configuration (playwright.config.js)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9E4205C-6B3A-4610-9A3A-0FC8EA9A9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316170"/>
              </p:ext>
            </p:extLst>
          </p:nvPr>
        </p:nvGraphicFramePr>
        <p:xfrm>
          <a:off x="727025" y="1247615"/>
          <a:ext cx="7689948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4974">
                  <a:extLst>
                    <a:ext uri="{9D8B030D-6E8A-4147-A177-3AD203B41FA5}">
                      <a16:colId xmlns:a16="http://schemas.microsoft.com/office/drawing/2014/main" val="3876189794"/>
                    </a:ext>
                  </a:extLst>
                </a:gridCol>
                <a:gridCol w="3844974">
                  <a:extLst>
                    <a:ext uri="{9D8B030D-6E8A-4147-A177-3AD203B41FA5}">
                      <a16:colId xmlns:a16="http://schemas.microsoft.com/office/drawing/2014/main" val="2304804555"/>
                    </a:ext>
                  </a:extLst>
                </a:gridCol>
              </a:tblGrid>
              <a:tr h="188570"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359012"/>
                  </a:ext>
                </a:extLst>
              </a:tr>
              <a:tr h="188570">
                <a:tc>
                  <a:txBody>
                    <a:bodyPr/>
                    <a:lstStyle/>
                    <a:p>
                      <a:r>
                        <a:rPr lang="en-US" dirty="0" err="1"/>
                        <a:t>testDir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Directory where tests are located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633178"/>
                  </a:ext>
                </a:extLst>
              </a:tr>
              <a:tr h="188570">
                <a:tc>
                  <a:txBody>
                    <a:bodyPr/>
                    <a:lstStyle/>
                    <a:p>
                      <a:r>
                        <a:rPr lang="en-US"/>
                        <a:t>timeout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Max time per 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893962"/>
                  </a:ext>
                </a:extLst>
              </a:tr>
              <a:tr h="188570">
                <a:tc>
                  <a:txBody>
                    <a:bodyPr/>
                    <a:lstStyle/>
                    <a:p>
                      <a:r>
                        <a:rPr lang="en-US"/>
                        <a:t>retries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Retry failed tests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990159"/>
                  </a:ext>
                </a:extLst>
              </a:tr>
              <a:tr h="188570">
                <a:tc>
                  <a:txBody>
                    <a:bodyPr/>
                    <a:lstStyle/>
                    <a:p>
                      <a:r>
                        <a:rPr lang="en-US"/>
                        <a:t>workers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Number of parallel workers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581594"/>
                  </a:ext>
                </a:extLst>
              </a:tr>
              <a:tr h="280243">
                <a:tc>
                  <a:txBody>
                    <a:bodyPr/>
                    <a:lstStyle/>
                    <a:p>
                      <a:r>
                        <a:rPr lang="en-US"/>
                        <a:t>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Default settings like browser, baseURL, screenshot/video options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042252"/>
                  </a:ext>
                </a:extLst>
              </a:tr>
              <a:tr h="280243">
                <a:tc>
                  <a:txBody>
                    <a:bodyPr/>
                    <a:lstStyle/>
                    <a:p>
                      <a:r>
                        <a:rPr lang="en-US"/>
                        <a:t>projects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 tests across multiple browsers/devices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7939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309966" y="674176"/>
            <a:ext cx="8349712" cy="47424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EE931-E0B6-EA2B-4C2A-20ECB0357241}"/>
              </a:ext>
            </a:extLst>
          </p:cNvPr>
          <p:cNvSpPr txBox="1"/>
          <p:nvPr/>
        </p:nvSpPr>
        <p:spPr>
          <a:xfrm>
            <a:off x="309966" y="674176"/>
            <a:ext cx="84911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// playwright.config.js</a:t>
            </a:r>
          </a:p>
          <a:p>
            <a:pPr marL="0" indent="0">
              <a:buNone/>
            </a:pPr>
            <a:r>
              <a:rPr lang="en-US" dirty="0"/>
              <a:t>import { </a:t>
            </a:r>
            <a:r>
              <a:rPr lang="en-US" dirty="0" err="1"/>
              <a:t>defineConfig</a:t>
            </a:r>
            <a:r>
              <a:rPr lang="en-US" dirty="0"/>
              <a:t> } from '@playwright/test';</a:t>
            </a:r>
          </a:p>
          <a:p>
            <a:pPr marL="0" indent="0">
              <a:buNone/>
            </a:pPr>
            <a:r>
              <a:rPr lang="en-US" dirty="0"/>
              <a:t>export default </a:t>
            </a:r>
            <a:r>
              <a:rPr lang="en-US" dirty="0" err="1"/>
              <a:t>defineConfig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testDir</a:t>
            </a:r>
            <a:r>
              <a:rPr lang="en-US" dirty="0"/>
              <a:t>: './tests',</a:t>
            </a:r>
          </a:p>
          <a:p>
            <a:pPr marL="0" indent="0">
              <a:buNone/>
            </a:pPr>
            <a:r>
              <a:rPr lang="en-US" dirty="0"/>
              <a:t>  timeout: 30 * 1000,</a:t>
            </a:r>
          </a:p>
          <a:p>
            <a:pPr marL="0" indent="0">
              <a:buNone/>
            </a:pPr>
            <a:r>
              <a:rPr lang="en-US" dirty="0"/>
              <a:t>  retries: 1,</a:t>
            </a:r>
          </a:p>
          <a:p>
            <a:pPr marL="0" indent="0">
              <a:buNone/>
            </a:pPr>
            <a:r>
              <a:rPr lang="en-US" dirty="0"/>
              <a:t>  workers: 4,</a:t>
            </a:r>
          </a:p>
          <a:p>
            <a:pPr marL="0" indent="0">
              <a:buNone/>
            </a:pPr>
            <a:r>
              <a:rPr lang="en-US" dirty="0"/>
              <a:t>use: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baseURL</a:t>
            </a:r>
            <a:r>
              <a:rPr lang="en-US" dirty="0"/>
              <a:t>: 'https://example.com',</a:t>
            </a:r>
          </a:p>
          <a:p>
            <a:pPr marL="0" indent="0">
              <a:buNone/>
            </a:pPr>
            <a:r>
              <a:rPr lang="en-US" dirty="0"/>
              <a:t>    headless: true,</a:t>
            </a:r>
          </a:p>
          <a:p>
            <a:pPr marL="0" indent="0">
              <a:buNone/>
            </a:pPr>
            <a:r>
              <a:rPr lang="en-US" dirty="0"/>
              <a:t>viewport: { width: 1280, height: 720 },</a:t>
            </a:r>
          </a:p>
          <a:p>
            <a:pPr marL="0" indent="0">
              <a:buNone/>
            </a:pPr>
            <a:r>
              <a:rPr lang="en-US" dirty="0"/>
              <a:t>    screenshot: 'only-on-failure',</a:t>
            </a:r>
          </a:p>
          <a:p>
            <a:pPr marL="0" indent="0">
              <a:buNone/>
            </a:pPr>
            <a:r>
              <a:rPr lang="en-US" dirty="0"/>
              <a:t>    video: 'retain-on-failure',</a:t>
            </a:r>
          </a:p>
          <a:p>
            <a:pPr marL="0" indent="0">
              <a:buNone/>
            </a:pPr>
            <a:r>
              <a:rPr lang="en-US" dirty="0"/>
              <a:t>  },</a:t>
            </a:r>
          </a:p>
          <a:p>
            <a:pPr marL="0" indent="0">
              <a:buNone/>
            </a:pPr>
            <a:r>
              <a:rPr lang="en-US" dirty="0"/>
              <a:t>  projects: [</a:t>
            </a:r>
          </a:p>
          <a:p>
            <a:pPr marL="0" indent="0">
              <a:buNone/>
            </a:pPr>
            <a:r>
              <a:rPr lang="en-US" dirty="0"/>
              <a:t>    { name: 'chromium', use: { </a:t>
            </a:r>
            <a:r>
              <a:rPr lang="en-US" dirty="0" err="1"/>
              <a:t>browserName</a:t>
            </a:r>
            <a:r>
              <a:rPr lang="en-US" dirty="0"/>
              <a:t>: 'chromium' } },</a:t>
            </a:r>
          </a:p>
          <a:p>
            <a:pPr marL="0" indent="0">
              <a:buNone/>
            </a:pPr>
            <a:r>
              <a:rPr lang="en-US" dirty="0"/>
              <a:t>    { name: '</a:t>
            </a:r>
            <a:r>
              <a:rPr lang="en-US" dirty="0" err="1"/>
              <a:t>firefox</a:t>
            </a:r>
            <a:r>
              <a:rPr lang="en-US" dirty="0"/>
              <a:t>', use: { </a:t>
            </a:r>
            <a:r>
              <a:rPr lang="en-US" dirty="0" err="1"/>
              <a:t>browserName</a:t>
            </a:r>
            <a:r>
              <a:rPr lang="en-US" dirty="0"/>
              <a:t>: '</a:t>
            </a:r>
            <a:r>
              <a:rPr lang="en-US" dirty="0" err="1"/>
              <a:t>firefox</a:t>
            </a:r>
            <a:r>
              <a:rPr lang="en-US" dirty="0"/>
              <a:t>' } },</a:t>
            </a:r>
          </a:p>
          <a:p>
            <a:pPr marL="0" indent="0">
              <a:buNone/>
            </a:pPr>
            <a:r>
              <a:rPr lang="en-US" dirty="0"/>
              <a:t>    { name: '</a:t>
            </a:r>
            <a:r>
              <a:rPr lang="en-US" dirty="0" err="1"/>
              <a:t>webkit</a:t>
            </a:r>
            <a:r>
              <a:rPr lang="en-US" dirty="0"/>
              <a:t>', use: { </a:t>
            </a:r>
            <a:r>
              <a:rPr lang="en-US" dirty="0" err="1"/>
              <a:t>browserName</a:t>
            </a:r>
            <a:r>
              <a:rPr lang="en-US" dirty="0"/>
              <a:t>: '</a:t>
            </a:r>
            <a:r>
              <a:rPr lang="en-US" dirty="0" err="1"/>
              <a:t>webkit</a:t>
            </a:r>
            <a:r>
              <a:rPr lang="en-US" dirty="0"/>
              <a:t>' } },</a:t>
            </a:r>
          </a:p>
          <a:p>
            <a:pPr marL="0" indent="0">
              <a:buNone/>
            </a:pPr>
            <a:r>
              <a:rPr lang="en-US" dirty="0"/>
              <a:t>  ],</a:t>
            </a:r>
          </a:p>
          <a:p>
            <a:pPr marL="0" indent="0">
              <a:buNone/>
            </a:pPr>
            <a:r>
              <a:rPr lang="en-US" dirty="0"/>
              <a:t>});</a:t>
            </a:r>
            <a:endParaRPr lang="en-US" b="1" dirty="0"/>
          </a:p>
        </p:txBody>
      </p:sp>
      <p:sp>
        <p:nvSpPr>
          <p:cNvPr id="3" name="Google Shape;82;p15">
            <a:extLst>
              <a:ext uri="{FF2B5EF4-FFF2-40B4-BE49-F238E27FC236}">
                <a16:creationId xmlns:a16="http://schemas.microsoft.com/office/drawing/2014/main" id="{2889BF4E-1075-F644-8B6D-68ADC79F5D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800" dirty="0"/>
              <a:t>Sample playwright.config.js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06F83887-C8B4-CD57-47FC-E403A24124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1"/>
            <a:r>
              <a:rPr lang="en-US" dirty="0"/>
              <a:t>Running Parallel 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AFBD1-2EE3-92FC-95AF-300102E910E2}"/>
              </a:ext>
            </a:extLst>
          </p:cNvPr>
          <p:cNvSpPr txBox="1"/>
          <p:nvPr/>
        </p:nvSpPr>
        <p:spPr>
          <a:xfrm>
            <a:off x="232475" y="805912"/>
            <a:ext cx="662552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CLI Commands</a:t>
            </a:r>
          </a:p>
          <a:p>
            <a:r>
              <a:rPr lang="en-US" dirty="0"/>
              <a:t>Run all tests with default parallelism: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npx</a:t>
            </a:r>
            <a:r>
              <a:rPr lang="en-US" dirty="0"/>
              <a:t> playwright test</a:t>
            </a:r>
          </a:p>
          <a:p>
            <a:r>
              <a:rPr lang="en-US" dirty="0"/>
              <a:t>Run tests with specific workers: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npx</a:t>
            </a:r>
            <a:r>
              <a:rPr lang="en-US" dirty="0"/>
              <a:t> playwright test --workers=6</a:t>
            </a:r>
          </a:p>
          <a:p>
            <a:r>
              <a:rPr lang="en-US" dirty="0"/>
              <a:t>Run tests in parallel across multiple browsers: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npx</a:t>
            </a:r>
            <a:r>
              <a:rPr lang="en-US" dirty="0"/>
              <a:t> playwright test --project=chromium --project=</a:t>
            </a:r>
            <a:r>
              <a:rPr lang="en-US" dirty="0" err="1"/>
              <a:t>firefox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Projects: Cross-Browser &amp; Device Testing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Projects allow running tests across: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Multiple browsers (Chromium, Firefox, WebKit).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Devices (mobile emulation).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Different configurations.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180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CF99B6BF-6942-E09A-9381-856304F17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Example: Desktop + Mobile Project Config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841F2-CD28-F2FB-DBD2-8560E0E06DD2}"/>
              </a:ext>
            </a:extLst>
          </p:cNvPr>
          <p:cNvSpPr txBox="1"/>
          <p:nvPr/>
        </p:nvSpPr>
        <p:spPr>
          <a:xfrm>
            <a:off x="234669" y="809205"/>
            <a:ext cx="662333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projects: [</a:t>
            </a:r>
          </a:p>
          <a:p>
            <a:pPr marL="0" indent="0">
              <a:buNone/>
            </a:pPr>
            <a:r>
              <a:rPr lang="en-US" dirty="0"/>
              <a:t>  {</a:t>
            </a:r>
          </a:p>
          <a:p>
            <a:pPr marL="0" indent="0">
              <a:buNone/>
            </a:pPr>
            <a:r>
              <a:rPr lang="en-US" dirty="0"/>
              <a:t>    name: 'desktop-chrome',</a:t>
            </a:r>
          </a:p>
          <a:p>
            <a:pPr marL="0" indent="0">
              <a:buNone/>
            </a:pPr>
            <a:r>
              <a:rPr lang="en-US" dirty="0"/>
              <a:t>    use: {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browserName</a:t>
            </a:r>
            <a:r>
              <a:rPr lang="en-US" dirty="0"/>
              <a:t>: 'chromium',</a:t>
            </a:r>
          </a:p>
          <a:p>
            <a:pPr marL="0" indent="0">
              <a:buNone/>
            </a:pPr>
            <a:r>
              <a:rPr lang="en-US" dirty="0"/>
              <a:t>      viewport: { width: 1280, height: 720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},</a:t>
            </a:r>
          </a:p>
          <a:p>
            <a:pPr marL="0" indent="0">
              <a:buNone/>
            </a:pPr>
            <a:r>
              <a:rPr lang="en-US" dirty="0"/>
              <a:t>  {</a:t>
            </a:r>
          </a:p>
          <a:p>
            <a:pPr marL="0" indent="0">
              <a:buNone/>
            </a:pPr>
            <a:r>
              <a:rPr lang="en-US" dirty="0"/>
              <a:t>name: 'mobile-safari',</a:t>
            </a:r>
          </a:p>
          <a:p>
            <a:pPr marL="0" indent="0">
              <a:buNone/>
            </a:pPr>
            <a:r>
              <a:rPr lang="en-US" dirty="0"/>
              <a:t>    use: {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browserName</a:t>
            </a:r>
            <a:r>
              <a:rPr lang="en-US" dirty="0"/>
              <a:t>: '</a:t>
            </a:r>
            <a:r>
              <a:rPr lang="en-US" dirty="0" err="1"/>
              <a:t>webkit</a:t>
            </a:r>
            <a:r>
              <a:rPr lang="en-US" dirty="0"/>
              <a:t>',</a:t>
            </a:r>
          </a:p>
          <a:p>
            <a:pPr marL="0" indent="0">
              <a:buNone/>
            </a:pPr>
            <a:r>
              <a:rPr lang="en-US" dirty="0"/>
              <a:t>      ...devices['iPhone 12'],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989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DFDA-4F02-50D7-26A0-62F183D4B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Parallel Testing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1E67D1D-13E4-4EBB-8B3E-5827042510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4864806"/>
              </p:ext>
            </p:extLst>
          </p:nvPr>
        </p:nvGraphicFramePr>
        <p:xfrm>
          <a:off x="644122" y="737514"/>
          <a:ext cx="7855756" cy="2255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27878">
                  <a:extLst>
                    <a:ext uri="{9D8B030D-6E8A-4147-A177-3AD203B41FA5}">
                      <a16:colId xmlns:a16="http://schemas.microsoft.com/office/drawing/2014/main" val="1207500290"/>
                    </a:ext>
                  </a:extLst>
                </a:gridCol>
                <a:gridCol w="3927878">
                  <a:extLst>
                    <a:ext uri="{9D8B030D-6E8A-4147-A177-3AD203B41FA5}">
                      <a16:colId xmlns:a16="http://schemas.microsoft.com/office/drawing/2014/main" val="1231501880"/>
                    </a:ext>
                  </a:extLst>
                </a:gridCol>
              </a:tblGrid>
              <a:tr h="269395">
                <a:tc>
                  <a:txBody>
                    <a:bodyPr/>
                    <a:lstStyle/>
                    <a:p>
                      <a:r>
                        <a:rPr lang="en-US" dirty="0"/>
                        <a:t>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5851536"/>
                  </a:ext>
                </a:extLst>
              </a:tr>
              <a:tr h="269395">
                <a:tc>
                  <a:txBody>
                    <a:bodyPr/>
                    <a:lstStyle/>
                    <a:p>
                      <a:r>
                        <a:rPr lang="en-US" dirty="0"/>
                        <a:t>Isolate test state (e.g. user session, cookies)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Avoid test interference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5393195"/>
                  </a:ext>
                </a:extLst>
              </a:tr>
              <a:tr h="269395">
                <a:tc>
                  <a:txBody>
                    <a:bodyPr/>
                    <a:lstStyle/>
                    <a:p>
                      <a:r>
                        <a:rPr lang="en-US"/>
                        <a:t>Use beforeEach() for setup instead of beforeAll()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Safer in parallel mode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151147"/>
                  </a:ext>
                </a:extLst>
              </a:tr>
              <a:tr h="269395">
                <a:tc>
                  <a:txBody>
                    <a:bodyPr/>
                    <a:lstStyle/>
                    <a:p>
                      <a:r>
                        <a:rPr lang="en-US"/>
                        <a:t>Use unique test data (e.g. random emails)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Prevent shared state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8652496"/>
                  </a:ext>
                </a:extLst>
              </a:tr>
              <a:tr h="464983">
                <a:tc>
                  <a:txBody>
                    <a:bodyPr/>
                    <a:lstStyle/>
                    <a:p>
                      <a:r>
                        <a:rPr lang="en-US"/>
                        <a:t>Limit shared resources (e.g., avoid DB writes across tests)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Prevent collisions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811370"/>
                  </a:ext>
                </a:extLst>
              </a:tr>
              <a:tr h="269395">
                <a:tc>
                  <a:txBody>
                    <a:bodyPr/>
                    <a:lstStyle/>
                    <a:p>
                      <a:r>
                        <a:rPr lang="en-US"/>
                        <a:t>Use test.describe.serial() when order matters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 group serially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5544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481465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939</Words>
  <Application>Microsoft Office PowerPoint</Application>
  <PresentationFormat>On-screen Show (16:9)</PresentationFormat>
  <Paragraphs>160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Arial</vt:lpstr>
      <vt:lpstr>Roboto</vt:lpstr>
      <vt:lpstr>Material</vt:lpstr>
      <vt:lpstr>Parallel Testing and Test Config</vt:lpstr>
      <vt:lpstr>What is Parallel Testing?</vt:lpstr>
      <vt:lpstr>CI/CD Integration with Playwright (Parallel Execution)</vt:lpstr>
      <vt:lpstr>Debug Commends</vt:lpstr>
      <vt:lpstr>Controlling Parallelism</vt:lpstr>
      <vt:lpstr>Test Configuration (playwright.config.js)</vt:lpstr>
      <vt:lpstr>Sample playwright.config.js</vt:lpstr>
      <vt:lpstr>Running Parallel Tests</vt:lpstr>
      <vt:lpstr>Example: Desktop + Mobile Project Config</vt:lpstr>
      <vt:lpstr>Best Practices for Parallel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71</cp:revision>
  <dcterms:modified xsi:type="dcterms:W3CDTF">2025-08-26T13:26:41Z</dcterms:modified>
</cp:coreProperties>
</file>
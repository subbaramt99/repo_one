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8" r:id="rId3"/>
    <p:sldId id="265" r:id="rId4"/>
    <p:sldId id="270" r:id="rId5"/>
    <p:sldId id="266" r:id="rId6"/>
    <p:sldId id="267" r:id="rId7"/>
    <p:sldId id="268" r:id="rId8"/>
    <p:sldId id="269" r:id="rId9"/>
  </p:sldIdLst>
  <p:sldSz cx="9144000" cy="5143500" type="screen16x9"/>
  <p:notesSz cx="6858000" cy="9144000"/>
  <p:embeddedFontLst>
    <p:embeddedFont>
      <p:font typeface="Roboto" panose="02000000000000000000" pitchFamily="2" charset="0"/>
      <p:regular r:id="rId11"/>
      <p:bold r:id="rId12"/>
      <p:italic r:id="rId13"/>
      <p:boldItalic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85F4"/>
    <a:srgbClr val="4286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82" d="100"/>
          <a:sy n="82" d="100"/>
        </p:scale>
        <p:origin x="820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c6f91993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c6f91993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ecb4f0fa32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ecb4f0fa32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cd7211dc6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cd7211dc6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>
          <a:extLst>
            <a:ext uri="{FF2B5EF4-FFF2-40B4-BE49-F238E27FC236}">
              <a16:creationId xmlns:a16="http://schemas.microsoft.com/office/drawing/2014/main" id="{93347E27-9347-E14A-5277-C49C1D824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cd7211dc6_0_38:notes">
            <a:extLst>
              <a:ext uri="{FF2B5EF4-FFF2-40B4-BE49-F238E27FC236}">
                <a16:creationId xmlns:a16="http://schemas.microsoft.com/office/drawing/2014/main" id="{C9FA4F3A-D0D8-CC7F-2419-0A93C48FD7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cd7211dc6_0_38:notes">
            <a:extLst>
              <a:ext uri="{FF2B5EF4-FFF2-40B4-BE49-F238E27FC236}">
                <a16:creationId xmlns:a16="http://schemas.microsoft.com/office/drawing/2014/main" id="{333315D0-B8BE-2166-8906-17606BA955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158062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>
          <a:extLst>
            <a:ext uri="{FF2B5EF4-FFF2-40B4-BE49-F238E27FC236}">
              <a16:creationId xmlns:a16="http://schemas.microsoft.com/office/drawing/2014/main" id="{B2D6C3D2-56B1-F830-CC42-2EC707A8E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cd7211dc6_0_38:notes">
            <a:extLst>
              <a:ext uri="{FF2B5EF4-FFF2-40B4-BE49-F238E27FC236}">
                <a16:creationId xmlns:a16="http://schemas.microsoft.com/office/drawing/2014/main" id="{54BDE184-7A7D-D45C-9CD6-80DDA8D346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cd7211dc6_0_38:notes">
            <a:extLst>
              <a:ext uri="{FF2B5EF4-FFF2-40B4-BE49-F238E27FC236}">
                <a16:creationId xmlns:a16="http://schemas.microsoft.com/office/drawing/2014/main" id="{15128885-B5D4-3602-4221-F04E8C9946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00093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>
          <a:extLst>
            <a:ext uri="{FF2B5EF4-FFF2-40B4-BE49-F238E27FC236}">
              <a16:creationId xmlns:a16="http://schemas.microsoft.com/office/drawing/2014/main" id="{FFC5DF81-988D-05D3-89FE-48F1262A2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cd7211dc6_0_38:notes">
            <a:extLst>
              <a:ext uri="{FF2B5EF4-FFF2-40B4-BE49-F238E27FC236}">
                <a16:creationId xmlns:a16="http://schemas.microsoft.com/office/drawing/2014/main" id="{6CD3342D-504F-B544-E3F3-4F259B1CB5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cd7211dc6_0_38:notes">
            <a:extLst>
              <a:ext uri="{FF2B5EF4-FFF2-40B4-BE49-F238E27FC236}">
                <a16:creationId xmlns:a16="http://schemas.microsoft.com/office/drawing/2014/main" id="{A3EF0777-40E6-1011-62ED-9B2F330E4F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357780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>
          <a:extLst>
            <a:ext uri="{FF2B5EF4-FFF2-40B4-BE49-F238E27FC236}">
              <a16:creationId xmlns:a16="http://schemas.microsoft.com/office/drawing/2014/main" id="{6DB0295C-9302-E1A8-B34A-6C42545DF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cd7211dc6_0_38:notes">
            <a:extLst>
              <a:ext uri="{FF2B5EF4-FFF2-40B4-BE49-F238E27FC236}">
                <a16:creationId xmlns:a16="http://schemas.microsoft.com/office/drawing/2014/main" id="{6AB438A8-CFB3-C089-67DA-B7C9B7EA9B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cd7211dc6_0_38:notes">
            <a:extLst>
              <a:ext uri="{FF2B5EF4-FFF2-40B4-BE49-F238E27FC236}">
                <a16:creationId xmlns:a16="http://schemas.microsoft.com/office/drawing/2014/main" id="{9C9561E9-CF49-C5C4-96CC-ABCB6D75B7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936037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name="adj" fmla="val 16667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rot="10800000" flipH="1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rot="10800000" flipH="1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rot="10800000" flipH="1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0"/>
          <p:cNvSpPr/>
          <p:nvPr/>
        </p:nvSpPr>
        <p:spPr>
          <a:xfrm rot="10800000" flipH="1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0"/>
          <p:cNvSpPr txBox="1">
            <a:spLocks noGrp="1"/>
          </p:cNvSpPr>
          <p:nvPr>
            <p:ph type="body" idx="1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4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>
            <a:spLocks noGrp="1"/>
          </p:cNvSpPr>
          <p:nvPr>
            <p:ph type="title" hasCustomPrompt="1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>
            <a:spLocks noGrp="1"/>
          </p:cNvSpPr>
          <p:nvPr>
            <p:ph type="body" idx="1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4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terial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3"/>
          <p:cNvSpPr txBox="1">
            <a:spLocks noGrp="1"/>
          </p:cNvSpPr>
          <p:nvPr>
            <p:ph type="subTitle" idx="1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dirty="0"/>
              <a:t>App</a:t>
            </a:r>
            <a:r>
              <a:rPr lang="en-US" dirty="0"/>
              <a:t>lication programming Interface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C2CCDA0-EB04-0B6C-5463-6C1D3A8F42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0524" y="1819275"/>
            <a:ext cx="8590743" cy="933600"/>
          </a:xfrm>
        </p:spPr>
        <p:txBody>
          <a:bodyPr/>
          <a:lstStyle/>
          <a:p>
            <a:r>
              <a:rPr lang="en-US" dirty="0"/>
              <a:t>playwright with Java Script/TS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2400" y="4520775"/>
            <a:ext cx="1183600" cy="555275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5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2800" dirty="0"/>
              <a:t>What is Playwright?</a:t>
            </a:r>
            <a:endParaRPr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5E1A72-ECE7-EAF5-67AF-A12343ABC290}"/>
              </a:ext>
            </a:extLst>
          </p:cNvPr>
          <p:cNvSpPr txBox="1"/>
          <p:nvPr/>
        </p:nvSpPr>
        <p:spPr>
          <a:xfrm>
            <a:off x="158700" y="701870"/>
            <a:ext cx="8826600" cy="3877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just">
              <a:buNone/>
            </a:pPr>
            <a:r>
              <a:rPr lang="en-US" sz="1800" b="1" dirty="0"/>
              <a:t>	</a:t>
            </a:r>
            <a:r>
              <a:rPr lang="en-US" dirty="0"/>
              <a:t>Playwright is a Node.js library developed by Microsoft that allows you to automate browsers like Chromium (Chrome/Edge), Firefox, and WebKit (Safari) using a single API.</a:t>
            </a:r>
          </a:p>
          <a:p>
            <a:pPr marL="0" indent="0" algn="just">
              <a:buNone/>
            </a:pPr>
            <a:r>
              <a:rPr lang="en-US" dirty="0"/>
              <a:t>It’s primarily used for end-to-end testing of web applications and supports powerful features such as:</a:t>
            </a:r>
          </a:p>
          <a:p>
            <a:pPr marL="2857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Cross-browser automation</a:t>
            </a:r>
          </a:p>
          <a:p>
            <a:pPr marL="2857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Headless and headful modes</a:t>
            </a:r>
          </a:p>
          <a:p>
            <a:pPr marL="2857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Auto-waiting</a:t>
            </a:r>
          </a:p>
          <a:p>
            <a:pPr marL="2857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Built-in test runner</a:t>
            </a:r>
          </a:p>
          <a:p>
            <a:pPr marL="2857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Parallel test execution</a:t>
            </a:r>
          </a:p>
          <a:p>
            <a:pPr marL="2857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Visual comparisons (screenshots, videos)</a:t>
            </a:r>
          </a:p>
          <a:p>
            <a:pPr marL="2857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API testing</a:t>
            </a:r>
          </a:p>
          <a:p>
            <a:pPr marL="2857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Record and playback(Trace viewer)</a:t>
            </a:r>
          </a:p>
          <a:p>
            <a:endParaRPr lang="en-IN" sz="1800" kern="100" dirty="0">
              <a:effectLst/>
              <a:latin typeface="Calibri" panose="020F0502020204030204" pitchFamily="34" charset="0"/>
              <a:ea typeface="Yu Mincho" panose="02020400000000000000" pitchFamily="18" charset="-128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Why Use Playwright?</a:t>
            </a:r>
            <a:endParaRPr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CD618CE5-995F-4ED1-92D1-09E289E37AC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31236919"/>
              </p:ext>
            </p:extLst>
          </p:nvPr>
        </p:nvGraphicFramePr>
        <p:xfrm>
          <a:off x="534691" y="931242"/>
          <a:ext cx="7966130" cy="292783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983065">
                  <a:extLst>
                    <a:ext uri="{9D8B030D-6E8A-4147-A177-3AD203B41FA5}">
                      <a16:colId xmlns:a16="http://schemas.microsoft.com/office/drawing/2014/main" val="3203473657"/>
                    </a:ext>
                  </a:extLst>
                </a:gridCol>
                <a:gridCol w="3983065">
                  <a:extLst>
                    <a:ext uri="{9D8B030D-6E8A-4147-A177-3AD203B41FA5}">
                      <a16:colId xmlns:a16="http://schemas.microsoft.com/office/drawing/2014/main" val="580327980"/>
                    </a:ext>
                  </a:extLst>
                </a:gridCol>
              </a:tblGrid>
              <a:tr h="418262">
                <a:tc>
                  <a:txBody>
                    <a:bodyPr/>
                    <a:lstStyle/>
                    <a:p>
                      <a:r>
                        <a:rPr lang="en-US" dirty="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Benefit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2045621"/>
                  </a:ext>
                </a:extLst>
              </a:tr>
              <a:tr h="418262">
                <a:tc>
                  <a:txBody>
                    <a:bodyPr/>
                    <a:lstStyle/>
                    <a:p>
                      <a:r>
                        <a:rPr lang="en-US" b="1"/>
                        <a:t>Cross-browser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Test on Chromium, Firefox, and WebKit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1365662"/>
                  </a:ext>
                </a:extLst>
              </a:tr>
              <a:tr h="418262">
                <a:tc>
                  <a:txBody>
                    <a:bodyPr/>
                    <a:lstStyle/>
                    <a:p>
                      <a:r>
                        <a:rPr lang="en-US" b="1" dirty="0"/>
                        <a:t>Auto-waiting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Smart waiting for UI to stabilize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3845285"/>
                  </a:ext>
                </a:extLst>
              </a:tr>
              <a:tr h="418262">
                <a:tc>
                  <a:txBody>
                    <a:bodyPr/>
                    <a:lstStyle/>
                    <a:p>
                      <a:r>
                        <a:rPr lang="en-US" b="1"/>
                        <a:t>Headless mode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Run tests without a UI (faster CI/CD)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7904412"/>
                  </a:ext>
                </a:extLst>
              </a:tr>
              <a:tr h="418262">
                <a:tc>
                  <a:txBody>
                    <a:bodyPr/>
                    <a:lstStyle/>
                    <a:p>
                      <a:r>
                        <a:rPr lang="en-US" b="1"/>
                        <a:t>Native events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Realistic interactions (like actual user)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2648678"/>
                  </a:ext>
                </a:extLst>
              </a:tr>
              <a:tr h="418262">
                <a:tc>
                  <a:txBody>
                    <a:bodyPr/>
                    <a:lstStyle/>
                    <a:p>
                      <a:r>
                        <a:rPr lang="en-US" b="1" dirty="0"/>
                        <a:t>Mobile emulation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Simulate mobile devices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8582114"/>
                  </a:ext>
                </a:extLst>
              </a:tr>
              <a:tr h="418262">
                <a:tc>
                  <a:txBody>
                    <a:bodyPr/>
                    <a:lstStyle/>
                    <a:p>
                      <a:r>
                        <a:rPr lang="en-US" b="1"/>
                        <a:t>Multiple contexts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Isolated sessions (like private tabs)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45297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B1579-7F3F-C7AA-A4FE-024CAB68E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69447E6-9D41-4071-FBFC-922FD04867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0938259"/>
              </p:ext>
            </p:extLst>
          </p:nvPr>
        </p:nvGraphicFramePr>
        <p:xfrm>
          <a:off x="240224" y="820366"/>
          <a:ext cx="8684625" cy="42061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894875">
                  <a:extLst>
                    <a:ext uri="{9D8B030D-6E8A-4147-A177-3AD203B41FA5}">
                      <a16:colId xmlns:a16="http://schemas.microsoft.com/office/drawing/2014/main" val="446968479"/>
                    </a:ext>
                  </a:extLst>
                </a:gridCol>
                <a:gridCol w="2894875">
                  <a:extLst>
                    <a:ext uri="{9D8B030D-6E8A-4147-A177-3AD203B41FA5}">
                      <a16:colId xmlns:a16="http://schemas.microsoft.com/office/drawing/2014/main" val="1051872530"/>
                    </a:ext>
                  </a:extLst>
                </a:gridCol>
                <a:gridCol w="2894875">
                  <a:extLst>
                    <a:ext uri="{9D8B030D-6E8A-4147-A177-3AD203B41FA5}">
                      <a16:colId xmlns:a16="http://schemas.microsoft.com/office/drawing/2014/main" val="3026756175"/>
                    </a:ext>
                  </a:extLst>
                </a:gridCol>
              </a:tblGrid>
              <a:tr h="2596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Benefit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288124"/>
                  </a:ext>
                </a:extLst>
              </a:tr>
              <a:tr h="2596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page.goto(url)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Navigate to a webpage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Fast &amp; reliable page loading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1022826"/>
                  </a:ext>
                </a:extLst>
              </a:tr>
              <a:tr h="4327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page.locator(selector)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Locate elements (CSS/XPath/Text/Role)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Flexible, smart, easy to use selectors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432506"/>
                  </a:ext>
                </a:extLst>
              </a:tr>
              <a:tr h="4327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locator.click()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Clicks on element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Auto-waits for element readiness (no flaky clicks)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7795015"/>
                  </a:ext>
                </a:extLst>
              </a:tr>
              <a:tr h="4327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locator.fill(value)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Fill input field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Clears old text &amp; types new one automatically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245862"/>
                  </a:ext>
                </a:extLst>
              </a:tr>
              <a:tr h="2596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locator.type(value)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Types text (char by char)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Simulates real user typing speed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089560"/>
                  </a:ext>
                </a:extLst>
              </a:tr>
              <a:tr h="3656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locator.press(key)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Press keyboard key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b-NO" sz="1200"/>
                        <a:t>Handles Enter, Tab, Esc, etc. for forms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5964155"/>
                  </a:ext>
                </a:extLst>
              </a:tr>
              <a:tr h="2665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locator.check() / locator.uncheck()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Checkbox/radio toggle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Prevents errors by checking state first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7374087"/>
                  </a:ext>
                </a:extLst>
              </a:tr>
              <a:tr h="2596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locator.selectOption(value)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Select dropdown option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Supports single/multiple options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6233211"/>
                  </a:ext>
                </a:extLst>
              </a:tr>
              <a:tr h="2596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expect(page).toHaveTitle(value)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Assertion on page title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Ensures correct page navigation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8169655"/>
                  </a:ext>
                </a:extLst>
              </a:tr>
              <a:tr h="2665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expect(locator).toHaveText(value)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Assertion on element text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Auto-retries until condition met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447162"/>
                  </a:ext>
                </a:extLst>
              </a:tr>
              <a:tr h="2665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page.screenshot({ path })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Capture screenshot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Debugging &amp; visual test evidence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5243479"/>
                  </a:ext>
                </a:extLst>
              </a:tr>
              <a:tr h="2665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page.waitForSelector(selector)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Waits for element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Removes flaky tests with auto-wait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83758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947608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A36D3BEE-1011-F9E0-428A-46C7B9FFF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>
            <a:extLst>
              <a:ext uri="{FF2B5EF4-FFF2-40B4-BE49-F238E27FC236}">
                <a16:creationId xmlns:a16="http://schemas.microsoft.com/office/drawing/2014/main" id="{1E949372-58EC-6E30-CFC6-3728E7D940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Installing Playwright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45D48C-FC98-49A9-ADEB-B15A54DDD646}"/>
              </a:ext>
            </a:extLst>
          </p:cNvPr>
          <p:cNvSpPr txBox="1">
            <a:spLocks/>
          </p:cNvSpPr>
          <p:nvPr/>
        </p:nvSpPr>
        <p:spPr>
          <a:xfrm>
            <a:off x="348713" y="867906"/>
            <a:ext cx="8576137" cy="354911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None/>
            </a:pPr>
            <a:r>
              <a:rPr lang="en-US" b="1" dirty="0"/>
              <a:t>First, create a project folder: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	</a:t>
            </a:r>
            <a:r>
              <a:rPr lang="en-US" dirty="0" err="1"/>
              <a:t>mkdir</a:t>
            </a:r>
            <a:r>
              <a:rPr lang="en-US" dirty="0"/>
              <a:t> playwright-intro &amp;&amp; cd playwright-intro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	</a:t>
            </a:r>
            <a:r>
              <a:rPr lang="en-US" dirty="0" err="1"/>
              <a:t>npm</a:t>
            </a:r>
            <a:r>
              <a:rPr lang="en-US" dirty="0"/>
              <a:t> init -y</a:t>
            </a:r>
          </a:p>
          <a:p>
            <a:pPr marL="0" indent="0">
              <a:buNone/>
            </a:pPr>
            <a:r>
              <a:rPr lang="en-US" b="1" dirty="0"/>
              <a:t>Then install Playwright: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	</a:t>
            </a:r>
            <a:r>
              <a:rPr lang="en-US" dirty="0" err="1"/>
              <a:t>npm</a:t>
            </a:r>
            <a:r>
              <a:rPr lang="en-US" dirty="0"/>
              <a:t> install -D playwright</a:t>
            </a:r>
          </a:p>
          <a:p>
            <a:pPr marL="0" indent="0">
              <a:buNone/>
            </a:pPr>
            <a:r>
              <a:rPr lang="en-US" b="1" dirty="0"/>
              <a:t>To install all browser binaries: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	</a:t>
            </a:r>
            <a:r>
              <a:rPr lang="en-US" dirty="0" err="1"/>
              <a:t>npx</a:t>
            </a:r>
            <a:r>
              <a:rPr lang="en-US" dirty="0"/>
              <a:t> playwright install</a:t>
            </a:r>
          </a:p>
          <a:p>
            <a:pPr marL="0" indent="0">
              <a:buNone/>
            </a:pPr>
            <a:r>
              <a:rPr lang="en-US" dirty="0"/>
              <a:t>This will download Chromium, Firefox, and WebKit.</a:t>
            </a:r>
          </a:p>
        </p:txBody>
      </p:sp>
    </p:spTree>
    <p:extLst>
      <p:ext uri="{BB962C8B-B14F-4D97-AF65-F5344CB8AC3E}">
        <p14:creationId xmlns:p14="http://schemas.microsoft.com/office/powerpoint/2010/main" val="21846145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01D3D67A-46BD-9129-CA61-BF78DFBE8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>
            <a:extLst>
              <a:ext uri="{FF2B5EF4-FFF2-40B4-BE49-F238E27FC236}">
                <a16:creationId xmlns:a16="http://schemas.microsoft.com/office/drawing/2014/main" id="{A48A8C40-29AD-AB3B-85A9-0D6A09CD728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2000" dirty="0"/>
              <a:t>First Playwright Script</a:t>
            </a:r>
            <a:endParaRPr sz="2000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05247662-0C18-413C-BA62-BAC5B125DA5D}"/>
              </a:ext>
            </a:extLst>
          </p:cNvPr>
          <p:cNvSpPr txBox="1">
            <a:spLocks/>
          </p:cNvSpPr>
          <p:nvPr/>
        </p:nvSpPr>
        <p:spPr>
          <a:xfrm>
            <a:off x="565688" y="891154"/>
            <a:ext cx="8175356" cy="3866826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None/>
            </a:pPr>
            <a:r>
              <a:rPr lang="en-US" dirty="0"/>
              <a:t>Import {test, expect} from ‘@playwright/test’</a:t>
            </a:r>
          </a:p>
          <a:p>
            <a:pPr marL="0" indent="0">
              <a:buNone/>
            </a:pPr>
            <a:r>
              <a:rPr lang="en-US" dirty="0"/>
              <a:t>//const { chromium } = require('playwright’);</a:t>
            </a:r>
          </a:p>
          <a:p>
            <a:pPr marL="0" indent="0">
              <a:buNone/>
            </a:pPr>
            <a:r>
              <a:rPr lang="en-US" dirty="0"/>
              <a:t>//(async () =&gt; {</a:t>
            </a:r>
          </a:p>
          <a:p>
            <a:pPr marL="0" indent="0">
              <a:buNone/>
            </a:pPr>
            <a:r>
              <a:rPr lang="en-US" dirty="0"/>
              <a:t>Test(‘My first test’, async({browser}) =&gt; {  </a:t>
            </a:r>
          </a:p>
          <a:p>
            <a:pPr marL="0" indent="0">
              <a:buNone/>
            </a:pPr>
            <a:r>
              <a:rPr lang="en-US" dirty="0"/>
              <a:t>  //const browser = await </a:t>
            </a:r>
            <a:r>
              <a:rPr lang="en-US" dirty="0" err="1"/>
              <a:t>chromium.launch</a:t>
            </a:r>
            <a:r>
              <a:rPr lang="en-US" dirty="0"/>
              <a:t>({ headless: false }); // launch with UI</a:t>
            </a:r>
          </a:p>
          <a:p>
            <a:pPr marL="0" indent="0">
              <a:buNone/>
            </a:pPr>
            <a:r>
              <a:rPr lang="en-US" dirty="0"/>
              <a:t>const context = await </a:t>
            </a:r>
            <a:r>
              <a:rPr lang="en-US" dirty="0" err="1"/>
              <a:t>browser.newContext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  const page = await </a:t>
            </a:r>
            <a:r>
              <a:rPr lang="en-US" dirty="0" err="1"/>
              <a:t>context.newPage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  await </a:t>
            </a:r>
            <a:r>
              <a:rPr lang="en-US" dirty="0" err="1"/>
              <a:t>page.goto</a:t>
            </a:r>
            <a:r>
              <a:rPr lang="en-US" dirty="0"/>
              <a:t>('https://example.com');</a:t>
            </a:r>
          </a:p>
          <a:p>
            <a:pPr marL="0" indent="0">
              <a:buNone/>
            </a:pPr>
            <a:r>
              <a:rPr lang="en-US" dirty="0"/>
              <a:t>  const title = await </a:t>
            </a:r>
            <a:r>
              <a:rPr lang="en-US" dirty="0" err="1"/>
              <a:t>page.title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  console.log(`Page title: ${title}`); // "Example Domain"</a:t>
            </a:r>
          </a:p>
          <a:p>
            <a:pPr marL="0" indent="0">
              <a:buNone/>
            </a:pPr>
            <a:r>
              <a:rPr lang="en-US" dirty="0"/>
              <a:t>  await </a:t>
            </a:r>
            <a:r>
              <a:rPr lang="en-US" dirty="0" err="1"/>
              <a:t>browser.close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})();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Run it using:</a:t>
            </a:r>
          </a:p>
          <a:p>
            <a:pPr marL="0" indent="0">
              <a:buNone/>
            </a:pPr>
            <a:r>
              <a:rPr lang="en-US" dirty="0"/>
              <a:t>node example.js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457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23698AD6-1B4D-D4D5-DB35-83BD949C4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ADD7BE-4D1F-4F63-AE26-E4652B31F514}"/>
              </a:ext>
            </a:extLst>
          </p:cNvPr>
          <p:cNvSpPr txBox="1">
            <a:spLocks/>
          </p:cNvSpPr>
          <p:nvPr/>
        </p:nvSpPr>
        <p:spPr>
          <a:xfrm>
            <a:off x="317715" y="782664"/>
            <a:ext cx="11186897" cy="5889806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US" b="1" dirty="0"/>
          </a:p>
        </p:txBody>
      </p:sp>
      <p:sp>
        <p:nvSpPr>
          <p:cNvPr id="6" name="Google Shape;127;p22">
            <a:extLst>
              <a:ext uri="{FF2B5EF4-FFF2-40B4-BE49-F238E27FC236}">
                <a16:creationId xmlns:a16="http://schemas.microsoft.com/office/drawing/2014/main" id="{A271AA21-6EA7-7293-0EE3-D7704708264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000" dirty="0"/>
              <a:t>Breakdown of Code</a:t>
            </a:r>
          </a:p>
        </p:txBody>
      </p:sp>
      <p:graphicFrame>
        <p:nvGraphicFramePr>
          <p:cNvPr id="7" name="Table 4">
            <a:extLst>
              <a:ext uri="{FF2B5EF4-FFF2-40B4-BE49-F238E27FC236}">
                <a16:creationId xmlns:a16="http://schemas.microsoft.com/office/drawing/2014/main" id="{B9F56C7C-850F-43E2-849E-36C84B44A62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77472964"/>
              </p:ext>
            </p:extLst>
          </p:nvPr>
        </p:nvGraphicFramePr>
        <p:xfrm>
          <a:off x="1278541" y="853135"/>
          <a:ext cx="6586918" cy="216519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293459">
                  <a:extLst>
                    <a:ext uri="{9D8B030D-6E8A-4147-A177-3AD203B41FA5}">
                      <a16:colId xmlns:a16="http://schemas.microsoft.com/office/drawing/2014/main" val="191423066"/>
                    </a:ext>
                  </a:extLst>
                </a:gridCol>
                <a:gridCol w="3293459">
                  <a:extLst>
                    <a:ext uri="{9D8B030D-6E8A-4147-A177-3AD203B41FA5}">
                      <a16:colId xmlns:a16="http://schemas.microsoft.com/office/drawing/2014/main" val="3544076946"/>
                    </a:ext>
                  </a:extLst>
                </a:gridCol>
              </a:tblGrid>
              <a:tr h="360866">
                <a:tc>
                  <a:txBody>
                    <a:bodyPr/>
                    <a:lstStyle/>
                    <a:p>
                      <a:r>
                        <a:rPr lang="en-US" dirty="0"/>
                        <a:t>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Explanation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4338564"/>
                  </a:ext>
                </a:extLst>
              </a:tr>
              <a:tr h="360866">
                <a:tc>
                  <a:txBody>
                    <a:bodyPr/>
                    <a:lstStyle/>
                    <a:p>
                      <a:r>
                        <a:rPr lang="en-US"/>
                        <a:t>chromium.launch()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Starts the Chromium browser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9039675"/>
                  </a:ext>
                </a:extLst>
              </a:tr>
              <a:tr h="360866">
                <a:tc>
                  <a:txBody>
                    <a:bodyPr/>
                    <a:lstStyle/>
                    <a:p>
                      <a:r>
                        <a:rPr lang="en-US"/>
                        <a:t>newPage()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Opens a new tab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8714028"/>
                  </a:ext>
                </a:extLst>
              </a:tr>
              <a:tr h="360866">
                <a:tc>
                  <a:txBody>
                    <a:bodyPr/>
                    <a:lstStyle/>
                    <a:p>
                      <a:r>
                        <a:rPr lang="en-US"/>
                        <a:t>goto()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Navigates to a URL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6329693"/>
                  </a:ext>
                </a:extLst>
              </a:tr>
              <a:tr h="360866">
                <a:tc>
                  <a:txBody>
                    <a:bodyPr/>
                    <a:lstStyle/>
                    <a:p>
                      <a:r>
                        <a:rPr lang="en-US"/>
                        <a:t>title()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Fetches the page's title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6439435"/>
                  </a:ext>
                </a:extLst>
              </a:tr>
              <a:tr h="360866">
                <a:tc>
                  <a:txBody>
                    <a:bodyPr/>
                    <a:lstStyle/>
                    <a:p>
                      <a:r>
                        <a:rPr lang="en-US"/>
                        <a:t>close()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Closes the browser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726365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63C30C8-84F7-5388-08CA-358144289B90}"/>
              </a:ext>
            </a:extLst>
          </p:cNvPr>
          <p:cNvSpPr txBox="1"/>
          <p:nvPr/>
        </p:nvSpPr>
        <p:spPr>
          <a:xfrm>
            <a:off x="317715" y="3181945"/>
            <a:ext cx="5753436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Supported Browsers</a:t>
            </a:r>
          </a:p>
          <a:p>
            <a:endParaRPr lang="en-US" b="1" dirty="0"/>
          </a:p>
          <a:p>
            <a:pPr marL="0" indent="0">
              <a:buNone/>
            </a:pPr>
            <a:r>
              <a:rPr lang="en-US" b="1" dirty="0"/>
              <a:t>You can import and use any of the following:</a:t>
            </a:r>
          </a:p>
          <a:p>
            <a:pPr marL="0" indent="0">
              <a:buNone/>
            </a:pPr>
            <a:r>
              <a:rPr lang="en-US" dirty="0"/>
              <a:t>const { chromium, </a:t>
            </a:r>
            <a:r>
              <a:rPr lang="en-US" dirty="0" err="1"/>
              <a:t>firefox</a:t>
            </a:r>
            <a:r>
              <a:rPr lang="en-US" dirty="0"/>
              <a:t>, </a:t>
            </a:r>
            <a:r>
              <a:rPr lang="en-US" dirty="0" err="1"/>
              <a:t>webkit</a:t>
            </a:r>
            <a:r>
              <a:rPr lang="en-US" dirty="0"/>
              <a:t> } = require('playwright’);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Example:</a:t>
            </a:r>
          </a:p>
          <a:p>
            <a:pPr marL="0" indent="0">
              <a:buNone/>
            </a:pPr>
            <a:r>
              <a:rPr lang="en-US" dirty="0"/>
              <a:t>const browser = await </a:t>
            </a:r>
            <a:r>
              <a:rPr lang="en-US" dirty="0" err="1"/>
              <a:t>firefox.launch</a:t>
            </a:r>
            <a:r>
              <a:rPr lang="en-US" dirty="0"/>
              <a:t>();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8085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5F1E17E2-AFB3-2C7E-FA14-D201B13D4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36A266D-E061-4F1D-9C6F-3F09C4FB8C21}"/>
              </a:ext>
            </a:extLst>
          </p:cNvPr>
          <p:cNvSpPr txBox="1">
            <a:spLocks/>
          </p:cNvSpPr>
          <p:nvPr/>
        </p:nvSpPr>
        <p:spPr>
          <a:xfrm>
            <a:off x="371959" y="808383"/>
            <a:ext cx="8369085" cy="369387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US" b="1" dirty="0"/>
          </a:p>
        </p:txBody>
      </p:sp>
      <p:sp>
        <p:nvSpPr>
          <p:cNvPr id="2" name="Google Shape;127;p22">
            <a:extLst>
              <a:ext uri="{FF2B5EF4-FFF2-40B4-BE49-F238E27FC236}">
                <a16:creationId xmlns:a16="http://schemas.microsoft.com/office/drawing/2014/main" id="{CC981D68-38F7-A426-A3FC-F95CB79B1A6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1"/>
            <a:r>
              <a:rPr lang="en-US" dirty="0"/>
              <a:t>Real-World Use Cases	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60322B-23AB-4682-68DF-4D0DBC96D05A}"/>
              </a:ext>
            </a:extLst>
          </p:cNvPr>
          <p:cNvSpPr txBox="1"/>
          <p:nvPr/>
        </p:nvSpPr>
        <p:spPr>
          <a:xfrm>
            <a:off x="371959" y="914401"/>
            <a:ext cx="6486041" cy="3862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Test login forms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Verify responsive layouts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Generate screenshots for UIs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API integration and mocking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Crawl and scrape websites</a:t>
            </a:r>
          </a:p>
          <a:p>
            <a:endParaRPr lang="en-US" dirty="0"/>
          </a:p>
          <a:p>
            <a:r>
              <a:rPr lang="en-IN" b="1" dirty="0"/>
              <a:t>What’s Next?</a:t>
            </a:r>
          </a:p>
          <a:p>
            <a:endParaRPr lang="en-IN" dirty="0"/>
          </a:p>
          <a:p>
            <a:pPr marL="0" indent="0">
              <a:buNone/>
            </a:pPr>
            <a:r>
              <a:rPr lang="en-US" b="1" dirty="0"/>
              <a:t>After learning the basics, explore:</a:t>
            </a:r>
          </a:p>
          <a:p>
            <a:pPr marL="2857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Test runner (@playwright/test)</a:t>
            </a:r>
          </a:p>
          <a:p>
            <a:pPr marL="2857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Locators and auto-waiting</a:t>
            </a:r>
          </a:p>
          <a:p>
            <a:pPr marL="2857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Assertions</a:t>
            </a:r>
          </a:p>
          <a:p>
            <a:pPr marL="2857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Page Object Model (POM)</a:t>
            </a:r>
          </a:p>
          <a:p>
            <a:pPr marL="2857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CI/CD pipeline integration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2457425"/>
      </p:ext>
    </p:extLst>
  </p:cSld>
  <p:clrMapOvr>
    <a:masterClrMapping/>
  </p:clrMapOvr>
</p:sld>
</file>

<file path=ppt/theme/theme1.xml><?xml version="1.0" encoding="utf-8"?>
<a:theme xmlns:a="http://schemas.openxmlformats.org/drawingml/2006/main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1065</TotalTime>
  <Words>663</Words>
  <Application>Microsoft Office PowerPoint</Application>
  <PresentationFormat>On-screen Show (16:9)</PresentationFormat>
  <Paragraphs>127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Roboto</vt:lpstr>
      <vt:lpstr>Calibri</vt:lpstr>
      <vt:lpstr>Arial</vt:lpstr>
      <vt:lpstr>Material</vt:lpstr>
      <vt:lpstr>playwright with Java Script/TS</vt:lpstr>
      <vt:lpstr>What is Playwright?</vt:lpstr>
      <vt:lpstr>Why Use Playwright?</vt:lpstr>
      <vt:lpstr>PowerPoint Presentation</vt:lpstr>
      <vt:lpstr>Installing Playwright</vt:lpstr>
      <vt:lpstr>First Playwright Script</vt:lpstr>
      <vt:lpstr>Breakdown of Code</vt:lpstr>
      <vt:lpstr>Real-World Use Cases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admin</cp:lastModifiedBy>
  <cp:revision>29</cp:revision>
  <dcterms:modified xsi:type="dcterms:W3CDTF">2025-08-25T11:39:01Z</dcterms:modified>
</cp:coreProperties>
</file>
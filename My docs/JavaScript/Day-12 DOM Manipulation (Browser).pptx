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65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25" autoAdjust="0"/>
  </p:normalViewPr>
  <p:slideViewPr>
    <p:cSldViewPr snapToGrid="0">
      <p:cViewPr varScale="1">
        <p:scale>
          <a:sx n="81" d="100"/>
          <a:sy n="81" d="100"/>
        </p:scale>
        <p:origin x="8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DOM Manipulation (Browser)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is the DOM?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0C32-DAB8-5D47-AD30-529D495F3464}"/>
              </a:ext>
            </a:extLst>
          </p:cNvPr>
          <p:cNvSpPr txBox="1"/>
          <p:nvPr/>
        </p:nvSpPr>
        <p:spPr>
          <a:xfrm>
            <a:off x="98250" y="673388"/>
            <a:ext cx="88266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DOM (Document Object Model)</a:t>
            </a:r>
          </a:p>
          <a:p>
            <a:pPr marL="0" indent="0">
              <a:buNone/>
            </a:pPr>
            <a:endParaRPr lang="en-US" b="1" dirty="0"/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tree-like structure representing the HTML elements of a webpage.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Created by the browser when it loads the webpage.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JavaScript uses the DOM to access and manipulate HTML and CSS dynamically.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HTML Code → Browser parses → DOM Tree → JavaScript interacts</a:t>
            </a:r>
            <a:endParaRPr lang="en-US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DOM Tree Structure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09331-751D-A481-8F41-BF4B8B25D55F}"/>
              </a:ext>
            </a:extLst>
          </p:cNvPr>
          <p:cNvSpPr txBox="1"/>
          <p:nvPr/>
        </p:nvSpPr>
        <p:spPr>
          <a:xfrm>
            <a:off x="3452038" y="1902641"/>
            <a:ext cx="1871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Parent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3268C-CC4E-FAA5-77AA-391BFE355C83}"/>
              </a:ext>
            </a:extLst>
          </p:cNvPr>
          <p:cNvSpPr txBox="1"/>
          <p:nvPr/>
        </p:nvSpPr>
        <p:spPr>
          <a:xfrm>
            <a:off x="3537098" y="4039408"/>
            <a:ext cx="1268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Child class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02E7-8F99-5FD4-424B-E4D332B9D5E3}"/>
              </a:ext>
            </a:extLst>
          </p:cNvPr>
          <p:cNvSpPr txBox="1"/>
          <p:nvPr/>
        </p:nvSpPr>
        <p:spPr>
          <a:xfrm>
            <a:off x="515319" y="743860"/>
            <a:ext cx="811336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HTML element is a node.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Types of nodes: Document, Element, Text, Comment.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  &lt;h1&gt;Hello&lt;/h1&gt;</a:t>
            </a:r>
          </a:p>
          <a:p>
            <a:pPr marL="0" indent="0">
              <a:buNone/>
            </a:pPr>
            <a:r>
              <a:rPr lang="en-US" dirty="0"/>
              <a:t>  &lt;p&gt;This is a paragraph.&lt;/p&gt;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b="1" dirty="0"/>
              <a:t>DOM Tree:</a:t>
            </a:r>
          </a:p>
          <a:p>
            <a:pPr marL="0" indent="0">
              <a:buNone/>
            </a:pPr>
            <a:r>
              <a:rPr lang="en-US" dirty="0"/>
              <a:t>Document</a:t>
            </a:r>
          </a:p>
          <a:p>
            <a:pPr marL="0" indent="0">
              <a:buNone/>
            </a:pPr>
            <a:r>
              <a:rPr lang="en-US" dirty="0"/>
              <a:t> └── html</a:t>
            </a:r>
          </a:p>
          <a:p>
            <a:pPr marL="0" indent="0">
              <a:buNone/>
            </a:pPr>
            <a:r>
              <a:rPr lang="en-US" dirty="0"/>
              <a:t>     └── body</a:t>
            </a:r>
          </a:p>
          <a:p>
            <a:pPr marL="0" indent="0">
              <a:buNone/>
            </a:pPr>
            <a:r>
              <a:rPr lang="en-US" dirty="0"/>
              <a:t>         ├── h1</a:t>
            </a:r>
          </a:p>
          <a:p>
            <a:pPr marL="0" indent="0">
              <a:buNone/>
            </a:pPr>
            <a:r>
              <a:rPr lang="en-US" dirty="0"/>
              <a:t>         └── 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BF91C-0D73-ECB0-BAED-4C223821C55E}"/>
              </a:ext>
            </a:extLst>
          </p:cNvPr>
          <p:cNvSpPr txBox="1"/>
          <p:nvPr/>
        </p:nvSpPr>
        <p:spPr>
          <a:xfrm>
            <a:off x="299545" y="953815"/>
            <a:ext cx="85370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JavaScript provides various </a:t>
            </a:r>
            <a:r>
              <a:rPr lang="en-US" b="1" dirty="0"/>
              <a:t>methods</a:t>
            </a:r>
            <a:r>
              <a:rPr lang="en-US" dirty="0"/>
              <a:t> to access elements: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AE9DA4A2-CD99-DD39-A5FD-2B4D4790D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Accessing DOM Elements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E4E20CA3-24ED-4BD8-A21F-E71FDE82A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500821"/>
              </p:ext>
            </p:extLst>
          </p:nvPr>
        </p:nvGraphicFramePr>
        <p:xfrm>
          <a:off x="794254" y="1568448"/>
          <a:ext cx="7547608" cy="25384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73804">
                  <a:extLst>
                    <a:ext uri="{9D8B030D-6E8A-4147-A177-3AD203B41FA5}">
                      <a16:colId xmlns:a16="http://schemas.microsoft.com/office/drawing/2014/main" val="1234476617"/>
                    </a:ext>
                  </a:extLst>
                </a:gridCol>
                <a:gridCol w="3773804">
                  <a:extLst>
                    <a:ext uri="{9D8B030D-6E8A-4147-A177-3AD203B41FA5}">
                      <a16:colId xmlns:a16="http://schemas.microsoft.com/office/drawing/2014/main" val="4199191385"/>
                    </a:ext>
                  </a:extLst>
                </a:gridCol>
              </a:tblGrid>
              <a:tr h="3406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498904"/>
                  </a:ext>
                </a:extLst>
              </a:tr>
              <a:tr h="340640">
                <a:tc>
                  <a:txBody>
                    <a:bodyPr/>
                    <a:lstStyle/>
                    <a:p>
                      <a:r>
                        <a:rPr lang="en-US"/>
                        <a:t>document.getElementById()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by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853204"/>
                  </a:ext>
                </a:extLst>
              </a:tr>
              <a:tr h="587954">
                <a:tc>
                  <a:txBody>
                    <a:bodyPr/>
                    <a:lstStyle/>
                    <a:p>
                      <a:r>
                        <a:rPr lang="en-US"/>
                        <a:t>document.getElementsByClassName()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by class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596828"/>
                  </a:ext>
                </a:extLst>
              </a:tr>
              <a:tr h="587954">
                <a:tc>
                  <a:txBody>
                    <a:bodyPr/>
                    <a:lstStyle/>
                    <a:p>
                      <a:r>
                        <a:rPr lang="en-US"/>
                        <a:t>document.getElementsByTagName()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by tag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375939"/>
                  </a:ext>
                </a:extLst>
              </a:tr>
              <a:tr h="340640">
                <a:tc>
                  <a:txBody>
                    <a:bodyPr/>
                    <a:lstStyle/>
                    <a:p>
                      <a:r>
                        <a:rPr lang="en-US"/>
                        <a:t>document.querySelector()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Select first matching element (CSS)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697233"/>
                  </a:ext>
                </a:extLst>
              </a:tr>
              <a:tr h="340640">
                <a:tc>
                  <a:txBody>
                    <a:bodyPr/>
                    <a:lstStyle/>
                    <a:p>
                      <a:r>
                        <a:rPr lang="en-US"/>
                        <a:t>document.querySelectorAll()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all matching elements (CSS)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71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797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20C3E8-1F0F-1F28-68BF-11280CC20867}"/>
              </a:ext>
            </a:extLst>
          </p:cNvPr>
          <p:cNvSpPr txBox="1"/>
          <p:nvPr/>
        </p:nvSpPr>
        <p:spPr>
          <a:xfrm>
            <a:off x="315310" y="906517"/>
            <a:ext cx="841090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&lt;p id="demo"&gt;Hello&lt;/p&gt;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  const para = </a:t>
            </a:r>
            <a:r>
              <a:rPr lang="en-US" dirty="0" err="1"/>
              <a:t>document.getElementById</a:t>
            </a:r>
            <a:r>
              <a:rPr lang="en-US" dirty="0"/>
              <a:t>("demo");</a:t>
            </a:r>
          </a:p>
          <a:p>
            <a:pPr marL="0" indent="0">
              <a:buNone/>
            </a:pPr>
            <a:r>
              <a:rPr lang="en-US" dirty="0"/>
              <a:t>  console.log(</a:t>
            </a:r>
            <a:r>
              <a:rPr lang="en-US" dirty="0" err="1"/>
              <a:t>para.innerText</a:t>
            </a:r>
            <a:r>
              <a:rPr lang="en-US" dirty="0"/>
              <a:t>); // Output: Hello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0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39130A-7B5C-3F0A-D4C8-86083A927328}"/>
              </a:ext>
            </a:extLst>
          </p:cNvPr>
          <p:cNvSpPr txBox="1"/>
          <p:nvPr/>
        </p:nvSpPr>
        <p:spPr>
          <a:xfrm>
            <a:off x="220717" y="1032641"/>
            <a:ext cx="855279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para.innerText = "Welcome!";</a:t>
            </a:r>
          </a:p>
          <a:p>
            <a:pPr marL="0" indent="0">
              <a:buNone/>
            </a:pPr>
            <a:r>
              <a:rPr lang="en-US" dirty="0"/>
              <a:t>para.innerHTML = "&lt;strong&gt;Bold text&lt;/strong&gt;"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766FEE-89FA-0CFF-96BA-3F685C20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</p:spPr>
        <p:txBody>
          <a:bodyPr/>
          <a:lstStyle/>
          <a:p>
            <a:r>
              <a:rPr lang="en-US" dirty="0"/>
              <a:t>Modifying Content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F3D35E7F-C317-4BF1-B2BE-D4EB822A5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86440"/>
              </p:ext>
            </p:extLst>
          </p:nvPr>
        </p:nvGraphicFramePr>
        <p:xfrm>
          <a:off x="1109792" y="1032641"/>
          <a:ext cx="6774642" cy="1638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87321">
                  <a:extLst>
                    <a:ext uri="{9D8B030D-6E8A-4147-A177-3AD203B41FA5}">
                      <a16:colId xmlns:a16="http://schemas.microsoft.com/office/drawing/2014/main" val="2341028712"/>
                    </a:ext>
                  </a:extLst>
                </a:gridCol>
                <a:gridCol w="3387321">
                  <a:extLst>
                    <a:ext uri="{9D8B030D-6E8A-4147-A177-3AD203B41FA5}">
                      <a16:colId xmlns:a16="http://schemas.microsoft.com/office/drawing/2014/main" val="3881393080"/>
                    </a:ext>
                  </a:extLst>
                </a:gridCol>
              </a:tblGrid>
              <a:tr h="409520">
                <a:tc>
                  <a:txBody>
                    <a:bodyPr/>
                    <a:lstStyle/>
                    <a:p>
                      <a:r>
                        <a:rPr lang="en-US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0862249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 dirty="0"/>
                        <a:t>innerText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Text content (no HTML)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442310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/>
                        <a:t>innerHTML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HTML content inside the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4504703"/>
                  </a:ext>
                </a:extLst>
              </a:tr>
              <a:tr h="409520">
                <a:tc>
                  <a:txBody>
                    <a:bodyPr/>
                    <a:lstStyle/>
                    <a:p>
                      <a:r>
                        <a:rPr lang="en-US"/>
                        <a:t>textContent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text content (including hidden)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54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77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CE9626-FDBB-CE44-A61E-E3FBF22EC376}"/>
              </a:ext>
            </a:extLst>
          </p:cNvPr>
          <p:cNvSpPr txBox="1"/>
          <p:nvPr/>
        </p:nvSpPr>
        <p:spPr>
          <a:xfrm>
            <a:off x="204952" y="874986"/>
            <a:ext cx="847396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Setting Attributes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element.setAttribute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", "https://example.com");</a:t>
            </a:r>
          </a:p>
          <a:p>
            <a:pPr marL="0" indent="0">
              <a:buNone/>
            </a:pPr>
            <a:r>
              <a:rPr lang="en-US" dirty="0" err="1"/>
              <a:t>element.getAttribute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");  // returns the value</a:t>
            </a:r>
          </a:p>
          <a:p>
            <a:pPr marL="0" indent="0">
              <a:buNone/>
            </a:pPr>
            <a:r>
              <a:rPr lang="en-US" dirty="0" err="1"/>
              <a:t>element.removeAttribute</a:t>
            </a:r>
            <a:r>
              <a:rPr lang="en-US" dirty="0"/>
              <a:t>("</a:t>
            </a:r>
            <a:r>
              <a:rPr lang="en-US" dirty="0" err="1"/>
              <a:t>href</a:t>
            </a:r>
            <a:r>
              <a:rPr lang="en-US" dirty="0"/>
              <a:t>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 Toggle Dark Mode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&lt;button id="toggle"&gt;Toggle Dark Mode&lt;/button&gt;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("toggle");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btn.addEventListener</a:t>
            </a:r>
            <a:r>
              <a:rPr lang="en-US" dirty="0"/>
              <a:t>("click", () =&gt;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document.body.classList.toggle</a:t>
            </a:r>
            <a:r>
              <a:rPr lang="en-US" dirty="0"/>
              <a:t>("dark-mode");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3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B658-4C40-A7D0-525E-210A40CC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Events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30532-4FC5-99A6-C1BA-62EB21B396BD}"/>
              </a:ext>
            </a:extLst>
          </p:cNvPr>
          <p:cNvSpPr txBox="1"/>
          <p:nvPr/>
        </p:nvSpPr>
        <p:spPr>
          <a:xfrm>
            <a:off x="354724" y="764628"/>
            <a:ext cx="843455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Events</a:t>
            </a:r>
            <a:r>
              <a:rPr lang="en-US" dirty="0"/>
              <a:t> are </a:t>
            </a:r>
            <a:r>
              <a:rPr lang="en-US" b="1" dirty="0"/>
              <a:t>actions or occurrences</a:t>
            </a:r>
            <a:r>
              <a:rPr lang="en-US" dirty="0"/>
              <a:t> that happen in the browser, which JavaScript can respond to.</a:t>
            </a:r>
            <a:br>
              <a:rPr lang="en-US" dirty="0"/>
            </a:br>
            <a:r>
              <a:rPr lang="en-US" dirty="0"/>
              <a:t>They are usually triggered by </a:t>
            </a:r>
            <a:r>
              <a:rPr lang="en-US" b="1" dirty="0"/>
              <a:t>user interactions</a:t>
            </a:r>
            <a:r>
              <a:rPr lang="en-US" dirty="0"/>
              <a:t> (like clicking a button) or by the </a:t>
            </a:r>
            <a:r>
              <a:rPr lang="en-US" b="1" dirty="0"/>
              <a:t>browser itself</a:t>
            </a:r>
            <a:r>
              <a:rPr lang="en-US" dirty="0"/>
              <a:t> (like a page finishing loading).</a:t>
            </a:r>
          </a:p>
          <a:p>
            <a:endParaRPr lang="en-US" dirty="0"/>
          </a:p>
          <a:p>
            <a:r>
              <a:rPr lang="en-US" b="1" dirty="0"/>
              <a:t>Examples of Events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Mouse Events → click, </a:t>
            </a:r>
            <a:r>
              <a:rPr lang="en-US" dirty="0" err="1"/>
              <a:t>dblclick</a:t>
            </a:r>
            <a:r>
              <a:rPr lang="en-US" dirty="0"/>
              <a:t>, mouseover, </a:t>
            </a:r>
            <a:r>
              <a:rPr lang="en-US" dirty="0" err="1"/>
              <a:t>mouseout</a:t>
            </a:r>
            <a:r>
              <a:rPr lang="en-US" dirty="0"/>
              <a:t>, </a:t>
            </a:r>
            <a:r>
              <a:rPr lang="en-US" dirty="0" err="1"/>
              <a:t>mousedown</a:t>
            </a:r>
            <a:r>
              <a:rPr lang="en-US" dirty="0"/>
              <a:t>, </a:t>
            </a:r>
            <a:r>
              <a:rPr lang="en-US" dirty="0" err="1"/>
              <a:t>mouseup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Keyboard Events → </a:t>
            </a:r>
            <a:r>
              <a:rPr lang="en-US" dirty="0" err="1"/>
              <a:t>keydown</a:t>
            </a:r>
            <a:r>
              <a:rPr lang="en-US" dirty="0"/>
              <a:t>, </a:t>
            </a:r>
            <a:r>
              <a:rPr lang="en-US" dirty="0" err="1"/>
              <a:t>keyup</a:t>
            </a:r>
            <a:r>
              <a:rPr lang="en-US" dirty="0"/>
              <a:t>, keypress</a:t>
            </a:r>
          </a:p>
          <a:p>
            <a:pPr>
              <a:lnSpc>
                <a:spcPct val="150000"/>
              </a:lnSpc>
            </a:pPr>
            <a:r>
              <a:rPr lang="en-US" dirty="0"/>
              <a:t>Form Events → submit, change, focus, blur, input</a:t>
            </a:r>
          </a:p>
          <a:p>
            <a:pPr>
              <a:lnSpc>
                <a:spcPct val="150000"/>
              </a:lnSpc>
            </a:pPr>
            <a:r>
              <a:rPr lang="en-US" dirty="0"/>
              <a:t>Window Events → load, resize, scroll, unload</a:t>
            </a:r>
          </a:p>
          <a:p>
            <a:endParaRPr lang="en-US" dirty="0"/>
          </a:p>
          <a:p>
            <a:r>
              <a:rPr lang="en-US" b="1" dirty="0"/>
              <a:t>Handling Events</a:t>
            </a:r>
          </a:p>
          <a:p>
            <a:r>
              <a:rPr lang="en-US" dirty="0"/>
              <a:t>You can make JavaScript </a:t>
            </a:r>
            <a:r>
              <a:rPr lang="en-US" b="1" dirty="0"/>
              <a:t>listen for events</a:t>
            </a:r>
            <a:r>
              <a:rPr lang="en-US" dirty="0"/>
              <a:t> and run code in response.</a:t>
            </a:r>
          </a:p>
          <a:p>
            <a:endParaRPr lang="en-US" dirty="0"/>
          </a:p>
          <a:p>
            <a:r>
              <a:rPr lang="en-US" dirty="0"/>
              <a:t>Inline (not recommended for big apps)</a:t>
            </a:r>
          </a:p>
          <a:p>
            <a:endParaRPr lang="en-US" dirty="0"/>
          </a:p>
          <a:p>
            <a:r>
              <a:rPr lang="en-US" dirty="0"/>
              <a:t>	&lt;button onclick="alert('Hello!')"&gt;Click Me&lt;/button&gt;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274761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CFB780-7B39-7BF2-EA4C-24B9F3E39307}"/>
              </a:ext>
            </a:extLst>
          </p:cNvPr>
          <p:cNvSpPr txBox="1"/>
          <p:nvPr/>
        </p:nvSpPr>
        <p:spPr>
          <a:xfrm>
            <a:off x="197069" y="851338"/>
            <a:ext cx="860797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Using Property</a:t>
            </a:r>
          </a:p>
          <a:p>
            <a:r>
              <a:rPr lang="en-US" dirty="0"/>
              <a:t>	let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myBtn</a:t>
            </a:r>
            <a:r>
              <a:rPr lang="en-US" dirty="0"/>
              <a:t>");</a:t>
            </a:r>
          </a:p>
          <a:p>
            <a:r>
              <a:rPr lang="en-US" dirty="0"/>
              <a:t>	</a:t>
            </a:r>
            <a:r>
              <a:rPr lang="en-US" dirty="0" err="1"/>
              <a:t>btn.onclick</a:t>
            </a:r>
            <a:r>
              <a:rPr lang="en-US" dirty="0"/>
              <a:t> = function() {</a:t>
            </a:r>
          </a:p>
          <a:p>
            <a:r>
              <a:rPr lang="en-US" dirty="0"/>
              <a:t>  	alert("Button Clicked!");</a:t>
            </a:r>
          </a:p>
          <a:p>
            <a:r>
              <a:rPr lang="en-US" dirty="0"/>
              <a:t>	};</a:t>
            </a:r>
          </a:p>
          <a:p>
            <a:endParaRPr lang="en-US" dirty="0"/>
          </a:p>
          <a:p>
            <a:r>
              <a:rPr lang="en-US" b="1" dirty="0"/>
              <a:t>Using </a:t>
            </a:r>
            <a:r>
              <a:rPr lang="en-US" b="1" dirty="0" err="1"/>
              <a:t>addEventListener</a:t>
            </a:r>
            <a:r>
              <a:rPr lang="en-US" b="1" dirty="0"/>
              <a:t> (best practice ✅)</a:t>
            </a:r>
          </a:p>
          <a:p>
            <a:r>
              <a:rPr lang="en-US" dirty="0"/>
              <a:t>	let </a:t>
            </a:r>
            <a:r>
              <a:rPr lang="en-US" dirty="0" err="1"/>
              <a:t>btn</a:t>
            </a:r>
            <a:r>
              <a:rPr lang="en-US" dirty="0"/>
              <a:t> = </a:t>
            </a:r>
            <a:r>
              <a:rPr lang="en-US" dirty="0" err="1"/>
              <a:t>document.getElementById</a:t>
            </a:r>
            <a:r>
              <a:rPr lang="en-US" dirty="0"/>
              <a:t>("</a:t>
            </a:r>
            <a:r>
              <a:rPr lang="en-US" dirty="0" err="1"/>
              <a:t>myBtn</a:t>
            </a:r>
            <a:r>
              <a:rPr lang="en-US" dirty="0"/>
              <a:t>");</a:t>
            </a:r>
          </a:p>
          <a:p>
            <a:r>
              <a:rPr lang="en-US" dirty="0"/>
              <a:t>	</a:t>
            </a:r>
            <a:r>
              <a:rPr lang="en-US" dirty="0" err="1"/>
              <a:t>btn.addEventListener</a:t>
            </a:r>
            <a:r>
              <a:rPr lang="en-US" dirty="0"/>
              <a:t>("click", function() {</a:t>
            </a:r>
          </a:p>
          <a:p>
            <a:r>
              <a:rPr lang="en-US" dirty="0"/>
              <a:t>  	alert("Button Clicked!");</a:t>
            </a:r>
          </a:p>
          <a:p>
            <a:r>
              <a:rPr lang="en-US" dirty="0"/>
              <a:t>	});</a:t>
            </a:r>
          </a:p>
          <a:p>
            <a:endParaRPr lang="en-US" dirty="0"/>
          </a:p>
          <a:p>
            <a:r>
              <a:rPr lang="en-US" b="1" dirty="0"/>
              <a:t>Event Object</a:t>
            </a:r>
          </a:p>
          <a:p>
            <a:endParaRPr lang="en-US" b="1" dirty="0"/>
          </a:p>
          <a:p>
            <a:r>
              <a:rPr lang="en-US" dirty="0"/>
              <a:t>When an event happens, an event object is passed with details.</a:t>
            </a:r>
          </a:p>
          <a:p>
            <a:r>
              <a:rPr lang="en-US" dirty="0"/>
              <a:t>	</a:t>
            </a:r>
            <a:r>
              <a:rPr lang="en-US" dirty="0" err="1"/>
              <a:t>btn.addEventListener</a:t>
            </a:r>
            <a:r>
              <a:rPr lang="en-US" dirty="0"/>
              <a:t>("click", function(event) {</a:t>
            </a:r>
          </a:p>
          <a:p>
            <a:r>
              <a:rPr lang="en-US" dirty="0"/>
              <a:t> 	 console.log(</a:t>
            </a:r>
            <a:r>
              <a:rPr lang="en-US" dirty="0" err="1"/>
              <a:t>event.type</a:t>
            </a:r>
            <a:r>
              <a:rPr lang="en-US" dirty="0"/>
              <a:t>);   // "click"</a:t>
            </a:r>
          </a:p>
          <a:p>
            <a:r>
              <a:rPr lang="en-US" dirty="0"/>
              <a:t> 	 console.log(</a:t>
            </a:r>
            <a:r>
              <a:rPr lang="en-US" dirty="0" err="1"/>
              <a:t>event.target</a:t>
            </a:r>
            <a:r>
              <a:rPr lang="en-US" dirty="0"/>
              <a:t>); // the element clicked</a:t>
            </a:r>
          </a:p>
          <a:p>
            <a:r>
              <a:rPr lang="en-US" dirty="0"/>
              <a:t>	});</a:t>
            </a:r>
          </a:p>
        </p:txBody>
      </p:sp>
    </p:spTree>
    <p:extLst>
      <p:ext uri="{BB962C8B-B14F-4D97-AF65-F5344CB8AC3E}">
        <p14:creationId xmlns:p14="http://schemas.microsoft.com/office/powerpoint/2010/main" val="346989675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614</Words>
  <Application>Microsoft Office PowerPoint</Application>
  <PresentationFormat>On-screen Show (16:9)</PresentationFormat>
  <Paragraphs>127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Roboto</vt:lpstr>
      <vt:lpstr>Calibri</vt:lpstr>
      <vt:lpstr>Arial</vt:lpstr>
      <vt:lpstr>Material</vt:lpstr>
      <vt:lpstr>DOM Manipulation (Browser)</vt:lpstr>
      <vt:lpstr>What is the DOM?</vt:lpstr>
      <vt:lpstr>DOM Tree Structure</vt:lpstr>
      <vt:lpstr>Accessing DOM Elements</vt:lpstr>
      <vt:lpstr>PowerPoint Presentation</vt:lpstr>
      <vt:lpstr>Modifying Content</vt:lpstr>
      <vt:lpstr>PowerPoint Presentation</vt:lpstr>
      <vt:lpstr>JavaScript Events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73</cp:revision>
  <dcterms:modified xsi:type="dcterms:W3CDTF">2025-08-25T06:36:26Z</dcterms:modified>
</cp:coreProperties>
</file>
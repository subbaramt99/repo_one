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2" r:id="rId9"/>
    <p:sldId id="270" r:id="rId10"/>
    <p:sldId id="271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Operators and Control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What Are Operators?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b="1" dirty="0"/>
              <a:t>Operators</a:t>
            </a:r>
            <a:r>
              <a:rPr lang="en-US" sz="1600" dirty="0"/>
              <a:t> are symbols that perform operations on variables and values.</a:t>
            </a:r>
          </a:p>
          <a:p>
            <a:r>
              <a:rPr lang="en-US" sz="1600" dirty="0"/>
              <a:t>JavaScript includes several types of operators: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Arithmetic Operators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79D6-AEB3-D2F8-2983-F72AF3CB6A56}"/>
              </a:ext>
            </a:extLst>
          </p:cNvPr>
          <p:cNvSpPr txBox="1"/>
          <p:nvPr/>
        </p:nvSpPr>
        <p:spPr>
          <a:xfrm>
            <a:off x="356461" y="922149"/>
            <a:ext cx="839233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5F6EF61E-E1A2-4E8B-9E6D-6C807C20EE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0508166"/>
              </p:ext>
            </p:extLst>
          </p:nvPr>
        </p:nvGraphicFramePr>
        <p:xfrm>
          <a:off x="590508" y="922149"/>
          <a:ext cx="7962984" cy="363275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4328">
                  <a:extLst>
                    <a:ext uri="{9D8B030D-6E8A-4147-A177-3AD203B41FA5}">
                      <a16:colId xmlns:a16="http://schemas.microsoft.com/office/drawing/2014/main" val="505235797"/>
                    </a:ext>
                  </a:extLst>
                </a:gridCol>
                <a:gridCol w="2654328">
                  <a:extLst>
                    <a:ext uri="{9D8B030D-6E8A-4147-A177-3AD203B41FA5}">
                      <a16:colId xmlns:a16="http://schemas.microsoft.com/office/drawing/2014/main" val="1452887006"/>
                    </a:ext>
                  </a:extLst>
                </a:gridCol>
                <a:gridCol w="2654328">
                  <a:extLst>
                    <a:ext uri="{9D8B030D-6E8A-4147-A177-3AD203B41FA5}">
                      <a16:colId xmlns:a16="http://schemas.microsoft.com/office/drawing/2014/main" val="587956241"/>
                    </a:ext>
                  </a:extLst>
                </a:gridCol>
              </a:tblGrid>
              <a:tr h="403639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973635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+ 2 =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166774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5 - 2 =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35670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* 2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935237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/ 2 = 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007552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Modulus (remainder)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5 % 2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638195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 ** 3 =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364804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621527"/>
                  </a:ext>
                </a:extLst>
              </a:tr>
              <a:tr h="403639"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54038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Assignment Operators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D7B50-4C01-4EEC-84B6-E1859AE682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6288843"/>
              </p:ext>
            </p:extLst>
          </p:nvPr>
        </p:nvGraphicFramePr>
        <p:xfrm>
          <a:off x="833519" y="1112846"/>
          <a:ext cx="7606524" cy="34176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35508">
                  <a:extLst>
                    <a:ext uri="{9D8B030D-6E8A-4147-A177-3AD203B41FA5}">
                      <a16:colId xmlns:a16="http://schemas.microsoft.com/office/drawing/2014/main" val="1716984904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1319114446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3042394435"/>
                    </a:ext>
                  </a:extLst>
                </a:gridCol>
              </a:tblGrid>
              <a:tr h="488231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Equivalent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905097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=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795799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+=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= x + 5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79990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-=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= x - 2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335004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 dirty="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*=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= x *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142492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/=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= x /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449314"/>
                  </a:ext>
                </a:extLst>
              </a:tr>
              <a:tr h="488231">
                <a:tc>
                  <a:txBody>
                    <a:bodyPr/>
                    <a:lstStyle/>
                    <a:p>
                      <a:r>
                        <a:rPr lang="en-US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%=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 = x %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928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Comparison Operators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34A861F-FBD0-4877-9BEC-AEC5F8946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014623"/>
              </p:ext>
            </p:extLst>
          </p:nvPr>
        </p:nvGraphicFramePr>
        <p:xfrm>
          <a:off x="485893" y="1007052"/>
          <a:ext cx="8334945" cy="35193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8315">
                  <a:extLst>
                    <a:ext uri="{9D8B030D-6E8A-4147-A177-3AD203B41FA5}">
                      <a16:colId xmlns:a16="http://schemas.microsoft.com/office/drawing/2014/main" val="2752731146"/>
                    </a:ext>
                  </a:extLst>
                </a:gridCol>
                <a:gridCol w="2778315">
                  <a:extLst>
                    <a:ext uri="{9D8B030D-6E8A-4147-A177-3AD203B41FA5}">
                      <a16:colId xmlns:a16="http://schemas.microsoft.com/office/drawing/2014/main" val="1919878398"/>
                    </a:ext>
                  </a:extLst>
                </a:gridCol>
                <a:gridCol w="2778315">
                  <a:extLst>
                    <a:ext uri="{9D8B030D-6E8A-4147-A177-3AD203B41FA5}">
                      <a16:colId xmlns:a16="http://schemas.microsoft.com/office/drawing/2014/main" val="1346124351"/>
                    </a:ext>
                  </a:extLst>
                </a:gridCol>
              </a:tblGrid>
              <a:tr h="39103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106893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Equal to (loose)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== "5" →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993130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===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Equal to (strict)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=== "5" →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980734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equal to (loose)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!= "5" →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858464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!==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equal to (strict)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!== "5" →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374493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&gt;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644704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&lt;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848599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Greater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 &gt;=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651184"/>
                  </a:ext>
                </a:extLst>
              </a:tr>
              <a:tr h="391037">
                <a:tc>
                  <a:txBody>
                    <a:bodyPr/>
                    <a:lstStyle/>
                    <a:p>
                      <a:r>
                        <a:rPr lang="en-US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Less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&lt;=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77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59416"/>
            <a:ext cx="8508570" cy="42155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Logical Operators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Other Useful Operators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BDAD1C-FF9D-4542-8613-388F3ABF3E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8803102"/>
              </p:ext>
            </p:extLst>
          </p:nvPr>
        </p:nvGraphicFramePr>
        <p:xfrm>
          <a:off x="809057" y="1219197"/>
          <a:ext cx="7242312" cy="16479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14104">
                  <a:extLst>
                    <a:ext uri="{9D8B030D-6E8A-4147-A177-3AD203B41FA5}">
                      <a16:colId xmlns:a16="http://schemas.microsoft.com/office/drawing/2014/main" val="1005627709"/>
                    </a:ext>
                  </a:extLst>
                </a:gridCol>
                <a:gridCol w="2414104">
                  <a:extLst>
                    <a:ext uri="{9D8B030D-6E8A-4147-A177-3AD203B41FA5}">
                      <a16:colId xmlns:a16="http://schemas.microsoft.com/office/drawing/2014/main" val="1925912505"/>
                    </a:ext>
                  </a:extLst>
                </a:gridCol>
                <a:gridCol w="2414104">
                  <a:extLst>
                    <a:ext uri="{9D8B030D-6E8A-4147-A177-3AD203B41FA5}">
                      <a16:colId xmlns:a16="http://schemas.microsoft.com/office/drawing/2014/main" val="1803575549"/>
                    </a:ext>
                  </a:extLst>
                </a:gridCol>
              </a:tblGrid>
              <a:tr h="41199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649887"/>
                  </a:ext>
                </a:extLst>
              </a:tr>
              <a:tr h="411997">
                <a:tc>
                  <a:txBody>
                    <a:bodyPr/>
                    <a:lstStyle/>
                    <a:p>
                      <a:r>
                        <a:rPr lang="en-US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Logical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 &amp;&amp; false →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244046"/>
                  </a:ext>
                </a:extLst>
              </a:tr>
              <a:tr h="411997">
                <a:tc>
                  <a:txBody>
                    <a:bodyPr/>
                    <a:lstStyle/>
                    <a:p>
                      <a:r>
                        <a:rPr lang="en-US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|| false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false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033802"/>
                  </a:ext>
                </a:extLst>
              </a:tr>
              <a:tr h="411997">
                <a:tc>
                  <a:txBody>
                    <a:bodyPr/>
                    <a:lstStyle/>
                    <a:p>
                      <a:r>
                        <a:rPr lang="en-US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Logical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!true →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725492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2646FB39-0BAE-4756-A930-A6B47B135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0880406"/>
              </p:ext>
            </p:extLst>
          </p:nvPr>
        </p:nvGraphicFramePr>
        <p:xfrm>
          <a:off x="809057" y="3264976"/>
          <a:ext cx="7128224" cy="16479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64112">
                  <a:extLst>
                    <a:ext uri="{9D8B030D-6E8A-4147-A177-3AD203B41FA5}">
                      <a16:colId xmlns:a16="http://schemas.microsoft.com/office/drawing/2014/main" val="303326330"/>
                    </a:ext>
                  </a:extLst>
                </a:gridCol>
                <a:gridCol w="3564112">
                  <a:extLst>
                    <a:ext uri="{9D8B030D-6E8A-4147-A177-3AD203B41FA5}">
                      <a16:colId xmlns:a16="http://schemas.microsoft.com/office/drawing/2014/main" val="541900234"/>
                    </a:ext>
                  </a:extLst>
                </a:gridCol>
              </a:tblGrid>
              <a:tr h="348705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298047"/>
                  </a:ext>
                </a:extLst>
              </a:tr>
              <a:tr h="348705">
                <a:tc>
                  <a:txBody>
                    <a:bodyPr/>
                    <a:lstStyle/>
                    <a:p>
                      <a:r>
                        <a:rPr lang="en-US"/>
                        <a:t>typeof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type of a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711131"/>
                  </a:ext>
                </a:extLst>
              </a:tr>
              <a:tr h="601874">
                <a:tc>
                  <a:txBody>
                    <a:bodyPr/>
                    <a:lstStyle/>
                    <a:p>
                      <a:r>
                        <a:rPr lang="en-US" dirty="0" err="1"/>
                        <a:t>instanceof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Checks if object is an instance of a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778269"/>
                  </a:ext>
                </a:extLst>
              </a:tr>
              <a:tr h="348705">
                <a:tc>
                  <a:txBody>
                    <a:bodyPr/>
                    <a:lstStyle/>
                    <a:p>
                      <a:r>
                        <a:rPr lang="en-US"/>
                        <a:t>?: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Ternary operator (short if/else)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059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89535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if / else if / else</a:t>
            </a:r>
          </a:p>
          <a:p>
            <a:pPr marL="0" indent="0">
              <a:buNone/>
            </a:pPr>
            <a:r>
              <a:rPr lang="en-US" dirty="0"/>
              <a:t>Executes a block of code if a condition is true.</a:t>
            </a:r>
          </a:p>
          <a:p>
            <a:pPr marL="400050" lvl="1" indent="0">
              <a:buNone/>
            </a:pPr>
            <a:r>
              <a:rPr lang="en-US" sz="1800" dirty="0"/>
              <a:t>let age = 20;</a:t>
            </a:r>
          </a:p>
          <a:p>
            <a:pPr marL="400050" lvl="1" indent="0">
              <a:buNone/>
            </a:pPr>
            <a:r>
              <a:rPr lang="en-US" sz="1800" dirty="0"/>
              <a:t>if (age &gt;= 18) {</a:t>
            </a:r>
          </a:p>
          <a:p>
            <a:pPr marL="400050" lvl="1" indent="0">
              <a:buNone/>
            </a:pPr>
            <a:r>
              <a:rPr lang="en-US" sz="1800" dirty="0"/>
              <a:t>  console.log("Adult");</a:t>
            </a:r>
          </a:p>
          <a:p>
            <a:pPr marL="400050" lvl="1" indent="0">
              <a:buNone/>
            </a:pPr>
            <a:r>
              <a:rPr lang="en-US" sz="1800" dirty="0"/>
              <a:t>} else if (age &gt;= 13) {</a:t>
            </a:r>
          </a:p>
          <a:p>
            <a:pPr marL="400050" lvl="1" indent="0">
              <a:buNone/>
            </a:pPr>
            <a:r>
              <a:rPr lang="en-US" sz="1800" dirty="0"/>
              <a:t>  console.log("Teenager");</a:t>
            </a:r>
          </a:p>
          <a:p>
            <a:pPr marL="400050" lvl="1" indent="0">
              <a:buNone/>
            </a:pPr>
            <a:r>
              <a:rPr lang="en-US" sz="1800" dirty="0"/>
              <a:t>} else {</a:t>
            </a:r>
          </a:p>
          <a:p>
            <a:pPr marL="400050" lvl="1" indent="0">
              <a:buNone/>
            </a:pPr>
            <a:r>
              <a:rPr lang="en-US" sz="1800" dirty="0"/>
              <a:t>  console.log("Child");</a:t>
            </a:r>
          </a:p>
          <a:p>
            <a:pPr marL="400050" lvl="1" indent="0">
              <a:buNone/>
            </a:pPr>
            <a:r>
              <a:rPr lang="en-US" sz="1800" dirty="0"/>
              <a:t>}</a:t>
            </a:r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2E5E856E-0F29-F4CF-A4D0-B1A788160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Control Flow in JavaScript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EDA6-4985-9B7E-1CC1-69407CBE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1315E-354E-5937-A8B8-4813D5CDC103}"/>
              </a:ext>
            </a:extLst>
          </p:cNvPr>
          <p:cNvSpPr txBox="1"/>
          <p:nvPr/>
        </p:nvSpPr>
        <p:spPr>
          <a:xfrm>
            <a:off x="303760" y="819541"/>
            <a:ext cx="84155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switch Statement</a:t>
            </a:r>
          </a:p>
          <a:p>
            <a:pPr marL="0" indent="0">
              <a:buNone/>
            </a:pPr>
            <a:r>
              <a:rPr lang="en-US" dirty="0"/>
              <a:t>Used as an alternative to many if statements.</a:t>
            </a:r>
          </a:p>
          <a:p>
            <a:pPr marL="400050" lvl="1" indent="0">
              <a:buNone/>
            </a:pPr>
            <a:r>
              <a:rPr lang="en-US" sz="1700" dirty="0"/>
              <a:t>let fruit = "apple";</a:t>
            </a:r>
          </a:p>
          <a:p>
            <a:pPr marL="400050" lvl="1" indent="0">
              <a:buNone/>
            </a:pPr>
            <a:r>
              <a:rPr lang="en-US" sz="1700" dirty="0"/>
              <a:t>switch (fruit) {</a:t>
            </a:r>
          </a:p>
          <a:p>
            <a:pPr marL="400050" lvl="1" indent="0">
              <a:buNone/>
            </a:pPr>
            <a:r>
              <a:rPr lang="en-US" sz="1700" dirty="0"/>
              <a:t>  case "apple":</a:t>
            </a:r>
          </a:p>
          <a:p>
            <a:pPr marL="400050" lvl="1" indent="0">
              <a:buNone/>
            </a:pPr>
            <a:r>
              <a:rPr lang="en-US" sz="1700" dirty="0"/>
              <a:t>    console.log("Apples are red.");</a:t>
            </a:r>
          </a:p>
          <a:p>
            <a:pPr marL="400050" lvl="1" indent="0">
              <a:buNone/>
            </a:pPr>
            <a:r>
              <a:rPr lang="en-US" sz="1700" dirty="0"/>
              <a:t>    break;</a:t>
            </a:r>
          </a:p>
          <a:p>
            <a:pPr marL="400050" lvl="1" indent="0">
              <a:buNone/>
            </a:pPr>
            <a:r>
              <a:rPr lang="en-US" sz="1700" dirty="0"/>
              <a:t>  case "banana":</a:t>
            </a:r>
          </a:p>
          <a:p>
            <a:pPr marL="400050" lvl="1" indent="0">
              <a:buNone/>
            </a:pPr>
            <a:r>
              <a:rPr lang="en-US" sz="1700" dirty="0"/>
              <a:t>    console.log("Bananas are yellow.");</a:t>
            </a:r>
          </a:p>
          <a:p>
            <a:pPr marL="400050" lvl="1" indent="0">
              <a:buNone/>
            </a:pPr>
            <a:r>
              <a:rPr lang="en-US" sz="1700" dirty="0"/>
              <a:t>    break;</a:t>
            </a:r>
          </a:p>
          <a:p>
            <a:pPr marL="400050" lvl="1" indent="0">
              <a:buNone/>
            </a:pPr>
            <a:r>
              <a:rPr lang="en-US" sz="1700" dirty="0"/>
              <a:t>  default:</a:t>
            </a:r>
          </a:p>
          <a:p>
            <a:pPr marL="400050" lvl="1" indent="0">
              <a:buNone/>
            </a:pPr>
            <a:r>
              <a:rPr lang="en-US" sz="1700" dirty="0"/>
              <a:t>    console.log("Unknown fruit.");</a:t>
            </a:r>
          </a:p>
          <a:p>
            <a:pPr marL="400050" lvl="1" indent="0">
              <a:buNone/>
            </a:pPr>
            <a:r>
              <a:rPr lang="en-US" sz="1700" dirty="0"/>
              <a:t>}</a:t>
            </a:r>
          </a:p>
          <a:p>
            <a:pPr marL="400050" lvl="1" indent="0">
              <a:buNone/>
            </a:pPr>
            <a:endParaRPr 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break to exit the switch after a match.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default runs if no match is found.</a:t>
            </a:r>
          </a:p>
        </p:txBody>
      </p:sp>
    </p:spTree>
    <p:extLst>
      <p:ext uri="{BB962C8B-B14F-4D97-AF65-F5344CB8AC3E}">
        <p14:creationId xmlns:p14="http://schemas.microsoft.com/office/powerpoint/2010/main" val="77386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9682-7D30-A049-ECAD-A2494FC9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FFDD8-93C1-C9C0-BE1A-604D2091003C}"/>
              </a:ext>
            </a:extLst>
          </p:cNvPr>
          <p:cNvSpPr txBox="1"/>
          <p:nvPr/>
        </p:nvSpPr>
        <p:spPr>
          <a:xfrm>
            <a:off x="240224" y="896079"/>
            <a:ext cx="85240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A shortcut for simple if/else.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score = 75;</a:t>
            </a:r>
          </a:p>
          <a:p>
            <a:pPr marL="0" indent="0">
              <a:buNone/>
            </a:pPr>
            <a:r>
              <a:rPr lang="en-US" dirty="0"/>
              <a:t>let result = score &gt;= 60 ? "Pass" : "Fail";</a:t>
            </a:r>
          </a:p>
          <a:p>
            <a:pPr marL="0" indent="0">
              <a:buNone/>
            </a:pPr>
            <a:r>
              <a:rPr lang="en-US" dirty="0"/>
              <a:t>console.log(result); // Pass</a:t>
            </a:r>
          </a:p>
          <a:p>
            <a:pPr marL="0" indent="0">
              <a:buNone/>
            </a:pPr>
            <a:r>
              <a:rPr lang="en-US" dirty="0"/>
              <a:t>Syntax: condition ? </a:t>
            </a:r>
            <a:r>
              <a:rPr lang="en-US" dirty="0" err="1"/>
              <a:t>valueIfTrue</a:t>
            </a:r>
            <a:r>
              <a:rPr lang="en-US" dirty="0"/>
              <a:t> : </a:t>
            </a:r>
            <a:r>
              <a:rPr lang="en-US" dirty="0" err="1"/>
              <a:t>valueIfFalse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9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C382-1872-4A77-A432-5EB12E91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Truthy and </a:t>
            </a:r>
            <a:r>
              <a:rPr lang="en-US" dirty="0" err="1"/>
              <a:t>Falsy</a:t>
            </a:r>
            <a:r>
              <a:rPr lang="en-US" dirty="0"/>
              <a:t>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62CD4-3B80-207A-42D1-14099BDB4269}"/>
              </a:ext>
            </a:extLst>
          </p:cNvPr>
          <p:cNvSpPr txBox="1"/>
          <p:nvPr/>
        </p:nvSpPr>
        <p:spPr>
          <a:xfrm>
            <a:off x="317715" y="803003"/>
            <a:ext cx="850857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JavaScript evaluates some values as true or false in conditions.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Falsy</a:t>
            </a:r>
            <a:r>
              <a:rPr lang="en-US" dirty="0"/>
              <a:t>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"" (empty string)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undefined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other values are truthy.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(0) {</a:t>
            </a:r>
          </a:p>
          <a:p>
            <a:pPr marL="0" indent="0">
              <a:buNone/>
            </a:pPr>
            <a:r>
              <a:rPr lang="en-US" dirty="0"/>
              <a:t>  console.log("Will not run");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4879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537</Words>
  <Application>Microsoft Office PowerPoint</Application>
  <PresentationFormat>On-screen Show (16:9)</PresentationFormat>
  <Paragraphs>178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Wingdings</vt:lpstr>
      <vt:lpstr>Roboto</vt:lpstr>
      <vt:lpstr>Arial</vt:lpstr>
      <vt:lpstr>Material</vt:lpstr>
      <vt:lpstr>Operators and Control Flow</vt:lpstr>
      <vt:lpstr>PowerPoint Presentation</vt:lpstr>
      <vt:lpstr>Arithmetic Operators</vt:lpstr>
      <vt:lpstr>Assignment Operators</vt:lpstr>
      <vt:lpstr>Comparison Operators</vt:lpstr>
      <vt:lpstr>PowerPoint Presentation</vt:lpstr>
      <vt:lpstr>Control Flow in JavaScript</vt:lpstr>
      <vt:lpstr>…continue</vt:lpstr>
      <vt:lpstr>Ternary Operator</vt:lpstr>
      <vt:lpstr>Truthy and Falsy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33</cp:revision>
  <dcterms:modified xsi:type="dcterms:W3CDTF">2025-08-23T07:30:43Z</dcterms:modified>
</cp:coreProperties>
</file>
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Programming </a:t>
            </a:r>
            <a:r>
              <a:rPr lang="en-US" dirty="0"/>
              <a:t>Language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Variables and Data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 What Are Variables?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4367" y="949842"/>
            <a:ext cx="88266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sz="1800" dirty="0"/>
              <a:t>A variable is a named container for storing data. You can think of it as a box that holds a value.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Declaration Keywords: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var – function-scoped, older way (avoid in modern code)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let – block-scoped, preferred for values that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const – block-scoped, used for constants (cannot be reassigned)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Syntax Examples: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let age = 25;</a:t>
            </a:r>
          </a:p>
          <a:p>
            <a:pPr marL="0" indent="0">
              <a:buNone/>
            </a:pPr>
            <a:r>
              <a:rPr lang="en-US" sz="1800" dirty="0"/>
              <a:t>const name = "Alice";</a:t>
            </a:r>
          </a:p>
          <a:p>
            <a:pPr marL="0" indent="0">
              <a:buNone/>
            </a:pPr>
            <a:r>
              <a:rPr lang="en-US" sz="1800" dirty="0"/>
              <a:t>var city = "New York"; // not recommended</a:t>
            </a:r>
            <a:endParaRPr lang="en-IN" sz="18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Variable Naming Rules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C79D6-AEB3-D2F8-2983-F72AF3CB6A56}"/>
              </a:ext>
            </a:extLst>
          </p:cNvPr>
          <p:cNvSpPr txBox="1"/>
          <p:nvPr/>
        </p:nvSpPr>
        <p:spPr>
          <a:xfrm>
            <a:off x="356461" y="922149"/>
            <a:ext cx="8392332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Must start with a letter, _, or $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Cannot start with a number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Case-sensitive (</a:t>
            </a:r>
            <a:r>
              <a:rPr lang="en-US" dirty="0" err="1"/>
              <a:t>myVar</a:t>
            </a:r>
            <a:r>
              <a:rPr lang="en-US" dirty="0"/>
              <a:t> ≠ </a:t>
            </a:r>
            <a:r>
              <a:rPr lang="en-US" dirty="0" err="1"/>
              <a:t>myvar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Cannot be a reserved keyword (like let, if, return)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Data Types in JavaScript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348713" y="867906"/>
            <a:ext cx="8576137" cy="35491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JavaScript is a dynamically typed language — you don't need to specify the data type, and variables can hold any type.</a:t>
            </a:r>
          </a:p>
          <a:p>
            <a:pPr marL="0" indent="0">
              <a:buNone/>
            </a:pPr>
            <a:r>
              <a:rPr lang="en-US" sz="1600" b="1" dirty="0"/>
              <a:t>Two Categories: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600" dirty="0"/>
              <a:t>Primitive Data Types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600" dirty="0"/>
              <a:t>Reference (Non-Primitive) Data Types</a:t>
            </a:r>
          </a:p>
          <a:p>
            <a:pPr marL="0" indent="0">
              <a:buNone/>
            </a:pPr>
            <a:r>
              <a:rPr lang="en-US" sz="1600" b="1" dirty="0"/>
              <a:t>Reference (Non-Primitive) Data Types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873DAB0-FAD3-4B8D-8CAC-06EF093A3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10399"/>
              </p:ext>
            </p:extLst>
          </p:nvPr>
        </p:nvGraphicFramePr>
        <p:xfrm>
          <a:off x="667287" y="2505766"/>
          <a:ext cx="8128000" cy="21601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20227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89217193"/>
                    </a:ext>
                  </a:extLst>
                </a:gridCol>
              </a:tblGrid>
              <a:tr h="540027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383887"/>
                  </a:ext>
                </a:extLst>
              </a:tr>
              <a:tr h="540027">
                <a:tc>
                  <a:txBody>
                    <a:bodyPr/>
                    <a:lstStyle/>
                    <a:p>
                      <a:r>
                        <a:rPr lang="en-US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let user = {name: "Jane"};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435259"/>
                  </a:ext>
                </a:extLst>
              </a:tr>
              <a:tr h="540027">
                <a:tc>
                  <a:txBody>
                    <a:bodyPr/>
                    <a:lstStyle/>
                    <a:p>
                      <a:r>
                        <a:rPr lang="en-US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let colors = ["red", "blue"];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510979"/>
                  </a:ext>
                </a:extLst>
              </a:tr>
              <a:tr h="540027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greet() { ... 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17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48A8C40-29AD-AB3B-85A9-0D6A09CD7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Primitive Data Types (7 Types)</a:t>
            </a:r>
            <a:endParaRPr sz="20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565688" y="891154"/>
            <a:ext cx="8175356" cy="38668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972EBB0-4832-48F8-A1F4-ADA6D0B917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8115523"/>
              </p:ext>
            </p:extLst>
          </p:nvPr>
        </p:nvGraphicFramePr>
        <p:xfrm>
          <a:off x="402956" y="999640"/>
          <a:ext cx="8276094" cy="3704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8698">
                  <a:extLst>
                    <a:ext uri="{9D8B030D-6E8A-4147-A177-3AD203B41FA5}">
                      <a16:colId xmlns:a16="http://schemas.microsoft.com/office/drawing/2014/main" val="3438918329"/>
                    </a:ext>
                  </a:extLst>
                </a:gridCol>
                <a:gridCol w="2758698">
                  <a:extLst>
                    <a:ext uri="{9D8B030D-6E8A-4147-A177-3AD203B41FA5}">
                      <a16:colId xmlns:a16="http://schemas.microsoft.com/office/drawing/2014/main" val="2104098261"/>
                    </a:ext>
                  </a:extLst>
                </a:gridCol>
                <a:gridCol w="2758698">
                  <a:extLst>
                    <a:ext uri="{9D8B030D-6E8A-4147-A177-3AD203B41FA5}">
                      <a16:colId xmlns:a16="http://schemas.microsoft.com/office/drawing/2014/main" val="3686076165"/>
                    </a:ext>
                  </a:extLst>
                </a:gridCol>
              </a:tblGrid>
              <a:tr h="322797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857910"/>
                  </a:ext>
                </a:extLst>
              </a:tr>
              <a:tr h="546063">
                <a:tc>
                  <a:txBody>
                    <a:bodyPr/>
                    <a:lstStyle/>
                    <a:p>
                      <a:r>
                        <a:rPr lang="en-US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let x = 42;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 or floating-point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277771"/>
                  </a:ext>
                </a:extLst>
              </a:tr>
              <a:tr h="322797">
                <a:tc>
                  <a:txBody>
                    <a:bodyPr/>
                    <a:lstStyle/>
                    <a:p>
                      <a:r>
                        <a:rPr lang="en-US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let name = "John";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Sequence of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848900"/>
                  </a:ext>
                </a:extLst>
              </a:tr>
              <a:tr h="322797">
                <a:tc>
                  <a:txBody>
                    <a:bodyPr/>
                    <a:lstStyle/>
                    <a:p>
                      <a:r>
                        <a:rPr lang="en-US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let isActive = true;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 or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187779"/>
                  </a:ext>
                </a:extLst>
              </a:tr>
              <a:tr h="546063"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let data = null;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Intentional absence of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779362"/>
                  </a:ext>
                </a:extLst>
              </a:tr>
              <a:tr h="548755">
                <a:tc>
                  <a:txBody>
                    <a:bodyPr/>
                    <a:lstStyle/>
                    <a:p>
                      <a:r>
                        <a:rPr lang="en-US"/>
                        <a:t>Undefined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let y;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Variable declared but not assigned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361143"/>
                  </a:ext>
                </a:extLst>
              </a:tr>
              <a:tr h="546063">
                <a:tc>
                  <a:txBody>
                    <a:bodyPr/>
                    <a:lstStyle/>
                    <a:p>
                      <a:r>
                        <a:rPr lang="en-US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let id = Symbol();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Unique and immutable 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730474"/>
                  </a:ext>
                </a:extLst>
              </a:tr>
              <a:tr h="548755">
                <a:tc>
                  <a:txBody>
                    <a:bodyPr/>
                    <a:lstStyle/>
                    <a:p>
                      <a:r>
                        <a:rPr lang="en-US"/>
                        <a:t>BigInt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let big = 12345678901234567890n;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large integers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461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6" y="782664"/>
            <a:ext cx="8508570" cy="421553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You can use </a:t>
            </a:r>
            <a:r>
              <a:rPr lang="en-US" dirty="0" err="1"/>
              <a:t>typeof</a:t>
            </a:r>
            <a:r>
              <a:rPr lang="en-US" dirty="0"/>
              <a:t> to check the type of a variable.</a:t>
            </a:r>
          </a:p>
          <a:p>
            <a:pPr marL="400050" lvl="1" indent="0">
              <a:buNone/>
            </a:pPr>
            <a:r>
              <a:rPr lang="en-US" sz="1600" dirty="0" err="1"/>
              <a:t>typeof</a:t>
            </a:r>
            <a:r>
              <a:rPr lang="en-US" sz="1600" dirty="0"/>
              <a:t> 10;          // "number"</a:t>
            </a:r>
          </a:p>
          <a:p>
            <a:pPr marL="400050" lvl="1" indent="0">
              <a:buNone/>
            </a:pPr>
            <a:r>
              <a:rPr lang="en-US" sz="1600" dirty="0" err="1"/>
              <a:t>typeof</a:t>
            </a:r>
            <a:r>
              <a:rPr lang="en-US" sz="1600" dirty="0"/>
              <a:t> "Hello";     // "string"</a:t>
            </a:r>
          </a:p>
          <a:p>
            <a:pPr marL="400050" lvl="1" indent="0">
              <a:buNone/>
            </a:pPr>
            <a:r>
              <a:rPr lang="en-US" sz="1600" dirty="0" err="1"/>
              <a:t>typeof</a:t>
            </a:r>
            <a:r>
              <a:rPr lang="en-US" sz="1600" dirty="0"/>
              <a:t> true;        // "boolean"</a:t>
            </a:r>
          </a:p>
          <a:p>
            <a:pPr marL="400050" lvl="1" indent="0">
              <a:buNone/>
            </a:pPr>
            <a:r>
              <a:rPr lang="en-US" sz="1600" dirty="0" err="1"/>
              <a:t>typeof</a:t>
            </a:r>
            <a:r>
              <a:rPr lang="en-US" sz="1600" dirty="0"/>
              <a:t> null;        // "object" (a historical bug)</a:t>
            </a:r>
          </a:p>
          <a:p>
            <a:pPr marL="400050" lvl="1" indent="0">
              <a:buNone/>
            </a:pPr>
            <a:r>
              <a:rPr lang="en-US" sz="1600" dirty="0" err="1"/>
              <a:t>typeof</a:t>
            </a:r>
            <a:r>
              <a:rPr lang="en-US" sz="1600" dirty="0"/>
              <a:t> undefined;   // "undefined"</a:t>
            </a:r>
          </a:p>
          <a:p>
            <a:pPr marL="400050" lvl="1" indent="0">
              <a:buNone/>
            </a:pPr>
            <a:r>
              <a:rPr lang="en-US" sz="1600" dirty="0" err="1"/>
              <a:t>typeof</a:t>
            </a:r>
            <a:r>
              <a:rPr lang="en-US" sz="1600" dirty="0"/>
              <a:t> [];          // "object“</a:t>
            </a:r>
          </a:p>
          <a:p>
            <a:pPr marL="0" indent="0">
              <a:buNone/>
            </a:pPr>
            <a:r>
              <a:rPr lang="en-US" b="1" dirty="0"/>
              <a:t>Type Conversion</a:t>
            </a:r>
          </a:p>
          <a:p>
            <a:pPr marL="0" indent="0" algn="just">
              <a:buNone/>
            </a:pPr>
            <a:r>
              <a:rPr lang="en-US" dirty="0"/>
              <a:t>JavaScript automatically converts types in certain cases (called type coercion), but manual conversion is often better.</a:t>
            </a:r>
          </a:p>
          <a:p>
            <a:pPr marL="0" indent="0">
              <a:buNone/>
            </a:pPr>
            <a:r>
              <a:rPr lang="en-US" sz="1600" b="1" dirty="0"/>
              <a:t>Implicit:</a:t>
            </a:r>
          </a:p>
          <a:p>
            <a:pPr marL="400050" lvl="1" indent="0">
              <a:buNone/>
            </a:pPr>
            <a:r>
              <a:rPr lang="en-US" sz="1600" dirty="0"/>
              <a:t>"5" + 2; // "52"</a:t>
            </a:r>
          </a:p>
          <a:p>
            <a:pPr marL="400050" lvl="1" indent="0">
              <a:buNone/>
            </a:pPr>
            <a:r>
              <a:rPr lang="en-US" sz="1600" dirty="0"/>
              <a:t>"5" - 2; // 3</a:t>
            </a:r>
          </a:p>
          <a:p>
            <a:pPr marL="0" indent="0">
              <a:buNone/>
            </a:pPr>
            <a:r>
              <a:rPr lang="en-US" sz="1600" b="1" dirty="0"/>
              <a:t>Explicit:</a:t>
            </a:r>
          </a:p>
          <a:p>
            <a:pPr marL="400050" lvl="1" indent="0">
              <a:buNone/>
            </a:pPr>
            <a:r>
              <a:rPr lang="en-US" sz="1600" dirty="0"/>
              <a:t>Number("5");     // 5</a:t>
            </a:r>
          </a:p>
          <a:p>
            <a:pPr marL="400050" lvl="1" indent="0">
              <a:buNone/>
            </a:pPr>
            <a:r>
              <a:rPr lang="en-US" sz="1600" dirty="0"/>
              <a:t>String(100);     // "100"</a:t>
            </a:r>
          </a:p>
          <a:p>
            <a:pPr marL="400050" lvl="1" indent="0">
              <a:buNone/>
            </a:pPr>
            <a:r>
              <a:rPr lang="en-US" sz="1600" dirty="0"/>
              <a:t>Boolean(0);      // false</a:t>
            </a:r>
          </a:p>
          <a:p>
            <a:pPr marL="400050" lvl="1" indent="0">
              <a:buNone/>
            </a:pPr>
            <a:endParaRPr lang="en-US" sz="1600" dirty="0"/>
          </a:p>
        </p:txBody>
      </p:sp>
      <p:sp>
        <p:nvSpPr>
          <p:cNvPr id="6" name="Google Shape;127;p22">
            <a:extLst>
              <a:ext uri="{FF2B5EF4-FFF2-40B4-BE49-F238E27FC236}">
                <a16:creationId xmlns:a16="http://schemas.microsoft.com/office/drawing/2014/main" id="{21D3A59E-F67A-2013-467C-2D4AEB877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/>
              <a:t>typeof</a:t>
            </a:r>
            <a:r>
              <a:rPr lang="en-US" sz="2000" dirty="0"/>
              <a:t> Operator</a:t>
            </a:r>
          </a:p>
        </p:txBody>
      </p:sp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89535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Common Pitfalls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Best Practices</a:t>
            </a:r>
          </a:p>
          <a:p>
            <a:pPr marL="400050" lvl="1" indent="0">
              <a:buNone/>
            </a:pPr>
            <a:r>
              <a:rPr lang="en-US" sz="1800" dirty="0"/>
              <a:t>Use let for variables that may change</a:t>
            </a:r>
          </a:p>
          <a:p>
            <a:pPr marL="400050" lvl="1" indent="0">
              <a:buNone/>
            </a:pPr>
            <a:r>
              <a:rPr lang="en-US" sz="1800" dirty="0"/>
              <a:t>Use const for values that shouldn’t change (including arrays/objects)</a:t>
            </a:r>
          </a:p>
          <a:p>
            <a:pPr marL="400050" lvl="1" indent="0">
              <a:buNone/>
            </a:pPr>
            <a:r>
              <a:rPr lang="en-US" sz="1800" dirty="0"/>
              <a:t>Avoid var unless maintaining old code</a:t>
            </a:r>
          </a:p>
          <a:p>
            <a:pPr marL="400050" lvl="1" indent="0">
              <a:buNone/>
            </a:pPr>
            <a:r>
              <a:rPr lang="en-US" sz="1800" dirty="0"/>
              <a:t>Use descriptive variable names (e.g., </a:t>
            </a:r>
            <a:r>
              <a:rPr lang="en-US" sz="1800" dirty="0" err="1"/>
              <a:t>userAge</a:t>
            </a:r>
            <a:r>
              <a:rPr lang="en-US" sz="1800" dirty="0"/>
              <a:t> not x)</a:t>
            </a: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6ECD88-EB13-4F1C-9E47-15ABE800C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442457"/>
              </p:ext>
            </p:extLst>
          </p:nvPr>
        </p:nvGraphicFramePr>
        <p:xfrm>
          <a:off x="867904" y="1182930"/>
          <a:ext cx="7710408" cy="177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55204">
                  <a:extLst>
                    <a:ext uri="{9D8B030D-6E8A-4147-A177-3AD203B41FA5}">
                      <a16:colId xmlns:a16="http://schemas.microsoft.com/office/drawing/2014/main" val="3886015429"/>
                    </a:ext>
                  </a:extLst>
                </a:gridCol>
                <a:gridCol w="3855204">
                  <a:extLst>
                    <a:ext uri="{9D8B030D-6E8A-4147-A177-3AD203B41FA5}">
                      <a16:colId xmlns:a16="http://schemas.microsoft.com/office/drawing/2014/main" val="1019547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56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var being hoisted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It’s accessible before its declaration (but undefined)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388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null type returns "object"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Legacy bug in typeof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827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Using const for mutable objects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can't reassign const, but can change contents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808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486</Words>
  <Application>Microsoft Office PowerPoint</Application>
  <PresentationFormat>On-screen Show 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Calibri</vt:lpstr>
      <vt:lpstr>Arial</vt:lpstr>
      <vt:lpstr>Material</vt:lpstr>
      <vt:lpstr>Variables and Data Types</vt:lpstr>
      <vt:lpstr> What Are Variables?</vt:lpstr>
      <vt:lpstr>Variable Naming Rules</vt:lpstr>
      <vt:lpstr>Data Types in JavaScript</vt:lpstr>
      <vt:lpstr>Primitive Data Types (7 Types)</vt:lpstr>
      <vt:lpstr>typeof Operator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28</cp:revision>
  <dcterms:modified xsi:type="dcterms:W3CDTF">2025-08-23T08:08:08Z</dcterms:modified>
</cp:coreProperties>
</file>
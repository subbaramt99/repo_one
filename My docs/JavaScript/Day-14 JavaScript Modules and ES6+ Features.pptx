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65" r:id="rId3"/>
    <p:sldId id="272" r:id="rId4"/>
    <p:sldId id="273" r:id="rId5"/>
    <p:sldId id="274" r:id="rId6"/>
    <p:sldId id="275" r:id="rId7"/>
    <p:sldId id="276" r:id="rId8"/>
    <p:sldId id="277" r:id="rId9"/>
    <p:sldId id="278" r:id="rId1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25" autoAdjust="0"/>
  </p:normalViewPr>
  <p:slideViewPr>
    <p:cSldViewPr snapToGrid="0">
      <p:cViewPr varScale="1">
        <p:scale>
          <a:sx n="81" d="100"/>
          <a:sy n="81" d="100"/>
        </p:scale>
        <p:origin x="86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0108157-73E7-1F7A-15CD-348D01B6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9C5FD5AA-3B28-23AE-6318-197DBA2B8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D6CBEA59-2824-E3B0-EDB1-926AE05EA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41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JavaScript Modules and ES6+ Features</a:t>
            </a:r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JavaScript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What Are JavaScript Modules?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330C32-DAB8-5D47-AD30-529D495F3464}"/>
              </a:ext>
            </a:extLst>
          </p:cNvPr>
          <p:cNvSpPr txBox="1"/>
          <p:nvPr/>
        </p:nvSpPr>
        <p:spPr>
          <a:xfrm>
            <a:off x="98250" y="673388"/>
            <a:ext cx="8826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/>
              <a:t> Definition:</a:t>
            </a:r>
          </a:p>
          <a:p>
            <a:pPr marL="0" indent="0">
              <a:buNone/>
            </a:pPr>
            <a:r>
              <a:rPr lang="en-US" dirty="0"/>
              <a:t>Modules are a way to split code into separate files and reuse functionality across projects.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Benefits of Using Modules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Code organization and reusability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Avoids polluting global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Easier to maintain and debug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with separation of concerns</a:t>
            </a:r>
          </a:p>
          <a:p>
            <a:endParaRPr lang="en-IN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120C1A8-6D6C-10CF-6638-89597510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EC957D62-6F88-B9C1-46FE-75FA9FDA0C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Exporting &amp; Importing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09331-751D-A481-8F41-BF4B8B25D55F}"/>
              </a:ext>
            </a:extLst>
          </p:cNvPr>
          <p:cNvSpPr txBox="1"/>
          <p:nvPr/>
        </p:nvSpPr>
        <p:spPr>
          <a:xfrm>
            <a:off x="3452038" y="1902641"/>
            <a:ext cx="1871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Parent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3268C-CC4E-FAA5-77AA-391BFE355C83}"/>
              </a:ext>
            </a:extLst>
          </p:cNvPr>
          <p:cNvSpPr txBox="1"/>
          <p:nvPr/>
        </p:nvSpPr>
        <p:spPr>
          <a:xfrm>
            <a:off x="3537098" y="4039408"/>
            <a:ext cx="1268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Child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402E7-8F99-5FD4-424B-E4D332B9D5E3}"/>
              </a:ext>
            </a:extLst>
          </p:cNvPr>
          <p:cNvSpPr txBox="1"/>
          <p:nvPr/>
        </p:nvSpPr>
        <p:spPr>
          <a:xfrm>
            <a:off x="515319" y="743860"/>
            <a:ext cx="811336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Exporting</a:t>
            </a:r>
          </a:p>
          <a:p>
            <a:pPr marL="0" indent="0">
              <a:buNone/>
            </a:pPr>
            <a:r>
              <a:rPr lang="en-US" dirty="0"/>
              <a:t>You can export variables, functions, or classes.</a:t>
            </a:r>
          </a:p>
          <a:p>
            <a:pPr marL="0" indent="0">
              <a:buNone/>
            </a:pPr>
            <a:r>
              <a:rPr lang="en-US" dirty="0"/>
              <a:t>	// file: mathUtils.js</a:t>
            </a:r>
          </a:p>
          <a:p>
            <a:pPr marL="0" indent="0">
              <a:buNone/>
            </a:pPr>
            <a:r>
              <a:rPr lang="en-US" dirty="0"/>
              <a:t>	export const PI = 3.14;</a:t>
            </a:r>
          </a:p>
          <a:p>
            <a:pPr marL="0" indent="0">
              <a:buNone/>
            </a:pPr>
            <a:r>
              <a:rPr lang="en-US" dirty="0"/>
              <a:t>	export function add(a, b) {</a:t>
            </a:r>
          </a:p>
          <a:p>
            <a:pPr marL="0" indent="0">
              <a:buNone/>
            </a:pPr>
            <a:r>
              <a:rPr lang="en-US" dirty="0"/>
              <a:t>	  return a + b;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b="1" dirty="0"/>
              <a:t>Importing</a:t>
            </a:r>
          </a:p>
          <a:p>
            <a:pPr marL="0" indent="0">
              <a:buNone/>
            </a:pPr>
            <a:r>
              <a:rPr lang="en-US" dirty="0"/>
              <a:t>	// file: main.js</a:t>
            </a:r>
          </a:p>
          <a:p>
            <a:pPr marL="0" indent="0">
              <a:buNone/>
            </a:pPr>
            <a:r>
              <a:rPr lang="en-US" dirty="0"/>
              <a:t>	import { PI, add } from './mathUtils.js’;</a:t>
            </a:r>
          </a:p>
          <a:p>
            <a:pPr marL="0" indent="0">
              <a:buNone/>
            </a:pPr>
            <a:r>
              <a:rPr lang="en-US" dirty="0"/>
              <a:t>	console.log(add(5, 3));  // 8</a:t>
            </a:r>
          </a:p>
          <a:p>
            <a:pPr marL="0" indent="0">
              <a:buNone/>
            </a:pPr>
            <a:r>
              <a:rPr lang="en-US" dirty="0"/>
              <a:t>Always use the .</a:t>
            </a:r>
            <a:r>
              <a:rPr lang="en-US" dirty="0" err="1"/>
              <a:t>js</a:t>
            </a:r>
            <a:r>
              <a:rPr lang="en-US" dirty="0"/>
              <a:t> extension in browser-based ES Modules.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16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ABF91C-0D73-ECB0-BAED-4C223821C55E}"/>
              </a:ext>
            </a:extLst>
          </p:cNvPr>
          <p:cNvSpPr txBox="1"/>
          <p:nvPr/>
        </p:nvSpPr>
        <p:spPr>
          <a:xfrm>
            <a:off x="299545" y="953815"/>
            <a:ext cx="853702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Each module can have one default export.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file: greet.js</a:t>
            </a:r>
          </a:p>
          <a:p>
            <a:pPr marL="0" indent="0">
              <a:buNone/>
            </a:pPr>
            <a:r>
              <a:rPr lang="en-US" dirty="0"/>
              <a:t>export default function greet(name) {</a:t>
            </a:r>
          </a:p>
          <a:p>
            <a:pPr marL="0" indent="0">
              <a:buNone/>
            </a:pPr>
            <a:r>
              <a:rPr lang="en-US" dirty="0"/>
              <a:t>  console.log("Hello, " + name);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// file: main.js</a:t>
            </a:r>
          </a:p>
          <a:p>
            <a:pPr marL="0" indent="0">
              <a:buNone/>
            </a:pPr>
            <a:r>
              <a:rPr lang="en-US" dirty="0"/>
              <a:t>import greet from './greet.js';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greet("Alice");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AE9DA4A2-CD99-DD39-A5FD-2B4D4790D2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Default Exports</a:t>
            </a:r>
          </a:p>
        </p:txBody>
      </p:sp>
    </p:spTree>
    <p:extLst>
      <p:ext uri="{BB962C8B-B14F-4D97-AF65-F5344CB8AC3E}">
        <p14:creationId xmlns:p14="http://schemas.microsoft.com/office/powerpoint/2010/main" val="2410797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20C3E8-1F0F-1F28-68BF-11280CC20867}"/>
              </a:ext>
            </a:extLst>
          </p:cNvPr>
          <p:cNvSpPr txBox="1"/>
          <p:nvPr/>
        </p:nvSpPr>
        <p:spPr>
          <a:xfrm>
            <a:off x="315310" y="906517"/>
            <a:ext cx="8410904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Module Loading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browsers, use the type="module" attribute:</a:t>
            </a:r>
          </a:p>
          <a:p>
            <a:pPr marL="0" indent="0">
              <a:buNone/>
            </a:pPr>
            <a:r>
              <a:rPr lang="en-US" dirty="0"/>
              <a:t>	&lt;script type="module" </a:t>
            </a:r>
            <a:r>
              <a:rPr lang="en-US" dirty="0" err="1"/>
              <a:t>src</a:t>
            </a:r>
            <a:r>
              <a:rPr lang="en-US" dirty="0"/>
              <a:t>="main.js"&gt;&lt;/script&gt;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Modules run in strict mode by default.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Imported scripts are deferred (wait for DOM).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Module Scope</a:t>
            </a:r>
          </a:p>
          <a:p>
            <a:pPr marL="0" indent="0">
              <a:buNone/>
            </a:pPr>
            <a:r>
              <a:rPr lang="en-US" dirty="0"/>
              <a:t>Variables/functions inside a module are not global.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// math.js</a:t>
            </a:r>
          </a:p>
          <a:p>
            <a:pPr marL="0" indent="0">
              <a:buNone/>
            </a:pPr>
            <a:r>
              <a:rPr lang="en-US" dirty="0"/>
              <a:t>	let secret = 42;  // Only accessible in this file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08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39130A-7B5C-3F0A-D4C8-86083A927328}"/>
              </a:ext>
            </a:extLst>
          </p:cNvPr>
          <p:cNvSpPr txBox="1"/>
          <p:nvPr/>
        </p:nvSpPr>
        <p:spPr>
          <a:xfrm>
            <a:off x="235153" y="909756"/>
            <a:ext cx="855279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let and const</a:t>
            </a:r>
          </a:p>
          <a:p>
            <a:pPr marL="0" indent="0">
              <a:buNone/>
            </a:pPr>
            <a:r>
              <a:rPr lang="en-US" dirty="0"/>
              <a:t>Block-scoped variable declarations.</a:t>
            </a:r>
          </a:p>
          <a:p>
            <a:pPr marL="0" indent="0">
              <a:buNone/>
            </a:pPr>
            <a:r>
              <a:rPr lang="en-US" dirty="0"/>
              <a:t>	let count = 0;</a:t>
            </a:r>
          </a:p>
          <a:p>
            <a:pPr marL="0" indent="0">
              <a:buNone/>
            </a:pPr>
            <a:r>
              <a:rPr lang="en-US" dirty="0"/>
              <a:t>	const PI = 3.14;</a:t>
            </a:r>
          </a:p>
          <a:p>
            <a:pPr marL="0" indent="0">
              <a:buNone/>
            </a:pPr>
            <a:r>
              <a:rPr lang="en-US" b="1" dirty="0"/>
              <a:t>Arrow Functions</a:t>
            </a:r>
          </a:p>
          <a:p>
            <a:pPr marL="0" indent="0">
              <a:buNone/>
            </a:pPr>
            <a:r>
              <a:rPr lang="en-US" dirty="0"/>
              <a:t>Concise function syntax.</a:t>
            </a:r>
          </a:p>
          <a:p>
            <a:pPr marL="0" indent="0">
              <a:buNone/>
            </a:pPr>
            <a:r>
              <a:rPr lang="en-US" dirty="0"/>
              <a:t>	const add = (a, b) =&gt; a + b;</a:t>
            </a:r>
          </a:p>
          <a:p>
            <a:pPr marL="0" indent="0">
              <a:buNone/>
            </a:pPr>
            <a:r>
              <a:rPr lang="en-US" b="1" dirty="0"/>
              <a:t>Template Literals</a:t>
            </a:r>
          </a:p>
          <a:p>
            <a:pPr marL="0" indent="0">
              <a:buNone/>
            </a:pPr>
            <a:r>
              <a:rPr lang="en-US" dirty="0"/>
              <a:t>Use backticks and ${} for dynamic strings.</a:t>
            </a:r>
          </a:p>
          <a:p>
            <a:pPr marL="0" indent="0">
              <a:buNone/>
            </a:pPr>
            <a:r>
              <a:rPr lang="en-US" dirty="0"/>
              <a:t>	let name = "Alice";</a:t>
            </a:r>
          </a:p>
          <a:p>
            <a:pPr marL="0" indent="0">
              <a:buNone/>
            </a:pPr>
            <a:r>
              <a:rPr lang="en-US" dirty="0"/>
              <a:t>	console.log(`Hello, ${name}!`);</a:t>
            </a:r>
          </a:p>
          <a:p>
            <a:pPr marL="0" indent="0">
              <a:buNone/>
            </a:pPr>
            <a:r>
              <a:rPr lang="en-US" b="1" dirty="0" err="1"/>
              <a:t>Destructuring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Unpack values from arrays or objects.</a:t>
            </a:r>
          </a:p>
          <a:p>
            <a:pPr marL="0" indent="0">
              <a:buNone/>
            </a:pPr>
            <a:r>
              <a:rPr lang="en-US" dirty="0"/>
              <a:t>	const [a, b] = [1, 2];</a:t>
            </a:r>
          </a:p>
          <a:p>
            <a:pPr marL="0" indent="0">
              <a:buNone/>
            </a:pPr>
            <a:r>
              <a:rPr lang="en-US" dirty="0"/>
              <a:t>	const { x, y } = { x: 10, y: 20 };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2766FEE-89FA-0CFF-96BA-3F685C202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</p:spPr>
        <p:txBody>
          <a:bodyPr/>
          <a:lstStyle/>
          <a:p>
            <a:r>
              <a:rPr lang="en-US" dirty="0"/>
              <a:t>Key ES6+ (Modern JavaScript) Features</a:t>
            </a:r>
          </a:p>
        </p:txBody>
      </p:sp>
    </p:spTree>
    <p:extLst>
      <p:ext uri="{BB962C8B-B14F-4D97-AF65-F5344CB8AC3E}">
        <p14:creationId xmlns:p14="http://schemas.microsoft.com/office/powerpoint/2010/main" val="325477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CE9626-FDBB-CE44-A61E-E3FBF22EC376}"/>
              </a:ext>
            </a:extLst>
          </p:cNvPr>
          <p:cNvSpPr txBox="1"/>
          <p:nvPr/>
        </p:nvSpPr>
        <p:spPr>
          <a:xfrm>
            <a:off x="204952" y="874986"/>
            <a:ext cx="847396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Spread and Rest Operators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// Spread</a:t>
            </a:r>
          </a:p>
          <a:p>
            <a:pPr marL="0" indent="0">
              <a:buNone/>
            </a:pPr>
            <a:r>
              <a:rPr lang="en-US" dirty="0"/>
              <a:t>	let </a:t>
            </a:r>
            <a:r>
              <a:rPr lang="en-US" dirty="0" err="1"/>
              <a:t>nums</a:t>
            </a:r>
            <a:r>
              <a:rPr lang="en-US" dirty="0"/>
              <a:t> = [1, 2, 3];</a:t>
            </a:r>
          </a:p>
          <a:p>
            <a:pPr marL="0" indent="0">
              <a:buNone/>
            </a:pPr>
            <a:r>
              <a:rPr lang="en-US" dirty="0"/>
              <a:t>	let more = [...</a:t>
            </a:r>
            <a:r>
              <a:rPr lang="en-US" dirty="0" err="1"/>
              <a:t>nums</a:t>
            </a:r>
            <a:r>
              <a:rPr lang="en-US" dirty="0"/>
              <a:t>, 4];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// Rest</a:t>
            </a:r>
          </a:p>
          <a:p>
            <a:pPr marL="0" indent="0">
              <a:buNone/>
            </a:pPr>
            <a:r>
              <a:rPr lang="en-US" dirty="0"/>
              <a:t>	function sum(...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	  return </a:t>
            </a:r>
            <a:r>
              <a:rPr lang="en-US" dirty="0" err="1"/>
              <a:t>args.reduce</a:t>
            </a:r>
            <a:r>
              <a:rPr lang="en-US" dirty="0"/>
              <a:t>((a, b) =&gt; a + b, 0);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b="1" dirty="0"/>
              <a:t>Enhanced Object Literals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let name = "Book";</a:t>
            </a:r>
          </a:p>
          <a:p>
            <a:pPr marL="0" indent="0">
              <a:buNone/>
            </a:pPr>
            <a:r>
              <a:rPr lang="en-US" dirty="0"/>
              <a:t>let product = {</a:t>
            </a:r>
          </a:p>
          <a:p>
            <a:pPr marL="0" indent="0">
              <a:buNone/>
            </a:pPr>
            <a:r>
              <a:rPr lang="en-US" dirty="0"/>
              <a:t>  name,</a:t>
            </a:r>
          </a:p>
          <a:p>
            <a:pPr marL="0" indent="0">
              <a:buNone/>
            </a:pPr>
            <a:r>
              <a:rPr lang="en-US" dirty="0"/>
              <a:t>  price: 20,</a:t>
            </a:r>
          </a:p>
          <a:p>
            <a:pPr marL="0" indent="0">
              <a:buNone/>
            </a:pPr>
            <a:r>
              <a:rPr lang="en-US" dirty="0"/>
              <a:t>  show() {</a:t>
            </a:r>
          </a:p>
          <a:p>
            <a:pPr marL="0" indent="0">
              <a:buNone/>
            </a:pPr>
            <a:r>
              <a:rPr lang="en-US" dirty="0"/>
              <a:t>    console.log(this.name);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A66B1-962D-3301-EC78-BCB53B0AB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</p:spPr>
        <p:txBody>
          <a:bodyPr/>
          <a:lstStyle/>
          <a:p>
            <a:r>
              <a:rPr lang="en-IN" dirty="0"/>
              <a:t>…continue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423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BC53-F8FC-B3F4-872D-4F85C62A1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…continue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776A4-439A-0380-2F5D-0B56C6CDC23F}"/>
              </a:ext>
            </a:extLst>
          </p:cNvPr>
          <p:cNvSpPr txBox="1"/>
          <p:nvPr/>
        </p:nvSpPr>
        <p:spPr>
          <a:xfrm>
            <a:off x="323193" y="969580"/>
            <a:ext cx="83478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/>
              <a:t>Classes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/>
              <a:t>class Animal {</a:t>
            </a:r>
          </a:p>
          <a:p>
            <a:pPr marL="0" indent="0">
              <a:buNone/>
            </a:pPr>
            <a:r>
              <a:rPr lang="en-US"/>
              <a:t>  constructor(name) {</a:t>
            </a:r>
          </a:p>
          <a:p>
            <a:pPr marL="0" indent="0">
              <a:buNone/>
            </a:pPr>
            <a:r>
              <a:rPr lang="en-US"/>
              <a:t>    this.name = name;</a:t>
            </a:r>
          </a:p>
          <a:p>
            <a:pPr marL="0" indent="0">
              <a:buNone/>
            </a:pPr>
            <a:r>
              <a:rPr lang="en-US"/>
              <a:t>  }</a:t>
            </a:r>
          </a:p>
          <a:p>
            <a:pPr marL="0" indent="0">
              <a:buNone/>
            </a:pPr>
            <a:r>
              <a:rPr lang="en-US"/>
              <a:t>  speak() {</a:t>
            </a:r>
          </a:p>
          <a:p>
            <a:pPr marL="0" indent="0">
              <a:buNone/>
            </a:pPr>
            <a:r>
              <a:rPr lang="en-US"/>
              <a:t>    console.log(`${this.name} makes a sound.`);</a:t>
            </a:r>
          </a:p>
          <a:p>
            <a:pPr marL="0" indent="0">
              <a:buNone/>
            </a:pPr>
            <a:r>
              <a:rPr lang="en-US"/>
              <a:t>  }</a:t>
            </a:r>
          </a:p>
          <a:p>
            <a:pPr marL="0" indent="0">
              <a:buNone/>
            </a:pPr>
            <a:r>
              <a:rPr lang="en-US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006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D588A-B593-7E52-A297-92513DC81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…continue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BF4D31-5A3B-B532-595A-5352DCBF3D5B}"/>
              </a:ext>
            </a:extLst>
          </p:cNvPr>
          <p:cNvSpPr txBox="1"/>
          <p:nvPr/>
        </p:nvSpPr>
        <p:spPr>
          <a:xfrm>
            <a:off x="283779" y="930166"/>
            <a:ext cx="839513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Optional Chaining &amp; </a:t>
            </a:r>
            <a:r>
              <a:rPr lang="en-US" b="1" dirty="0" err="1"/>
              <a:t>Nullish</a:t>
            </a:r>
            <a:r>
              <a:rPr lang="en-US" b="1" dirty="0"/>
              <a:t> Coalescing</a:t>
            </a:r>
          </a:p>
          <a:p>
            <a:pPr marL="0" indent="0">
              <a:buNone/>
            </a:pPr>
            <a:r>
              <a:rPr lang="en-US" dirty="0"/>
              <a:t>let user = {};</a:t>
            </a:r>
          </a:p>
          <a:p>
            <a:pPr marL="0" indent="0">
              <a:buNone/>
            </a:pPr>
            <a:r>
              <a:rPr lang="en-US" dirty="0"/>
              <a:t>console.log(user?.profile?.name); // undefined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value = null;</a:t>
            </a:r>
          </a:p>
          <a:p>
            <a:pPr marL="0" indent="0">
              <a:buNone/>
            </a:pPr>
            <a:r>
              <a:rPr lang="en-US" dirty="0"/>
              <a:t>console.log(value ?? "Default"); // Default</a:t>
            </a:r>
          </a:p>
          <a:p>
            <a:pPr marL="0" indent="0">
              <a:buNone/>
            </a:pPr>
            <a:r>
              <a:rPr lang="en-US" b="1" dirty="0"/>
              <a:t>Modules in Node.js (</a:t>
            </a:r>
            <a:r>
              <a:rPr lang="en-US" b="1" dirty="0" err="1"/>
              <a:t>CommonJS</a:t>
            </a:r>
            <a:r>
              <a:rPr lang="en-US" b="1" dirty="0"/>
              <a:t> vs ES Modules)</a:t>
            </a:r>
          </a:p>
          <a:p>
            <a:pPr marL="0" indent="0">
              <a:buNone/>
            </a:pPr>
            <a:r>
              <a:rPr lang="en-US" dirty="0" err="1"/>
              <a:t>CommonJS</a:t>
            </a:r>
            <a:r>
              <a:rPr lang="en-US" dirty="0"/>
              <a:t>: require() and </a:t>
            </a:r>
            <a:r>
              <a:rPr lang="en-US" dirty="0" err="1"/>
              <a:t>module.exports</a:t>
            </a:r>
            <a:r>
              <a:rPr lang="en-US" dirty="0"/>
              <a:t> (Node.js default pre-ES6)</a:t>
            </a:r>
          </a:p>
          <a:p>
            <a:pPr marL="0" indent="0">
              <a:buNone/>
            </a:pPr>
            <a:r>
              <a:rPr lang="en-US" dirty="0"/>
              <a:t>ES Modules: import and export (modern JS + supported in latest 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614141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606</Words>
  <Application>Microsoft Office PowerPoint</Application>
  <PresentationFormat>On-screen Show (16:9)</PresentationFormat>
  <Paragraphs>115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Roboto</vt:lpstr>
      <vt:lpstr>Calibri</vt:lpstr>
      <vt:lpstr>Arial</vt:lpstr>
      <vt:lpstr>Material</vt:lpstr>
      <vt:lpstr>JavaScript Modules and ES6+ Features</vt:lpstr>
      <vt:lpstr>What Are JavaScript Modules?</vt:lpstr>
      <vt:lpstr>Exporting &amp; Importing</vt:lpstr>
      <vt:lpstr>Default Exports</vt:lpstr>
      <vt:lpstr>PowerPoint Presentation</vt:lpstr>
      <vt:lpstr>Key ES6+ (Modern JavaScript) Features</vt:lpstr>
      <vt:lpstr>…continue</vt:lpstr>
      <vt:lpstr>…continue</vt:lpstr>
      <vt:lpstr>…continue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71</cp:revision>
  <dcterms:modified xsi:type="dcterms:W3CDTF">2025-08-23T10:03:01Z</dcterms:modified>
</cp:coreProperties>
</file>
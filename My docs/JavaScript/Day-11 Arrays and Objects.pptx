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5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25" autoAdjust="0"/>
  </p:normalViewPr>
  <p:slideViewPr>
    <p:cSldViewPr snapToGrid="0">
      <p:cViewPr varScale="1">
        <p:scale>
          <a:sx n="81" d="100"/>
          <a:sy n="81" d="100"/>
        </p:scale>
        <p:origin x="86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0108157-73E7-1F7A-15CD-348D01B6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9C5FD5AA-3B28-23AE-6318-197DBA2B8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D6CBEA59-2824-E3B0-EDB1-926AE05EA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41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Arrays and Objects</a:t>
            </a:r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JavaScript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What Are Arrays and Objects?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330C32-DAB8-5D47-AD30-529D495F3464}"/>
              </a:ext>
            </a:extLst>
          </p:cNvPr>
          <p:cNvSpPr txBox="1"/>
          <p:nvPr/>
        </p:nvSpPr>
        <p:spPr>
          <a:xfrm>
            <a:off x="98250" y="846809"/>
            <a:ext cx="8826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Arrays are ordered collections of values (like lists).</a:t>
            </a:r>
          </a:p>
          <a:p>
            <a:pPr marL="0" indent="0">
              <a:buNone/>
            </a:pPr>
            <a:r>
              <a:rPr lang="en-US" dirty="0"/>
              <a:t>Objects are collections of key-value pairs (like dictionaries or maps).</a:t>
            </a:r>
          </a:p>
          <a:p>
            <a:pPr marL="0" indent="0">
              <a:buNone/>
            </a:pPr>
            <a:r>
              <a:rPr lang="en-US" dirty="0"/>
              <a:t>Both are essential for storing and managing complex data.</a:t>
            </a:r>
          </a:p>
          <a:p>
            <a:pPr lvl="3"/>
            <a:endParaRPr lang="en-US" i="0" dirty="0">
              <a:solidFill>
                <a:srgbClr val="333333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120C1A8-6D6C-10CF-6638-89597510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EC957D62-6F88-B9C1-46FE-75FA9FDA0C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Arrays in JavaScript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09331-751D-A481-8F41-BF4B8B25D55F}"/>
              </a:ext>
            </a:extLst>
          </p:cNvPr>
          <p:cNvSpPr txBox="1"/>
          <p:nvPr/>
        </p:nvSpPr>
        <p:spPr>
          <a:xfrm>
            <a:off x="3452038" y="1902641"/>
            <a:ext cx="1871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Parent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3268C-CC4E-FAA5-77AA-391BFE355C83}"/>
              </a:ext>
            </a:extLst>
          </p:cNvPr>
          <p:cNvSpPr txBox="1"/>
          <p:nvPr/>
        </p:nvSpPr>
        <p:spPr>
          <a:xfrm>
            <a:off x="3537098" y="4039408"/>
            <a:ext cx="1268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Child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402E7-8F99-5FD4-424B-E4D332B9D5E3}"/>
              </a:ext>
            </a:extLst>
          </p:cNvPr>
          <p:cNvSpPr txBox="1"/>
          <p:nvPr/>
        </p:nvSpPr>
        <p:spPr>
          <a:xfrm>
            <a:off x="515319" y="743860"/>
            <a:ext cx="811336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An array is a special variable that can hold multiple values.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fruits = ["apple", "banana", "cherry"];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Values are accessed using index numbers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Indexing starts from 0</a:t>
            </a:r>
          </a:p>
          <a:p>
            <a:pPr marL="0" indent="0">
              <a:buNone/>
            </a:pPr>
            <a:r>
              <a:rPr lang="en-US" b="1" dirty="0"/>
              <a:t>Creating Arrays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numbers = [10, 20, 30];</a:t>
            </a:r>
          </a:p>
          <a:p>
            <a:pPr marL="0" indent="0">
              <a:buNone/>
            </a:pPr>
            <a:r>
              <a:rPr lang="en-US" dirty="0"/>
              <a:t>let mixed = ["hello", 5, true];</a:t>
            </a:r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emptyArray</a:t>
            </a:r>
            <a:r>
              <a:rPr lang="en-US" dirty="0"/>
              <a:t> = [];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16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ABF91C-0D73-ECB0-BAED-4C223821C55E}"/>
              </a:ext>
            </a:extLst>
          </p:cNvPr>
          <p:cNvSpPr txBox="1"/>
          <p:nvPr/>
        </p:nvSpPr>
        <p:spPr>
          <a:xfrm>
            <a:off x="299545" y="953815"/>
            <a:ext cx="853702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Accessing &amp; Modifying Elements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colors = ["red", "green", "blue"];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console.log(colors[0]);  // red</a:t>
            </a:r>
          </a:p>
          <a:p>
            <a:pPr marL="0" indent="0">
              <a:buNone/>
            </a:pPr>
            <a:r>
              <a:rPr lang="en-US" dirty="0"/>
              <a:t>colors[1] = "yellow";    // change value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797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49FA5-F1DF-DA80-7DCE-00E34800C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Array Methods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CEA90EE-01FE-4EA6-AC38-689776BBE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4317487"/>
              </p:ext>
            </p:extLst>
          </p:nvPr>
        </p:nvGraphicFramePr>
        <p:xfrm>
          <a:off x="783280" y="769918"/>
          <a:ext cx="7577440" cy="41178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88720">
                  <a:extLst>
                    <a:ext uri="{9D8B030D-6E8A-4147-A177-3AD203B41FA5}">
                      <a16:colId xmlns:a16="http://schemas.microsoft.com/office/drawing/2014/main" val="1940435389"/>
                    </a:ext>
                  </a:extLst>
                </a:gridCol>
                <a:gridCol w="3788720">
                  <a:extLst>
                    <a:ext uri="{9D8B030D-6E8A-4147-A177-3AD203B41FA5}">
                      <a16:colId xmlns:a16="http://schemas.microsoft.com/office/drawing/2014/main" val="2321265230"/>
                    </a:ext>
                  </a:extLst>
                </a:gridCol>
              </a:tblGrid>
              <a:tr h="266495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604914"/>
                  </a:ext>
                </a:extLst>
              </a:tr>
              <a:tr h="266495">
                <a:tc>
                  <a:txBody>
                    <a:bodyPr/>
                    <a:lstStyle/>
                    <a:p>
                      <a:r>
                        <a:rPr lang="en-US"/>
                        <a:t>push()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Add to the 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5774396"/>
                  </a:ext>
                </a:extLst>
              </a:tr>
              <a:tr h="266495">
                <a:tc>
                  <a:txBody>
                    <a:bodyPr/>
                    <a:lstStyle/>
                    <a:p>
                      <a:r>
                        <a:rPr lang="en-US"/>
                        <a:t>pop()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Remove from the 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0606909"/>
                  </a:ext>
                </a:extLst>
              </a:tr>
              <a:tr h="266495">
                <a:tc>
                  <a:txBody>
                    <a:bodyPr/>
                    <a:lstStyle/>
                    <a:p>
                      <a:r>
                        <a:rPr lang="en-US"/>
                        <a:t>shift()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Remove from the beginning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273444"/>
                  </a:ext>
                </a:extLst>
              </a:tr>
              <a:tr h="266495">
                <a:tc>
                  <a:txBody>
                    <a:bodyPr/>
                    <a:lstStyle/>
                    <a:p>
                      <a:r>
                        <a:rPr lang="en-US"/>
                        <a:t>unshift()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Add to the beginning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709472"/>
                  </a:ext>
                </a:extLst>
              </a:tr>
              <a:tr h="266495">
                <a:tc>
                  <a:txBody>
                    <a:bodyPr/>
                    <a:lstStyle/>
                    <a:p>
                      <a:r>
                        <a:rPr lang="en-US"/>
                        <a:t>indexOf()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Get index of an element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4781030"/>
                  </a:ext>
                </a:extLst>
              </a:tr>
              <a:tr h="266495">
                <a:tc>
                  <a:txBody>
                    <a:bodyPr/>
                    <a:lstStyle/>
                    <a:p>
                      <a:r>
                        <a:rPr lang="en-US"/>
                        <a:t>includes()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Check if value exists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6693775"/>
                  </a:ext>
                </a:extLst>
              </a:tr>
              <a:tr h="266495">
                <a:tc>
                  <a:txBody>
                    <a:bodyPr/>
                    <a:lstStyle/>
                    <a:p>
                      <a:r>
                        <a:rPr lang="en-US"/>
                        <a:t>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Get number of elements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15560"/>
                  </a:ext>
                </a:extLst>
              </a:tr>
              <a:tr h="266495">
                <a:tc>
                  <a:txBody>
                    <a:bodyPr/>
                    <a:lstStyle/>
                    <a:p>
                      <a:r>
                        <a:rPr lang="en-US"/>
                        <a:t>slice()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Extract a portion of the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659864"/>
                  </a:ext>
                </a:extLst>
              </a:tr>
              <a:tr h="356623">
                <a:tc>
                  <a:txBody>
                    <a:bodyPr/>
                    <a:lstStyle/>
                    <a:p>
                      <a:r>
                        <a:rPr lang="en-US"/>
                        <a:t>splice()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Add/remove elements at specific index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621441"/>
                  </a:ext>
                </a:extLst>
              </a:tr>
              <a:tr h="266495">
                <a:tc>
                  <a:txBody>
                    <a:bodyPr/>
                    <a:lstStyle/>
                    <a:p>
                      <a:r>
                        <a:rPr lang="en-US"/>
                        <a:t>forEach()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Loop through elements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615848"/>
                  </a:ext>
                </a:extLst>
              </a:tr>
              <a:tr h="356623">
                <a:tc>
                  <a:txBody>
                    <a:bodyPr/>
                    <a:lstStyle/>
                    <a:p>
                      <a:r>
                        <a:rPr lang="en-US"/>
                        <a:t>map()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Create a new array by applying a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458727"/>
                  </a:ext>
                </a:extLst>
              </a:tr>
              <a:tr h="356623">
                <a:tc>
                  <a:txBody>
                    <a:bodyPr/>
                    <a:lstStyle/>
                    <a:p>
                      <a:r>
                        <a:rPr lang="en-US"/>
                        <a:t>filter()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only elements that match a condition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8471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5408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39130A-7B5C-3F0A-D4C8-86083A927328}"/>
              </a:ext>
            </a:extLst>
          </p:cNvPr>
          <p:cNvSpPr txBox="1"/>
          <p:nvPr/>
        </p:nvSpPr>
        <p:spPr>
          <a:xfrm>
            <a:off x="220717" y="1032641"/>
            <a:ext cx="8552793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nums</a:t>
            </a:r>
            <a:r>
              <a:rPr lang="en-US" dirty="0"/>
              <a:t> = [1, 2, 3, 4, 5];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squared = </a:t>
            </a:r>
            <a:r>
              <a:rPr lang="en-US" dirty="0" err="1"/>
              <a:t>nums.map</a:t>
            </a:r>
            <a:r>
              <a:rPr lang="en-US" dirty="0"/>
              <a:t>(n =&gt; n * n);  // [1, 4, 9, 16, 25]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even = </a:t>
            </a:r>
            <a:r>
              <a:rPr lang="en-US" dirty="0" err="1"/>
              <a:t>nums.filter</a:t>
            </a:r>
            <a:r>
              <a:rPr lang="en-US" dirty="0"/>
              <a:t>(n =&gt; n % 2 === 0); // [2, 4]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77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999FB-C3E4-4769-D9B1-4AFC1D8F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in JavaScript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E9626-FDBB-CE44-A61E-E3FBF22EC376}"/>
              </a:ext>
            </a:extLst>
          </p:cNvPr>
          <p:cNvSpPr txBox="1"/>
          <p:nvPr/>
        </p:nvSpPr>
        <p:spPr>
          <a:xfrm>
            <a:off x="236483" y="953814"/>
            <a:ext cx="847396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An object is a collection of key-value pairs.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person = {</a:t>
            </a:r>
          </a:p>
          <a:p>
            <a:pPr marL="0" indent="0">
              <a:buNone/>
            </a:pPr>
            <a:r>
              <a:rPr lang="en-US" dirty="0"/>
              <a:t>  name: "Alice",</a:t>
            </a:r>
          </a:p>
          <a:p>
            <a:pPr marL="0" indent="0">
              <a:buNone/>
            </a:pPr>
            <a:r>
              <a:rPr lang="en-US" dirty="0"/>
              <a:t>  age: 25,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isStudent</a:t>
            </a:r>
            <a:r>
              <a:rPr lang="en-US" dirty="0"/>
              <a:t>: true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423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76A3-0D25-60FF-3776-861B7DEBE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Object Properties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B2EE0-7B5E-AB8C-7685-8A69BD799468}"/>
              </a:ext>
            </a:extLst>
          </p:cNvPr>
          <p:cNvSpPr txBox="1"/>
          <p:nvPr/>
        </p:nvSpPr>
        <p:spPr>
          <a:xfrm>
            <a:off x="331075" y="890752"/>
            <a:ext cx="841090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console.log(person.name);      // Alice</a:t>
            </a:r>
          </a:p>
          <a:p>
            <a:pPr marL="0" indent="0">
              <a:buNone/>
            </a:pPr>
            <a:r>
              <a:rPr lang="en-US" dirty="0"/>
              <a:t>console.log(person["age"]);    // 25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Modifying &amp; Adding Properties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person.age</a:t>
            </a:r>
            <a:r>
              <a:rPr lang="en-US" dirty="0"/>
              <a:t> = 26;</a:t>
            </a:r>
          </a:p>
          <a:p>
            <a:pPr marL="0" indent="0">
              <a:buNone/>
            </a:pPr>
            <a:r>
              <a:rPr lang="en-US" dirty="0" err="1"/>
              <a:t>person.city</a:t>
            </a:r>
            <a:r>
              <a:rPr lang="en-US" dirty="0"/>
              <a:t> = "New York";   // add new property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Looping Through Objects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(let key in person) {</a:t>
            </a:r>
          </a:p>
          <a:p>
            <a:pPr marL="0" indent="0">
              <a:buNone/>
            </a:pPr>
            <a:r>
              <a:rPr lang="en-US" dirty="0"/>
              <a:t>  console.log(key + ": " + person[key]);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386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6F342-91C8-3A26-0D2D-4FB8630B5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ED4D06-E557-29B3-1568-292C8BD4BA06}"/>
              </a:ext>
            </a:extLst>
          </p:cNvPr>
          <p:cNvSpPr txBox="1"/>
          <p:nvPr/>
        </p:nvSpPr>
        <p:spPr>
          <a:xfrm>
            <a:off x="315309" y="859222"/>
            <a:ext cx="846608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Objects can contain functions (called methods).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car = {</a:t>
            </a:r>
          </a:p>
          <a:p>
            <a:pPr marL="0" indent="0">
              <a:buNone/>
            </a:pPr>
            <a:r>
              <a:rPr lang="en-US" dirty="0"/>
              <a:t>  brand: "Toyota",</a:t>
            </a:r>
          </a:p>
          <a:p>
            <a:pPr marL="0" indent="0">
              <a:buNone/>
            </a:pPr>
            <a:r>
              <a:rPr lang="en-US" dirty="0"/>
              <a:t>  start: function () {</a:t>
            </a:r>
          </a:p>
          <a:p>
            <a:pPr marL="0" indent="0">
              <a:buNone/>
            </a:pPr>
            <a:r>
              <a:rPr lang="en-US" dirty="0"/>
              <a:t>    console.log("Engine started");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car.start</a:t>
            </a:r>
            <a:r>
              <a:rPr lang="en-US" dirty="0"/>
              <a:t>(); // Engine started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324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2430-D7CC-FFD8-7474-971245CB5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vs. Objects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C8E16F1-4D0E-48BC-826B-22311771F1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0022779"/>
              </p:ext>
            </p:extLst>
          </p:nvPr>
        </p:nvGraphicFramePr>
        <p:xfrm>
          <a:off x="679752" y="1094905"/>
          <a:ext cx="7784496" cy="235774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94832">
                  <a:extLst>
                    <a:ext uri="{9D8B030D-6E8A-4147-A177-3AD203B41FA5}">
                      <a16:colId xmlns:a16="http://schemas.microsoft.com/office/drawing/2014/main" val="3543891293"/>
                    </a:ext>
                  </a:extLst>
                </a:gridCol>
                <a:gridCol w="2594832">
                  <a:extLst>
                    <a:ext uri="{9D8B030D-6E8A-4147-A177-3AD203B41FA5}">
                      <a16:colId xmlns:a16="http://schemas.microsoft.com/office/drawing/2014/main" val="3835686992"/>
                    </a:ext>
                  </a:extLst>
                </a:gridCol>
                <a:gridCol w="2594832">
                  <a:extLst>
                    <a:ext uri="{9D8B030D-6E8A-4147-A177-3AD203B41FA5}">
                      <a16:colId xmlns:a16="http://schemas.microsoft.com/office/drawing/2014/main" val="3652799257"/>
                    </a:ext>
                  </a:extLst>
                </a:gridCol>
              </a:tblGrid>
              <a:tr h="365425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449201"/>
                  </a:ext>
                </a:extLst>
              </a:tr>
              <a:tr h="630734">
                <a:tc>
                  <a:txBody>
                    <a:bodyPr/>
                    <a:lstStyle/>
                    <a:p>
                      <a:r>
                        <a:rPr lang="en-US"/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Ordered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Unordered key-value pairs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6054019"/>
                  </a:ext>
                </a:extLst>
              </a:tr>
              <a:tr h="365425">
                <a:tc>
                  <a:txBody>
                    <a:bodyPr/>
                    <a:lstStyle/>
                    <a:p>
                      <a:r>
                        <a:rPr lang="en-US"/>
                        <a:t>Indexing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 (0, 1, 2, 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Named keys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814521"/>
                  </a:ext>
                </a:extLst>
              </a:tr>
              <a:tr h="365425">
                <a:tc>
                  <a:txBody>
                    <a:bodyPr/>
                    <a:lstStyle/>
                    <a:p>
                      <a:r>
                        <a:rPr lang="en-US"/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arr[0]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obj.key or obj["key"]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243186"/>
                  </a:ext>
                </a:extLst>
              </a:tr>
              <a:tr h="630734">
                <a:tc>
                  <a:txBody>
                    <a:bodyPr/>
                    <a:lstStyle/>
                    <a:p>
                      <a:r>
                        <a:rPr lang="en-US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Ordered collection of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Storing related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009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465811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</TotalTime>
  <Words>492</Words>
  <Application>Microsoft Office PowerPoint</Application>
  <PresentationFormat>On-screen Show (16:9)</PresentationFormat>
  <Paragraphs>128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Roboto</vt:lpstr>
      <vt:lpstr>Arial</vt:lpstr>
      <vt:lpstr>Material</vt:lpstr>
      <vt:lpstr>Arrays and Objects</vt:lpstr>
      <vt:lpstr>What Are Arrays and Objects?</vt:lpstr>
      <vt:lpstr>Arrays in JavaScript</vt:lpstr>
      <vt:lpstr>PowerPoint Presentation</vt:lpstr>
      <vt:lpstr>Common Array Methods</vt:lpstr>
      <vt:lpstr>PowerPoint Presentation</vt:lpstr>
      <vt:lpstr>Objects in JavaScript</vt:lpstr>
      <vt:lpstr>Accessing Object Properties</vt:lpstr>
      <vt:lpstr>Object Methods</vt:lpstr>
      <vt:lpstr>Arrays vs. Objects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64</cp:revision>
  <dcterms:modified xsi:type="dcterms:W3CDTF">2025-08-25T06:19:20Z</dcterms:modified>
</cp:coreProperties>
</file>
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8" r:id="rId3"/>
    <p:sldId id="265" r:id="rId4"/>
    <p:sldId id="266" r:id="rId5"/>
    <p:sldId id="267" r:id="rId6"/>
    <p:sldId id="268" r:id="rId7"/>
    <p:sldId id="269" r:id="rId8"/>
    <p:sldId id="272" r:id="rId9"/>
    <p:sldId id="270" r:id="rId10"/>
    <p:sldId id="271" r:id="rId11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ecb4f0fa3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ecb4f0fa3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93347E27-9347-E14A-5277-C49C1D824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C9FA4F3A-D0D8-CC7F-2419-0A93C48FD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333315D0-B8BE-2166-8906-17606BA95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5806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B2D6C3D2-56B1-F830-CC42-2EC707A8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54BDE184-7A7D-D45C-9CD6-80DDA8D346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15128885-B5D4-3602-4221-F04E8C9946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0009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FFC5DF81-988D-05D3-89FE-48F1262A2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6CD3342D-504F-B544-E3F3-4F259B1CB5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A3EF0777-40E6-1011-62ED-9B2F330E4F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5778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6DB0295C-9302-E1A8-B34A-6C42545DF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6AB438A8-CFB3-C089-67DA-B7C9B7EA9B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9C9561E9-CF49-C5C4-96CC-ABCB6D75B7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3603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JavaScript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2CCDA0-EB04-0B6C-5463-6C1D3A8F42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Functions and Scope in JavaScript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400" y="4520775"/>
            <a:ext cx="1183600" cy="5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5E1A72-ECE7-EAF5-67AF-A12343ABC290}"/>
              </a:ext>
            </a:extLst>
          </p:cNvPr>
          <p:cNvSpPr txBox="1"/>
          <p:nvPr/>
        </p:nvSpPr>
        <p:spPr>
          <a:xfrm>
            <a:off x="154367" y="949842"/>
            <a:ext cx="8826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600" b="1" dirty="0"/>
              <a:t>What is a Function?</a:t>
            </a:r>
          </a:p>
          <a:p>
            <a:pPr marL="0" indent="0">
              <a:buNone/>
            </a:pPr>
            <a:r>
              <a:rPr lang="en-US" sz="1600" dirty="0"/>
              <a:t>A function is a reusable block of code designed to perform a particular task.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Functions help: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Organize code into logical blocks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Improve code reusability and readability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Avoid duplication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Function Syntax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BC79D6-AEB3-D2F8-2983-F72AF3CB6A56}"/>
              </a:ext>
            </a:extLst>
          </p:cNvPr>
          <p:cNvSpPr txBox="1"/>
          <p:nvPr/>
        </p:nvSpPr>
        <p:spPr>
          <a:xfrm>
            <a:off x="356461" y="922149"/>
            <a:ext cx="839233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function </a:t>
            </a:r>
            <a:r>
              <a:rPr lang="en-US" dirty="0" err="1"/>
              <a:t>functionName</a:t>
            </a:r>
            <a:r>
              <a:rPr lang="en-US" dirty="0"/>
              <a:t>(parameters) {</a:t>
            </a:r>
          </a:p>
          <a:p>
            <a:pPr marL="0" indent="0">
              <a:buNone/>
            </a:pPr>
            <a:r>
              <a:rPr lang="en-US" dirty="0"/>
              <a:t>  // code to execute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function greet(name) {</a:t>
            </a:r>
          </a:p>
          <a:p>
            <a:pPr marL="0" indent="0">
              <a:buNone/>
            </a:pPr>
            <a:r>
              <a:rPr lang="en-US" dirty="0"/>
              <a:t>  console.log("Hello, " + name + "!");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greet("Alice"); // Output: Hello, Alice!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A36D3BEE-1011-F9E0-428A-46C7B9FFF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1E949372-58EC-6E30-CFC6-3728E7D940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Hoisting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5D48C-FC98-49A9-ADEB-B15A54DDD646}"/>
              </a:ext>
            </a:extLst>
          </p:cNvPr>
          <p:cNvSpPr txBox="1">
            <a:spLocks/>
          </p:cNvSpPr>
          <p:nvPr/>
        </p:nvSpPr>
        <p:spPr>
          <a:xfrm>
            <a:off x="348713" y="867906"/>
            <a:ext cx="8576137" cy="354911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037CF2-2EFC-C646-D7F1-785838FA1988}"/>
              </a:ext>
            </a:extLst>
          </p:cNvPr>
          <p:cNvSpPr txBox="1"/>
          <p:nvPr/>
        </p:nvSpPr>
        <p:spPr>
          <a:xfrm>
            <a:off x="348713" y="976393"/>
            <a:ext cx="844657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Hoisting</a:t>
            </a:r>
            <a:r>
              <a:rPr lang="en-US" dirty="0"/>
              <a:t> is JavaScript’s default behavior of </a:t>
            </a:r>
            <a:r>
              <a:rPr lang="en-US" b="1" dirty="0"/>
              <a:t>moving declarations to the top of their scope</a:t>
            </a:r>
            <a:r>
              <a:rPr lang="en-US" dirty="0"/>
              <a:t> (before code execution).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How Hoisting Works: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bg2"/>
                </a:solidFill>
                <a:latin typeface="Arial" panose="020B0604020202020204" pitchFamily="34" charset="0"/>
              </a:rPr>
              <a:t>var</a:t>
            </a:r>
            <a:r>
              <a:rPr lang="en-US" altLang="en-US" dirty="0">
                <a:solidFill>
                  <a:schemeClr val="bg2"/>
                </a:solidFill>
                <a:latin typeface="Arial" panose="020B0604020202020204" pitchFamily="34" charset="0"/>
              </a:rPr>
              <a:t> → hoisted, initialized as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bg2"/>
                </a:solidFill>
                <a:latin typeface="Arial" panose="020B0604020202020204" pitchFamily="34" charset="0"/>
              </a:rPr>
              <a:t>let / const</a:t>
            </a:r>
            <a:r>
              <a:rPr lang="en-US" altLang="en-US" dirty="0">
                <a:solidFill>
                  <a:schemeClr val="bg2"/>
                </a:solidFill>
                <a:latin typeface="Arial" panose="020B0604020202020204" pitchFamily="34" charset="0"/>
              </a:rPr>
              <a:t> → hoisted, but in </a:t>
            </a:r>
            <a:r>
              <a:rPr lang="en-US" altLang="en-US" i="1" dirty="0">
                <a:solidFill>
                  <a:schemeClr val="bg2"/>
                </a:solidFill>
                <a:latin typeface="Arial" panose="020B0604020202020204" pitchFamily="34" charset="0"/>
              </a:rPr>
              <a:t>Temporal Dead Zone</a:t>
            </a:r>
            <a:r>
              <a:rPr lang="en-US" altLang="en-US" dirty="0">
                <a:solidFill>
                  <a:schemeClr val="bg2"/>
                </a:solidFill>
                <a:latin typeface="Arial" panose="020B0604020202020204" pitchFamily="34" charset="0"/>
              </a:rPr>
              <a:t> until declared (access before = error).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bg2"/>
                </a:solidFill>
                <a:latin typeface="Arial" panose="020B0604020202020204" pitchFamily="34" charset="0"/>
              </a:rPr>
              <a:t>Function Declarations</a:t>
            </a:r>
            <a:r>
              <a:rPr lang="en-US" altLang="en-US" dirty="0">
                <a:solidFill>
                  <a:schemeClr val="bg2"/>
                </a:solidFill>
                <a:latin typeface="Arial" panose="020B0604020202020204" pitchFamily="34" charset="0"/>
              </a:rPr>
              <a:t> → fully hoisted (call before definition works).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bg2"/>
                </a:solidFill>
                <a:latin typeface="Arial" panose="020B0604020202020204" pitchFamily="34" charset="0"/>
              </a:rPr>
              <a:t>Function Expressions / Arrow Functions</a:t>
            </a:r>
            <a:r>
              <a:rPr lang="en-US" altLang="en-US" dirty="0">
                <a:solidFill>
                  <a:schemeClr val="bg2"/>
                </a:solidFill>
                <a:latin typeface="Arial" panose="020B0604020202020204" pitchFamily="34" charset="0"/>
              </a:rPr>
              <a:t> → hoisted like variables (not initialized).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614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01D3D67A-46BD-9129-CA61-BF78DFBE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A48A8C40-29AD-AB3B-85A9-0D6A09CD72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000" dirty="0"/>
              <a:t>Function Types in JavaScript</a:t>
            </a:r>
            <a:endParaRPr sz="20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5247662-0C18-413C-BA62-BAC5B125DA5D}"/>
              </a:ext>
            </a:extLst>
          </p:cNvPr>
          <p:cNvSpPr txBox="1">
            <a:spLocks/>
          </p:cNvSpPr>
          <p:nvPr/>
        </p:nvSpPr>
        <p:spPr>
          <a:xfrm>
            <a:off x="565688" y="891154"/>
            <a:ext cx="8175356" cy="386682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4D4D05-711B-8F7A-5ADB-8378752EEFD0}"/>
              </a:ext>
            </a:extLst>
          </p:cNvPr>
          <p:cNvSpPr txBox="1"/>
          <p:nvPr/>
        </p:nvSpPr>
        <p:spPr>
          <a:xfrm>
            <a:off x="402956" y="976393"/>
            <a:ext cx="8338088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Function Declaration</a:t>
            </a:r>
          </a:p>
          <a:p>
            <a:pPr marL="0" indent="0">
              <a:buNone/>
            </a:pPr>
            <a:r>
              <a:rPr lang="en-US" dirty="0"/>
              <a:t>Can be called before it’s defined (hoisting applies).</a:t>
            </a:r>
          </a:p>
          <a:p>
            <a:pPr marL="400050" lvl="1" indent="0">
              <a:buNone/>
            </a:pPr>
            <a:r>
              <a:rPr lang="en-US" sz="1800" dirty="0"/>
              <a:t>function </a:t>
            </a:r>
            <a:r>
              <a:rPr lang="en-US" sz="1800" dirty="0" err="1"/>
              <a:t>sayHello</a:t>
            </a:r>
            <a:r>
              <a:rPr lang="en-US" sz="1800" dirty="0"/>
              <a:t>() {</a:t>
            </a:r>
          </a:p>
          <a:p>
            <a:pPr marL="400050" lvl="1" indent="0">
              <a:buNone/>
            </a:pPr>
            <a:r>
              <a:rPr lang="en-US" sz="1800" dirty="0"/>
              <a:t>  console.log("Hello!");</a:t>
            </a:r>
          </a:p>
          <a:p>
            <a:pPr marL="400050" lvl="1" indent="0">
              <a:buNone/>
            </a:pPr>
            <a:r>
              <a:rPr lang="en-US" sz="1800" dirty="0"/>
              <a:t>}</a:t>
            </a:r>
          </a:p>
          <a:p>
            <a:pPr marL="0" indent="0">
              <a:buNone/>
            </a:pPr>
            <a:r>
              <a:rPr lang="en-US" b="1" dirty="0"/>
              <a:t>Function Expression</a:t>
            </a:r>
          </a:p>
          <a:p>
            <a:pPr marL="0" indent="0">
              <a:buNone/>
            </a:pPr>
            <a:r>
              <a:rPr lang="en-US" dirty="0"/>
              <a:t>Stored in a variable. Not hoisted.</a:t>
            </a:r>
          </a:p>
          <a:p>
            <a:pPr marL="400050" lvl="1" indent="0">
              <a:buNone/>
            </a:pPr>
            <a:r>
              <a:rPr lang="en-US" sz="1800" dirty="0"/>
              <a:t>const </a:t>
            </a:r>
            <a:r>
              <a:rPr lang="en-US" sz="1800" dirty="0" err="1"/>
              <a:t>sayHi</a:t>
            </a:r>
            <a:r>
              <a:rPr lang="en-US" sz="1800" dirty="0"/>
              <a:t> = function () {</a:t>
            </a:r>
          </a:p>
          <a:p>
            <a:pPr marL="400050" lvl="1" indent="0">
              <a:buNone/>
            </a:pPr>
            <a:r>
              <a:rPr lang="en-US" sz="1800" dirty="0"/>
              <a:t>  console.log("Hi!");</a:t>
            </a:r>
          </a:p>
          <a:p>
            <a:pPr marL="400050" lvl="1" indent="0">
              <a:buNone/>
            </a:pPr>
            <a:r>
              <a:rPr lang="en-US" sz="1800" dirty="0"/>
              <a:t>};</a:t>
            </a:r>
          </a:p>
          <a:p>
            <a:pPr marL="0" indent="0">
              <a:buNone/>
            </a:pPr>
            <a:r>
              <a:rPr lang="en-US" b="1" dirty="0"/>
              <a:t> Arrow Function (ES6)</a:t>
            </a:r>
          </a:p>
          <a:p>
            <a:pPr marL="0" indent="0">
              <a:buNone/>
            </a:pPr>
            <a:r>
              <a:rPr lang="en-US" dirty="0"/>
              <a:t>Shorter syntax, especially for small anonymous functions.</a:t>
            </a:r>
          </a:p>
          <a:p>
            <a:pPr marL="0" indent="0">
              <a:buNone/>
            </a:pPr>
            <a:r>
              <a:rPr lang="en-US" dirty="0"/>
              <a:t>	const add = (a, b) =&gt; a + b;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this binding (useful in callbacks)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Cannot be used as constructors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5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23698AD6-1B4D-D4D5-DB35-83BD949C4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DD7BE-4D1F-4F63-AE26-E4652B31F514}"/>
              </a:ext>
            </a:extLst>
          </p:cNvPr>
          <p:cNvSpPr txBox="1">
            <a:spLocks/>
          </p:cNvSpPr>
          <p:nvPr/>
        </p:nvSpPr>
        <p:spPr>
          <a:xfrm>
            <a:off x="317715" y="759416"/>
            <a:ext cx="8508570" cy="421553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Parameters: placeholders defined in the function declaration.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Arguments: actual values passed when the function is called.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function multiply(a, b) { // a and b are parameters</a:t>
            </a:r>
          </a:p>
          <a:p>
            <a:pPr marL="0" indent="0">
              <a:buNone/>
            </a:pPr>
            <a:r>
              <a:rPr lang="en-US" dirty="0"/>
              <a:t>  return a * b;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multiply(2, 3); // 2 and 3 are arguments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Google Shape;127;p22">
            <a:extLst>
              <a:ext uri="{FF2B5EF4-FFF2-40B4-BE49-F238E27FC236}">
                <a16:creationId xmlns:a16="http://schemas.microsoft.com/office/drawing/2014/main" id="{ED0AAD04-96C4-CF9E-89DA-E9EF891816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/>
              <a:t>Parameters vs Arguments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6808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5F1E17E2-AFB3-2C7E-FA14-D201B13D4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6A266D-E061-4F1D-9C6F-3F09C4FB8C21}"/>
              </a:ext>
            </a:extLst>
          </p:cNvPr>
          <p:cNvSpPr txBox="1">
            <a:spLocks/>
          </p:cNvSpPr>
          <p:nvPr/>
        </p:nvSpPr>
        <p:spPr>
          <a:xfrm>
            <a:off x="371959" y="808383"/>
            <a:ext cx="8369085" cy="389535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dirty="0"/>
              <a:t>Functions can return values using the return keyword.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function square(x) {</a:t>
            </a:r>
          </a:p>
          <a:p>
            <a:pPr marL="0" indent="0">
              <a:buNone/>
            </a:pPr>
            <a:r>
              <a:rPr lang="en-US" dirty="0"/>
              <a:t>  return x * x;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let result = square(4); // result is 16</a:t>
            </a:r>
          </a:p>
        </p:txBody>
      </p:sp>
      <p:sp>
        <p:nvSpPr>
          <p:cNvPr id="2" name="Google Shape;127;p22">
            <a:extLst>
              <a:ext uri="{FF2B5EF4-FFF2-40B4-BE49-F238E27FC236}">
                <a16:creationId xmlns:a16="http://schemas.microsoft.com/office/drawing/2014/main" id="{2E5E856E-0F29-F4CF-A4D0-B1A788160A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/>
              <a:t>Return Values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752457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5EDA6-4985-9B7E-1CC1-69407CBEF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in JavaScript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F1315E-354E-5937-A8B8-4813D5CDC103}"/>
              </a:ext>
            </a:extLst>
          </p:cNvPr>
          <p:cNvSpPr txBox="1"/>
          <p:nvPr/>
        </p:nvSpPr>
        <p:spPr>
          <a:xfrm>
            <a:off x="303760" y="819541"/>
            <a:ext cx="841558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Global Scope</a:t>
            </a:r>
          </a:p>
          <a:p>
            <a:pPr marL="0" indent="0">
              <a:buNone/>
            </a:pPr>
            <a:r>
              <a:rPr lang="en-US" dirty="0"/>
              <a:t>Declared outside of any function or block.</a:t>
            </a:r>
          </a:p>
          <a:p>
            <a:pPr marL="400050" lvl="1" indent="0">
              <a:buNone/>
            </a:pPr>
            <a:r>
              <a:rPr lang="en-US" dirty="0"/>
              <a:t>let </a:t>
            </a:r>
            <a:r>
              <a:rPr lang="en-US" dirty="0" err="1"/>
              <a:t>globalVar</a:t>
            </a:r>
            <a:r>
              <a:rPr lang="en-US" dirty="0"/>
              <a:t> = "I'm global";</a:t>
            </a:r>
          </a:p>
          <a:p>
            <a:pPr marL="400050" lvl="1" indent="0">
              <a:buNone/>
            </a:pPr>
            <a:r>
              <a:rPr lang="en-US" dirty="0"/>
              <a:t>function show() {</a:t>
            </a:r>
          </a:p>
          <a:p>
            <a:pPr marL="400050" lvl="1" indent="0">
              <a:buNone/>
            </a:pPr>
            <a:r>
              <a:rPr lang="en-US" dirty="0"/>
              <a:t>  console.log(</a:t>
            </a:r>
            <a:r>
              <a:rPr lang="en-US" dirty="0" err="1"/>
              <a:t>globalVar</a:t>
            </a:r>
            <a:r>
              <a:rPr lang="en-US" dirty="0"/>
              <a:t>); // Accessible</a:t>
            </a:r>
          </a:p>
          <a:p>
            <a:pPr marL="400050" lvl="1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b="1" dirty="0"/>
              <a:t>Function Scope</a:t>
            </a:r>
          </a:p>
          <a:p>
            <a:pPr marL="0" indent="0">
              <a:buNone/>
            </a:pPr>
            <a:r>
              <a:rPr lang="en-US" dirty="0"/>
              <a:t>Variables declared inside a function are only accessible within it.</a:t>
            </a:r>
          </a:p>
          <a:p>
            <a:pPr marL="400050" lvl="1" indent="0">
              <a:buNone/>
            </a:pPr>
            <a:r>
              <a:rPr lang="en-US" dirty="0"/>
              <a:t>function test() {</a:t>
            </a:r>
          </a:p>
          <a:p>
            <a:pPr marL="400050" lvl="1" indent="0">
              <a:buNone/>
            </a:pPr>
            <a:r>
              <a:rPr lang="en-US" dirty="0"/>
              <a:t>  let </a:t>
            </a:r>
            <a:r>
              <a:rPr lang="en-US" dirty="0" err="1"/>
              <a:t>localVar</a:t>
            </a:r>
            <a:r>
              <a:rPr lang="en-US" dirty="0"/>
              <a:t> = "I'm local";</a:t>
            </a:r>
          </a:p>
          <a:p>
            <a:pPr marL="400050" lvl="1" indent="0">
              <a:buNone/>
            </a:pPr>
            <a:r>
              <a:rPr lang="en-US" dirty="0"/>
              <a:t>  console.log(</a:t>
            </a:r>
            <a:r>
              <a:rPr lang="en-US" dirty="0" err="1"/>
              <a:t>localVar</a:t>
            </a:r>
            <a:r>
              <a:rPr lang="en-US" dirty="0"/>
              <a:t>);</a:t>
            </a:r>
          </a:p>
          <a:p>
            <a:pPr marL="400050" lvl="1" indent="0">
              <a:buNone/>
            </a:pPr>
            <a:r>
              <a:rPr lang="en-US" dirty="0"/>
              <a:t>}</a:t>
            </a:r>
          </a:p>
          <a:p>
            <a:pPr marL="400050" lvl="1" indent="0">
              <a:buNone/>
            </a:pPr>
            <a:r>
              <a:rPr lang="en-US" dirty="0"/>
              <a:t>console.log(</a:t>
            </a:r>
            <a:r>
              <a:rPr lang="en-US" dirty="0" err="1"/>
              <a:t>localVar</a:t>
            </a:r>
            <a:r>
              <a:rPr lang="en-US" dirty="0"/>
              <a:t>); // ❌ Error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863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89682-7D30-A049-ECAD-A2494FC9E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…continue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8FFDD8-93C1-C9C0-BE1A-604D2091003C}"/>
              </a:ext>
            </a:extLst>
          </p:cNvPr>
          <p:cNvSpPr txBox="1"/>
          <p:nvPr/>
        </p:nvSpPr>
        <p:spPr>
          <a:xfrm>
            <a:off x="240224" y="896079"/>
            <a:ext cx="8524068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Block Scope (let &amp; const)</a:t>
            </a:r>
          </a:p>
          <a:p>
            <a:pPr marL="0" indent="0">
              <a:buNone/>
            </a:pPr>
            <a:r>
              <a:rPr lang="en-US" dirty="0"/>
              <a:t>Applies to variables declared with let or const inside {}.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(true) {</a:t>
            </a:r>
          </a:p>
          <a:p>
            <a:pPr marL="0" indent="0">
              <a:buNone/>
            </a:pPr>
            <a:r>
              <a:rPr lang="en-US" dirty="0"/>
              <a:t>  let </a:t>
            </a:r>
            <a:r>
              <a:rPr lang="en-US" dirty="0" err="1"/>
              <a:t>blockVar</a:t>
            </a:r>
            <a:r>
              <a:rPr lang="en-US" dirty="0"/>
              <a:t> = "Inside block";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console.log(</a:t>
            </a:r>
            <a:r>
              <a:rPr lang="en-US" dirty="0" err="1"/>
              <a:t>blockVar</a:t>
            </a:r>
            <a:r>
              <a:rPr lang="en-US" dirty="0"/>
              <a:t>); // ❌ Error</a:t>
            </a:r>
          </a:p>
          <a:p>
            <a:pPr marL="0" indent="0">
              <a:buNone/>
            </a:pPr>
            <a:r>
              <a:rPr lang="en-US" dirty="0"/>
              <a:t>var does not respect block scope — avoid using it for block-level declarations.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497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3C382-1872-4A77-A432-5EB12E912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762CD4-3B80-207A-42D1-14099BDB4269}"/>
              </a:ext>
            </a:extLst>
          </p:cNvPr>
          <p:cNvSpPr txBox="1"/>
          <p:nvPr/>
        </p:nvSpPr>
        <p:spPr>
          <a:xfrm>
            <a:off x="317715" y="803003"/>
            <a:ext cx="850857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dirty="0"/>
              <a:t>A closure is formed when a function “remembers” variables from its outer scope even after the outer function has finished executing.</a:t>
            </a:r>
          </a:p>
          <a:p>
            <a:pPr marL="400050" lvl="1" indent="0">
              <a:buNone/>
            </a:pPr>
            <a:r>
              <a:rPr lang="en-US" sz="1600" dirty="0"/>
              <a:t>function counter() {</a:t>
            </a:r>
          </a:p>
          <a:p>
            <a:pPr marL="400050" lvl="1" indent="0">
              <a:buNone/>
            </a:pPr>
            <a:r>
              <a:rPr lang="en-US" sz="1600" dirty="0"/>
              <a:t>  let count = 0;</a:t>
            </a:r>
          </a:p>
          <a:p>
            <a:pPr marL="400050" lvl="1" indent="0">
              <a:buNone/>
            </a:pPr>
            <a:r>
              <a:rPr lang="en-US" sz="1600" dirty="0"/>
              <a:t>  return function () {</a:t>
            </a:r>
          </a:p>
          <a:p>
            <a:pPr marL="400050" lvl="1" indent="0">
              <a:buNone/>
            </a:pPr>
            <a:r>
              <a:rPr lang="en-US" sz="1600" dirty="0"/>
              <a:t>    count++;</a:t>
            </a:r>
          </a:p>
          <a:p>
            <a:pPr marL="400050" lvl="1" indent="0">
              <a:buNone/>
            </a:pPr>
            <a:r>
              <a:rPr lang="en-US" sz="1600" dirty="0"/>
              <a:t>    return count;</a:t>
            </a:r>
          </a:p>
          <a:p>
            <a:pPr marL="400050" lvl="1" indent="0">
              <a:buNone/>
            </a:pPr>
            <a:r>
              <a:rPr lang="en-US" sz="1600" dirty="0"/>
              <a:t>  };</a:t>
            </a:r>
          </a:p>
          <a:p>
            <a:pPr marL="400050" lvl="1" indent="0">
              <a:buNone/>
            </a:pPr>
            <a:r>
              <a:rPr lang="en-US" sz="1600" dirty="0"/>
              <a:t>}</a:t>
            </a:r>
          </a:p>
          <a:p>
            <a:pPr marL="400050" lvl="1" indent="0">
              <a:buNone/>
            </a:pPr>
            <a:r>
              <a:rPr lang="en-US" sz="1600" dirty="0"/>
              <a:t>const increment = counter();</a:t>
            </a:r>
          </a:p>
          <a:p>
            <a:pPr marL="400050" lvl="1" indent="0">
              <a:buNone/>
            </a:pPr>
            <a:r>
              <a:rPr lang="en-US" sz="1600" dirty="0"/>
              <a:t>increment(); // 1</a:t>
            </a:r>
          </a:p>
          <a:p>
            <a:pPr marL="400050" lvl="1" indent="0">
              <a:buNone/>
            </a:pPr>
            <a:r>
              <a:rPr lang="en-US" sz="1600" dirty="0"/>
              <a:t>increment(); // 2</a:t>
            </a:r>
          </a:p>
          <a:p>
            <a:pPr marL="400050" lvl="1" indent="0">
              <a:buNone/>
            </a:pPr>
            <a:r>
              <a:rPr lang="en-US" sz="1600" dirty="0"/>
              <a:t>Closures are powerful for data privacy and encapsulation.</a:t>
            </a:r>
          </a:p>
          <a:p>
            <a:pPr marL="400050" lvl="1" indent="0">
              <a:buNone/>
            </a:pPr>
            <a:r>
              <a:rPr lang="en-US" sz="1600" dirty="0"/>
              <a:t>Add Hoisting also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748794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1089</TotalTime>
  <Words>552</Words>
  <Application>Microsoft Office PowerPoint</Application>
  <PresentationFormat>On-screen Show (16:9)</PresentationFormat>
  <Paragraphs>103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Roboto</vt:lpstr>
      <vt:lpstr>Material</vt:lpstr>
      <vt:lpstr>Functions and Scope in JavaScript</vt:lpstr>
      <vt:lpstr>PowerPoint Presentation</vt:lpstr>
      <vt:lpstr>Function Syntax</vt:lpstr>
      <vt:lpstr>Hoisting</vt:lpstr>
      <vt:lpstr>Function Types in JavaScript</vt:lpstr>
      <vt:lpstr>Parameters vs Arguments</vt:lpstr>
      <vt:lpstr>Return Values</vt:lpstr>
      <vt:lpstr>Scope in JavaScript</vt:lpstr>
      <vt:lpstr>…continue</vt:lpstr>
      <vt:lpstr>Closures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44</cp:revision>
  <dcterms:modified xsi:type="dcterms:W3CDTF">2025-08-25T05:33:01Z</dcterms:modified>
</cp:coreProperties>
</file>
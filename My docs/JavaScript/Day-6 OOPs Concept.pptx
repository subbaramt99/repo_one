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65" r:id="rId5"/>
    <p:sldId id="272" r:id="rId6"/>
    <p:sldId id="273" r:id="rId7"/>
    <p:sldId id="275" r:id="rId8"/>
    <p:sldId id="274" r:id="rId9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1"/>
      <p:bold r:id="rId12"/>
      <p:italic r:id="rId13"/>
      <p:boldItalic r:id="rId14"/>
    </p:embeddedFont>
    <p:embeddedFont>
      <p:font typeface="Roboto" panose="020000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85F4"/>
    <a:srgbClr val="4286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2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c6f91993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c6f91993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ecb4f0fa3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ecb4f0fa3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50108157-73E7-1F7A-15CD-348D01B6D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9C5FD5AA-3B28-23AE-6318-197DBA2B82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D6CBEA59-2824-E3B0-EDB1-926AE05EA8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32414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19DF7DC7-9E97-0E78-733D-89C5E17B2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61C44455-AFFE-3F68-EFC7-7B894B0572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EAACE8DC-80B3-D607-53EF-88002E2A83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29627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131AE03E-FCB6-5D64-CFE0-BF5AB5871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E195905A-5CFC-D096-FB57-7C33C35ABC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9B119DDF-5455-42C9-E709-5F147B4F36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9862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ctrTitle"/>
          </p:nvPr>
        </p:nvSpPr>
        <p:spPr>
          <a:xfrm>
            <a:off x="390525" y="1077132"/>
            <a:ext cx="8222100" cy="16757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JavaScript: Classes, Methods, and Objects</a:t>
            </a:r>
            <a:endParaRPr dirty="0"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OOP Concepts in JavaScript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>
            <a:spLocks noGrp="1"/>
          </p:cNvSpPr>
          <p:nvPr>
            <p:ph type="title"/>
          </p:nvPr>
        </p:nvSpPr>
        <p:spPr>
          <a:xfrm>
            <a:off x="-226744" y="1115736"/>
            <a:ext cx="4749125" cy="227250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OOPs Concept</a:t>
            </a:r>
            <a:endParaRPr dirty="0"/>
          </a:p>
        </p:txBody>
      </p:sp>
      <p:sp>
        <p:nvSpPr>
          <p:cNvPr id="74" name="Google Shape;74;p14"/>
          <p:cNvSpPr txBox="1">
            <a:spLocks noGrp="1"/>
          </p:cNvSpPr>
          <p:nvPr>
            <p:ph type="body" idx="2"/>
          </p:nvPr>
        </p:nvSpPr>
        <p:spPr>
          <a:xfrm>
            <a:off x="5755759" y="120495"/>
            <a:ext cx="3664688" cy="472722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82918" lvl="0" algn="just" rtl="0">
              <a:spcBef>
                <a:spcPts val="1600"/>
              </a:spcBef>
              <a:spcAft>
                <a:spcPts val="1600"/>
              </a:spcAft>
              <a:buSzPct val="100000"/>
              <a:buAutoNum type="arabicPeriod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Object</a:t>
            </a:r>
          </a:p>
          <a:p>
            <a:pPr marL="482918" lvl="0" algn="just" rtl="0">
              <a:spcBef>
                <a:spcPts val="1600"/>
              </a:spcBef>
              <a:spcAft>
                <a:spcPts val="1600"/>
              </a:spcAft>
              <a:buSzPct val="100000"/>
              <a:buAutoNum type="arabicPeriod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Class</a:t>
            </a:r>
          </a:p>
          <a:p>
            <a:pPr marL="482918" lvl="0" algn="just" rtl="0">
              <a:spcBef>
                <a:spcPts val="1600"/>
              </a:spcBef>
              <a:spcAft>
                <a:spcPts val="1600"/>
              </a:spcAft>
              <a:buSzPct val="100000"/>
              <a:buAutoNum type="arabicPeriod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Method</a:t>
            </a:r>
          </a:p>
          <a:p>
            <a:pPr marL="482918" lvl="0" algn="just" rtl="0">
              <a:spcBef>
                <a:spcPts val="1600"/>
              </a:spcBef>
              <a:spcAft>
                <a:spcPts val="1600"/>
              </a:spcAft>
              <a:buSzPct val="100000"/>
              <a:buAutoNum type="arabicPeriod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Encapsulation</a:t>
            </a:r>
          </a:p>
          <a:p>
            <a:pPr marL="482918" lvl="0" algn="just" rtl="0">
              <a:spcBef>
                <a:spcPts val="1600"/>
              </a:spcBef>
              <a:spcAft>
                <a:spcPts val="1600"/>
              </a:spcAft>
              <a:buSzPct val="100000"/>
              <a:buAutoNum type="arabicPeriod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Abstraction</a:t>
            </a:r>
          </a:p>
          <a:p>
            <a:pPr marL="482918" lvl="0" algn="just" rtl="0">
              <a:spcBef>
                <a:spcPts val="1600"/>
              </a:spcBef>
              <a:spcAft>
                <a:spcPts val="1600"/>
              </a:spcAft>
              <a:buSzPct val="100000"/>
              <a:buAutoNum type="arabicPeriod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Inheritance</a:t>
            </a:r>
          </a:p>
          <a:p>
            <a:pPr marL="482918" lvl="0" algn="just" rtl="0">
              <a:spcBef>
                <a:spcPts val="1600"/>
              </a:spcBef>
              <a:spcAft>
                <a:spcPts val="1600"/>
              </a:spcAft>
              <a:buSzPct val="100000"/>
              <a:buAutoNum type="arabicPeriod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Polymorphism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2400" y="4520775"/>
            <a:ext cx="1183600" cy="55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OOPs in JavaScript ?</a:t>
            </a:r>
            <a:endParaRPr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5E1A72-ECE7-EAF5-67AF-A12343ABC290}"/>
              </a:ext>
            </a:extLst>
          </p:cNvPr>
          <p:cNvSpPr txBox="1"/>
          <p:nvPr/>
        </p:nvSpPr>
        <p:spPr>
          <a:xfrm>
            <a:off x="154367" y="949842"/>
            <a:ext cx="8826600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OOP (Object-Oriented Programming)</a:t>
            </a:r>
            <a:r>
              <a:rPr lang="en-US" alt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JavaScript is a programming paradigm that organizes code into </a:t>
            </a:r>
            <a:r>
              <a:rPr lang="en-US" altLang="en-US" sz="1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objects</a:t>
            </a:r>
            <a:r>
              <a:rPr lang="en-US" alt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alt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objects represent real-world entities (like a Car, User, Book) and contain: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Properties (data/attributes)</a:t>
            </a:r>
            <a:r>
              <a:rPr lang="en-US" alt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variables inside objects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Methods (functions/behavior)</a:t>
            </a:r>
            <a:r>
              <a:rPr lang="en-US" alt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functions inside objects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 uses OOP to make code more </a:t>
            </a:r>
            <a:r>
              <a:rPr lang="en-US" altLang="en-US" sz="1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modular, reusable, and easier to maintain</a:t>
            </a:r>
            <a:r>
              <a:rPr lang="en-US" alt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IN" kern="100" dirty="0">
              <a:effectLst/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kern="100" dirty="0">
              <a:effectLst/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endParaRPr lang="en-IN" sz="2000" kern="100" dirty="0">
              <a:effectLst/>
              <a:latin typeface="Calibri" panose="020F0502020204030204" pitchFamily="34" charset="0"/>
              <a:ea typeface="Yu Mincho" panose="02020400000000000000" pitchFamily="18" charset="-128"/>
              <a:cs typeface="Calibri" panose="020F0502020204030204" pitchFamily="34" charset="0"/>
            </a:endParaRPr>
          </a:p>
          <a:p>
            <a:endParaRPr lang="en-IN" sz="2000" kern="100" dirty="0">
              <a:latin typeface="Calibri" panose="020F0502020204030204" pitchFamily="34" charset="0"/>
              <a:ea typeface="Yu Mincho" panose="02020400000000000000" pitchFamily="18" charset="-128"/>
              <a:cs typeface="Calibri" panose="020F0502020204030204" pitchFamily="34" charset="0"/>
            </a:endParaRPr>
          </a:p>
          <a:p>
            <a:endParaRPr lang="en-IN" sz="2000" kern="100" dirty="0">
              <a:effectLst/>
              <a:latin typeface="Calibri" panose="020F0502020204030204" pitchFamily="34" charset="0"/>
              <a:ea typeface="Yu Mincho" panose="02020400000000000000" pitchFamily="18" charset="-128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kern="100" dirty="0">
              <a:effectLst/>
              <a:latin typeface="Calibri" panose="020F0502020204030204" pitchFamily="34" charset="0"/>
              <a:ea typeface="Yu Mincho" panose="02020400000000000000" pitchFamily="18" charset="-128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/>
              <a:t>1. </a:t>
            </a:r>
            <a:r>
              <a:rPr lang="en-US" dirty="0"/>
              <a:t>What is a Class?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330C32-DAB8-5D47-AD30-529D495F3464}"/>
              </a:ext>
            </a:extLst>
          </p:cNvPr>
          <p:cNvSpPr txBox="1"/>
          <p:nvPr/>
        </p:nvSpPr>
        <p:spPr>
          <a:xfrm>
            <a:off x="364209" y="1098690"/>
            <a:ext cx="8616757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blueprint for creating objects.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Defines properties (data) and methods (behavior).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Introduced in ES6 (2015).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of a Class: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 Person {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constructor(name, age) {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this.name = name;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this.age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age;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}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 p1 = new Person('Alice', 25);</a:t>
            </a:r>
          </a:p>
          <a:p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B120C1A8-6D6C-10CF-6638-895975102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EC957D62-6F88-B9C1-46FE-75FA9FDA0C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/>
              <a:t>2. </a:t>
            </a:r>
            <a:r>
              <a:rPr lang="en-US" dirty="0"/>
              <a:t>What is a Constructor?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16960C-738A-9E7B-9C44-BF90578A94D1}"/>
              </a:ext>
            </a:extLst>
          </p:cNvPr>
          <p:cNvSpPr txBox="1"/>
          <p:nvPr/>
        </p:nvSpPr>
        <p:spPr>
          <a:xfrm>
            <a:off x="154367" y="1098690"/>
            <a:ext cx="8826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Special method in a class.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Automatically runs when creating a new object.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to initialize object properties.</a:t>
            </a:r>
          </a:p>
          <a:p>
            <a:endParaRPr lang="en-US" sz="16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:</a:t>
            </a:r>
            <a:endParaRPr lang="en-US" sz="16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 Student {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constructor(name, grade) {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this.name = name;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this.grade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grade;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}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introduce() {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console.log(`Hi, I'm ${this.name}`);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}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endParaRPr lang="en-US" b="0" i="0" dirty="0">
              <a:solidFill>
                <a:srgbClr val="333333"/>
              </a:solidFill>
              <a:effectLst/>
              <a:latin typeface="Montserrat" panose="00000500000000000000" pitchFamily="2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4167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3A7E4CB2-FBAE-D2ED-E172-3B19B7F9D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583FD50B-B7CD-3B72-B040-AD035E4881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/>
              <a:t>3. </a:t>
            </a:r>
            <a:r>
              <a:rPr lang="en-US" dirty="0"/>
              <a:t>Static Methods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739007-B112-FFA4-6782-6505D39116D6}"/>
              </a:ext>
            </a:extLst>
          </p:cNvPr>
          <p:cNvSpPr txBox="1"/>
          <p:nvPr/>
        </p:nvSpPr>
        <p:spPr>
          <a:xfrm>
            <a:off x="158700" y="850017"/>
            <a:ext cx="88266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static method</a:t>
            </a:r>
            <a:r>
              <a:rPr lang="en-US" dirty="0"/>
              <a:t> is a method that </a:t>
            </a:r>
            <a:r>
              <a:rPr lang="en-US" b="1" dirty="0"/>
              <a:t>belongs to the class itself, not to its objects (instances)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call it </a:t>
            </a:r>
            <a:r>
              <a:rPr lang="en-US" b="1" dirty="0"/>
              <a:t>directly using the class name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</a:t>
            </a:r>
            <a:r>
              <a:rPr lang="en-US" b="1" dirty="0"/>
              <a:t>cannot</a:t>
            </a:r>
            <a:r>
              <a:rPr lang="en-US" dirty="0"/>
              <a:t> call it on an object created from the class.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They are often used for </a:t>
            </a:r>
            <a:r>
              <a:rPr lang="en-US" b="1" dirty="0"/>
              <a:t>utility functions</a:t>
            </a:r>
            <a:r>
              <a:rPr lang="en-US" dirty="0"/>
              <a:t> or operations that are not tied to a specific object.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Example :</a:t>
            </a:r>
          </a:p>
          <a:p>
            <a:r>
              <a:rPr lang="en-US" dirty="0"/>
              <a:t>Belong to the class, not objects.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MathHelper</a:t>
            </a:r>
            <a:r>
              <a:rPr lang="en-US" dirty="0"/>
              <a:t> {</a:t>
            </a:r>
          </a:p>
          <a:p>
            <a:r>
              <a:rPr lang="en-US" dirty="0"/>
              <a:t>  static add(a, b) {</a:t>
            </a:r>
          </a:p>
          <a:p>
            <a:r>
              <a:rPr lang="en-US" dirty="0"/>
              <a:t>    return a + b;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 err="1"/>
              <a:t>MathHelper.add</a:t>
            </a:r>
            <a:r>
              <a:rPr lang="en-US" dirty="0"/>
              <a:t>(5, 10); // 15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531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A2CEC-E937-0DCB-4197-58060607E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Object?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A807A6-0DAA-659B-95E5-287E59674263}"/>
              </a:ext>
            </a:extLst>
          </p:cNvPr>
          <p:cNvSpPr txBox="1"/>
          <p:nvPr/>
        </p:nvSpPr>
        <p:spPr>
          <a:xfrm>
            <a:off x="364209" y="922149"/>
            <a:ext cx="8330339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 instance of a class.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Created using the `new` keyword.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endParaRPr lang="en-US" dirty="0"/>
          </a:p>
          <a:p>
            <a:r>
              <a:rPr lang="en-US" dirty="0"/>
              <a:t>const dog1 = new Dog('Bruno’);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296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718E5F5A-C67C-BE8C-4EDC-F0FF79CE6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071A4E54-F793-4146-D999-44089625993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98376" y="1261731"/>
            <a:ext cx="8222100" cy="21999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Thank You!!</a:t>
            </a:r>
            <a:br>
              <a:rPr lang="en-US" dirty="0"/>
            </a:br>
            <a:r>
              <a:rPr lang="en-US" dirty="0"/>
              <a:t>	We will Continue with</a:t>
            </a:r>
            <a:br>
              <a:rPr lang="en-US" dirty="0"/>
            </a:br>
            <a:r>
              <a:rPr lang="en-US" dirty="0"/>
              <a:t>		Encapsulation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00288713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1014</TotalTime>
  <Words>393</Words>
  <Application>Microsoft Office PowerPoint</Application>
  <PresentationFormat>On-screen Show (16:9)</PresentationFormat>
  <Paragraphs>83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Montserrat</vt:lpstr>
      <vt:lpstr>Roboto</vt:lpstr>
      <vt:lpstr>Calibri</vt:lpstr>
      <vt:lpstr>Arial</vt:lpstr>
      <vt:lpstr>Material</vt:lpstr>
      <vt:lpstr>JavaScript: Classes, Methods, and Objects</vt:lpstr>
      <vt:lpstr>OOPs Concept</vt:lpstr>
      <vt:lpstr>What is OOPs in JavaScript ?</vt:lpstr>
      <vt:lpstr>1. What is a Class?</vt:lpstr>
      <vt:lpstr>2. What is a Constructor?</vt:lpstr>
      <vt:lpstr>3. Static Methods</vt:lpstr>
      <vt:lpstr>What is an Object?</vt:lpstr>
      <vt:lpstr>Thank You!!  We will Continue with   Encapsulation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admin</cp:lastModifiedBy>
  <cp:revision>39</cp:revision>
  <dcterms:modified xsi:type="dcterms:W3CDTF">2025-08-23T05:42:27Z</dcterms:modified>
</cp:coreProperties>
</file>
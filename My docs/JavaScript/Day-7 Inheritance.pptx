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65" r:id="rId3"/>
    <p:sldId id="272" r:id="rId4"/>
    <p:sldId id="273" r:id="rId5"/>
    <p:sldId id="274" r:id="rId6"/>
    <p:sldId id="275" r:id="rId7"/>
    <p:sldId id="276" r:id="rId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0"/>
      <p:bold r:id="rId11"/>
      <p:italic r:id="rId12"/>
      <p:boldItalic r:id="rId13"/>
    </p:embeddedFont>
    <p:embeddedFont>
      <p:font typeface="Roboto" panose="020000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50108157-73E7-1F7A-15CD-348D01B6D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9C5FD5AA-3B28-23AE-6318-197DBA2B82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D6CBEA59-2824-E3B0-EDB1-926AE05EA8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241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98A95421-FD88-9936-2607-D4E1A2726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9C171014-094B-36E1-62E5-7D0298F664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2279AED7-F19B-1D6C-D5BB-882D6C0B89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417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64018789-83D9-CB0E-0920-8188DAD46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5959050C-3B6B-59E8-5FF8-EFD8A8715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7968728A-CA0C-4A0A-2F63-34642D9FA0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6605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B5CE658E-A519-301F-53D1-3425A2A2D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D115B36C-D31F-1E33-C1C4-715DE114B9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3BBE393D-2AEF-3B4D-D868-0227BC97A4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2406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1313FD45-C86F-F6FD-1926-9A46A63D4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677EA332-68D6-D860-4F36-7D8BFF0A56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A0701E89-DD8A-BB7E-A8F1-C65D972A8E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008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Inheritance in JavaScript (OOP)</a:t>
            </a:r>
            <a:endParaRPr dirty="0"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Understanding Inheritance with ES6 Classes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What is Inheritance?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330C32-DAB8-5D47-AD30-529D495F3464}"/>
              </a:ext>
            </a:extLst>
          </p:cNvPr>
          <p:cNvSpPr txBox="1"/>
          <p:nvPr/>
        </p:nvSpPr>
        <p:spPr>
          <a:xfrm>
            <a:off x="98250" y="673388"/>
            <a:ext cx="8826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Inheritance allows one class (child) to use properties and methods of another class (parent).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Promotes code reuse and avoids duplication.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In JavaScript, inheritance is implemented using `extends` and `super()` keywords.</a:t>
            </a:r>
          </a:p>
          <a:p>
            <a:pPr lvl="3"/>
            <a:endParaRPr lang="en-US" b="0" i="0" dirty="0">
              <a:solidFill>
                <a:srgbClr val="333333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IN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IN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IN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IN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B120C1A8-6D6C-10CF-6638-895975102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EC957D62-6F88-B9C1-46FE-75FA9FDA0C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Basic Example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209331-751D-A481-8F41-BF4B8B25D55F}"/>
              </a:ext>
            </a:extLst>
          </p:cNvPr>
          <p:cNvSpPr txBox="1"/>
          <p:nvPr/>
        </p:nvSpPr>
        <p:spPr>
          <a:xfrm>
            <a:off x="3452038" y="1902641"/>
            <a:ext cx="1871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Parent class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43268C-CC4E-FAA5-77AA-391BFE355C83}"/>
              </a:ext>
            </a:extLst>
          </p:cNvPr>
          <p:cNvSpPr txBox="1"/>
          <p:nvPr/>
        </p:nvSpPr>
        <p:spPr>
          <a:xfrm>
            <a:off x="3537098" y="4039408"/>
            <a:ext cx="1268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Child class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D402E7-8F99-5FD4-424B-E4D332B9D5E3}"/>
              </a:ext>
            </a:extLst>
          </p:cNvPr>
          <p:cNvSpPr txBox="1"/>
          <p:nvPr/>
        </p:nvSpPr>
        <p:spPr>
          <a:xfrm>
            <a:off x="588936" y="695281"/>
            <a:ext cx="8113362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class Animal {</a:t>
            </a:r>
          </a:p>
          <a:p>
            <a:r>
              <a:rPr lang="en-US" dirty="0"/>
              <a:t>  constructor(name) {</a:t>
            </a:r>
          </a:p>
          <a:p>
            <a:r>
              <a:rPr lang="en-US" dirty="0"/>
              <a:t>    this.name = name;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  speak() {</a:t>
            </a:r>
          </a:p>
          <a:p>
            <a:r>
              <a:rPr lang="en-US" dirty="0"/>
              <a:t>    console.log(`${this.name} makes a sound.`);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Dog extends Animal {</a:t>
            </a:r>
          </a:p>
          <a:p>
            <a:r>
              <a:rPr lang="en-US" dirty="0"/>
              <a:t>  speak() {</a:t>
            </a:r>
          </a:p>
          <a:p>
            <a:r>
              <a:rPr lang="en-US" dirty="0"/>
              <a:t>    console.log(`${this.name} barks!`);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const d = new Dog('Buddy');</a:t>
            </a:r>
          </a:p>
          <a:p>
            <a:r>
              <a:rPr lang="en-US" dirty="0" err="1"/>
              <a:t>d.speak</a:t>
            </a:r>
            <a:r>
              <a:rPr lang="en-US" dirty="0"/>
              <a:t>(); // Buddy barks!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167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42FBD156-7499-4EA4-8B72-D17CA8C78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5A807E93-F31E-3D5A-9379-4390BCB32D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Using super()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9FC60E-A420-A76C-28B1-D43EA902E383}"/>
              </a:ext>
            </a:extLst>
          </p:cNvPr>
          <p:cNvSpPr txBox="1"/>
          <p:nvPr/>
        </p:nvSpPr>
        <p:spPr>
          <a:xfrm>
            <a:off x="371958" y="822244"/>
            <a:ext cx="855289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`super()` is used to call the parent class constructor.</a:t>
            </a:r>
          </a:p>
          <a:p>
            <a:r>
              <a:rPr lang="en-US" dirty="0"/>
              <a:t>- Must be called before using `this` in the child class constructor.</a:t>
            </a:r>
          </a:p>
          <a:p>
            <a:endParaRPr lang="en-US" dirty="0"/>
          </a:p>
          <a:p>
            <a:r>
              <a:rPr lang="en-US" dirty="0"/>
              <a:t>class Vehicle {</a:t>
            </a:r>
          </a:p>
          <a:p>
            <a:r>
              <a:rPr lang="en-US" dirty="0"/>
              <a:t>  constructor(brand) {</a:t>
            </a:r>
          </a:p>
          <a:p>
            <a:r>
              <a:rPr lang="en-US" dirty="0"/>
              <a:t>    </a:t>
            </a:r>
            <a:r>
              <a:rPr lang="en-US" dirty="0" err="1"/>
              <a:t>this.brand</a:t>
            </a:r>
            <a:r>
              <a:rPr lang="en-US" dirty="0"/>
              <a:t> = brand;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Car extends Vehicle {</a:t>
            </a:r>
          </a:p>
          <a:p>
            <a:r>
              <a:rPr lang="en-US" dirty="0"/>
              <a:t>  constructor(brand, model) {</a:t>
            </a:r>
          </a:p>
          <a:p>
            <a:r>
              <a:rPr lang="en-US" dirty="0"/>
              <a:t>    super(brand);</a:t>
            </a:r>
          </a:p>
          <a:p>
            <a:r>
              <a:rPr lang="en-US" dirty="0"/>
              <a:t>    </a:t>
            </a:r>
            <a:r>
              <a:rPr lang="en-US" dirty="0" err="1"/>
              <a:t>this.model</a:t>
            </a:r>
            <a:r>
              <a:rPr lang="en-US" dirty="0"/>
              <a:t> = model;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  <a:p>
            <a:pPr lvl="6"/>
            <a:r>
              <a:rPr lang="en-US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EA05B8-8316-9984-D70C-E6C6BC0138E9}"/>
              </a:ext>
            </a:extLst>
          </p:cNvPr>
          <p:cNvSpPr txBox="1"/>
          <p:nvPr/>
        </p:nvSpPr>
        <p:spPr>
          <a:xfrm>
            <a:off x="3480389" y="4373962"/>
            <a:ext cx="1268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Child class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FE419F-9B56-C9B4-5849-4707EA4ABAF0}"/>
              </a:ext>
            </a:extLst>
          </p:cNvPr>
          <p:cNvSpPr txBox="1"/>
          <p:nvPr/>
        </p:nvSpPr>
        <p:spPr>
          <a:xfrm>
            <a:off x="3058630" y="1468575"/>
            <a:ext cx="2229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Grand Parent class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998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7771B0E-52CB-B367-CF9E-0C6CAC251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923A129E-7163-D84A-5126-2119515FAF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Method Overriding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D2CB4D-9E83-8FC7-4210-96CC5D1F1E45}"/>
              </a:ext>
            </a:extLst>
          </p:cNvPr>
          <p:cNvSpPr txBox="1"/>
          <p:nvPr/>
        </p:nvSpPr>
        <p:spPr>
          <a:xfrm>
            <a:off x="3893570" y="2258072"/>
            <a:ext cx="18075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Child class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93CE89-A8C6-E015-997E-AEAC4F61D091}"/>
              </a:ext>
            </a:extLst>
          </p:cNvPr>
          <p:cNvSpPr txBox="1"/>
          <p:nvPr/>
        </p:nvSpPr>
        <p:spPr>
          <a:xfrm>
            <a:off x="498204" y="2233196"/>
            <a:ext cx="1540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Parent class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230809-9C08-8848-D81D-E466199D18C2}"/>
              </a:ext>
            </a:extLst>
          </p:cNvPr>
          <p:cNvSpPr txBox="1"/>
          <p:nvPr/>
        </p:nvSpPr>
        <p:spPr>
          <a:xfrm>
            <a:off x="6780607" y="2200927"/>
            <a:ext cx="2229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 Parent class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246394-131A-2EFE-1D74-C0965F44C589}"/>
              </a:ext>
            </a:extLst>
          </p:cNvPr>
          <p:cNvSpPr txBox="1"/>
          <p:nvPr/>
        </p:nvSpPr>
        <p:spPr>
          <a:xfrm>
            <a:off x="302217" y="922149"/>
            <a:ext cx="841558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 A child class can provide its own implementation of a method.</a:t>
            </a:r>
          </a:p>
          <a:p>
            <a:r>
              <a:rPr lang="en-US" dirty="0"/>
              <a:t>- This is known as method overriding.</a:t>
            </a:r>
          </a:p>
          <a:p>
            <a:endParaRPr lang="en-US" dirty="0"/>
          </a:p>
          <a:p>
            <a:r>
              <a:rPr lang="en-US" dirty="0"/>
              <a:t>class Parent {</a:t>
            </a:r>
          </a:p>
          <a:p>
            <a:r>
              <a:rPr lang="en-US" dirty="0"/>
              <a:t>  greet() { console.log('Hello from Parent'); 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class Child extends Parent {</a:t>
            </a:r>
          </a:p>
          <a:p>
            <a:r>
              <a:rPr lang="en-US" dirty="0"/>
              <a:t>  greet() { console.log('Hello from Child');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const c = new Child();</a:t>
            </a:r>
          </a:p>
          <a:p>
            <a:r>
              <a:rPr lang="en-US" dirty="0" err="1"/>
              <a:t>c.greet</a:t>
            </a:r>
            <a:r>
              <a:rPr lang="en-US" dirty="0"/>
              <a:t>(); // Hello from Child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192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01AA9E7-AFB1-7DD2-C00C-DCDEDA01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A623918F-1EA1-DC66-237E-35626540DD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Real World Example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0B8219-3FDE-DECB-0706-4E0D8BC2C784}"/>
              </a:ext>
            </a:extLst>
          </p:cNvPr>
          <p:cNvSpPr txBox="1"/>
          <p:nvPr/>
        </p:nvSpPr>
        <p:spPr>
          <a:xfrm>
            <a:off x="317714" y="822244"/>
            <a:ext cx="8607135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User {</a:t>
            </a:r>
          </a:p>
          <a:p>
            <a:r>
              <a:rPr lang="en-US" dirty="0"/>
              <a:t>  constructor(name) { this.name = name; }</a:t>
            </a:r>
          </a:p>
          <a:p>
            <a:r>
              <a:rPr lang="en-US" dirty="0"/>
              <a:t>  login() { console.log(`${this.name} logged in.`);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Admin extends User {</a:t>
            </a:r>
          </a:p>
          <a:p>
            <a:r>
              <a:rPr lang="en-US" dirty="0"/>
              <a:t>  </a:t>
            </a:r>
            <a:r>
              <a:rPr lang="en-US" dirty="0" err="1"/>
              <a:t>deleteUser</a:t>
            </a:r>
            <a:r>
              <a:rPr lang="en-US" dirty="0"/>
              <a:t>(user) { console.log(`${this.name} deleted ${user.name}`);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const admin = new Admin('Alice');</a:t>
            </a:r>
          </a:p>
          <a:p>
            <a:r>
              <a:rPr lang="en-US" dirty="0"/>
              <a:t>const user = new User('Bob');</a:t>
            </a:r>
          </a:p>
          <a:p>
            <a:r>
              <a:rPr lang="en-US" dirty="0" err="1"/>
              <a:t>admin.deleteUser</a:t>
            </a:r>
            <a:r>
              <a:rPr lang="en-US" dirty="0"/>
              <a:t>(user); // Alice deleted Bob</a:t>
            </a:r>
          </a:p>
          <a:p>
            <a:pPr lvl="6"/>
            <a:endParaRPr lang="en-US" sz="2000" b="0" i="0" dirty="0">
              <a:solidFill>
                <a:srgbClr val="333333"/>
              </a:solidFill>
              <a:effectLst/>
              <a:latin typeface="Montserrat" panose="00000500000000000000" pitchFamily="2" charset="0"/>
            </a:endParaRPr>
          </a:p>
          <a:p>
            <a:pPr lvl="6"/>
            <a:endParaRPr lang="en-US" sz="1600" dirty="0">
              <a:solidFill>
                <a:srgbClr val="33333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6"/>
            <a:r>
              <a:rPr lang="en-US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DF0A76-C492-B220-7986-46202D422030}"/>
              </a:ext>
            </a:extLst>
          </p:cNvPr>
          <p:cNvSpPr txBox="1"/>
          <p:nvPr/>
        </p:nvSpPr>
        <p:spPr>
          <a:xfrm>
            <a:off x="1010093" y="2789795"/>
            <a:ext cx="18075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Class B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0A518E-0695-7343-ED5E-1608B21D6536}"/>
              </a:ext>
            </a:extLst>
          </p:cNvPr>
          <p:cNvSpPr txBox="1"/>
          <p:nvPr/>
        </p:nvSpPr>
        <p:spPr>
          <a:xfrm>
            <a:off x="3613290" y="4373962"/>
            <a:ext cx="1268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Class D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12BC3A-7DFF-2AEA-86B3-E2F469D75129}"/>
              </a:ext>
            </a:extLst>
          </p:cNvPr>
          <p:cNvSpPr txBox="1"/>
          <p:nvPr/>
        </p:nvSpPr>
        <p:spPr>
          <a:xfrm>
            <a:off x="3634558" y="1461487"/>
            <a:ext cx="2229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Class A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3BB1DD-BC45-761E-4FB1-8BA72497E982}"/>
              </a:ext>
            </a:extLst>
          </p:cNvPr>
          <p:cNvSpPr txBox="1"/>
          <p:nvPr/>
        </p:nvSpPr>
        <p:spPr>
          <a:xfrm>
            <a:off x="6386627" y="2799830"/>
            <a:ext cx="18075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Class C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914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904C62B2-4DA2-98E6-5F8A-A6A2ED9EC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B0F18B00-46E3-3597-84E2-64240D33BC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Benefits of Inheritance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531F56-685F-EE2D-99E9-B39E050BDB21}"/>
              </a:ext>
            </a:extLst>
          </p:cNvPr>
          <p:cNvSpPr txBox="1"/>
          <p:nvPr/>
        </p:nvSpPr>
        <p:spPr>
          <a:xfrm>
            <a:off x="98250" y="822244"/>
            <a:ext cx="882660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Code reusability.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Cleaner, more organized code.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Supports polymorphism (same method, different behavior).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Easier to maintain and extend.</a:t>
            </a:r>
          </a:p>
          <a:p>
            <a:pPr lvl="6"/>
            <a:endParaRPr lang="en-US" sz="2000" b="0" i="0" dirty="0">
              <a:solidFill>
                <a:srgbClr val="333333"/>
              </a:solidFill>
              <a:effectLst/>
              <a:latin typeface="Montserrat" panose="00000500000000000000" pitchFamily="2" charset="0"/>
            </a:endParaRPr>
          </a:p>
          <a:p>
            <a:pPr lvl="6"/>
            <a:endParaRPr lang="en-US" sz="1600" dirty="0">
              <a:solidFill>
                <a:srgbClr val="33333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6"/>
            <a:r>
              <a:rPr lang="en-US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F56112-DB3E-7B2E-9884-58CAF08247E0}"/>
              </a:ext>
            </a:extLst>
          </p:cNvPr>
          <p:cNvSpPr txBox="1"/>
          <p:nvPr/>
        </p:nvSpPr>
        <p:spPr>
          <a:xfrm>
            <a:off x="641499" y="3223433"/>
            <a:ext cx="18075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Child class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225A27-440E-1198-B148-AA96A363D7DD}"/>
              </a:ext>
            </a:extLst>
          </p:cNvPr>
          <p:cNvSpPr txBox="1"/>
          <p:nvPr/>
        </p:nvSpPr>
        <p:spPr>
          <a:xfrm>
            <a:off x="3452043" y="3310705"/>
            <a:ext cx="1268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Child class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2629C7-8717-70B7-4D81-37C6B909F997}"/>
              </a:ext>
            </a:extLst>
          </p:cNvPr>
          <p:cNvSpPr txBox="1"/>
          <p:nvPr/>
        </p:nvSpPr>
        <p:spPr>
          <a:xfrm>
            <a:off x="6322829" y="3223434"/>
            <a:ext cx="18075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Child class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768402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435</Words>
  <Application>Microsoft Office PowerPoint</Application>
  <PresentationFormat>On-screen Show (16:9)</PresentationFormat>
  <Paragraphs>104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Montserrat</vt:lpstr>
      <vt:lpstr>Roboto</vt:lpstr>
      <vt:lpstr>Calibri</vt:lpstr>
      <vt:lpstr>Arial</vt:lpstr>
      <vt:lpstr>Material</vt:lpstr>
      <vt:lpstr>Inheritance in JavaScript (OOP)</vt:lpstr>
      <vt:lpstr>What is Inheritance?</vt:lpstr>
      <vt:lpstr>Basic Example</vt:lpstr>
      <vt:lpstr>Using super()</vt:lpstr>
      <vt:lpstr>Method Overriding</vt:lpstr>
      <vt:lpstr>Real World Example</vt:lpstr>
      <vt:lpstr>Benefits of Inheritance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55</cp:revision>
  <dcterms:modified xsi:type="dcterms:W3CDTF">2025-08-23T05:54:13Z</dcterms:modified>
</cp:coreProperties>
</file>